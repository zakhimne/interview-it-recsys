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6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703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Giới thiệu đề tài, nhóm 4 thành viên và GVHD TS. Nguyễn Văn Kiệt.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 trường IT cạnh tranh, ứng viên thiếu chuẩn bị. Nền tảng hiện có nghiêng về thuật toán, thiếu nội dung DA/DS/DE và hai hạn chế cốt lõi.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mục tiêu: xây dữ liệu KT, huấn luyện so sánh 3 họ mô hình, xây engine gợi ý, tích hợp ứng dụng web hoàn chỉnh.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vai trò, 17 KC, 5 loại câu hỏi, 1000 user mô phỏng và 40 nghìn tương tác. Nêu rõ phần ngoài phạm vi.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Tracing dự đoán xác suất trả lời đúng câu kế tiếp. Ba mô hình: BKT dễ diễn giải, DKT dùng LSTM, SAKT dùng self-attention.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IRT 3PL mô phỏng hành vi người dùng. EMA chạy ngay từ câu đầu. Blend KT-EMA kích hoạt khi đủ 3 tương tác, giải quyết cold-start.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dựng question bank, sinh 1000 virtual users với skill vector Gaussian tương quan, mô phỏng tương tác bằng IRT và graded response.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 thập từ nguồn có trích dẫn, sinh LLM đa mô hình với judge chấm chất lượng, QC qua RAG và human review. Kết quả 1.578 câu train, 2.122 câu triển khai.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thống kê bộ dữ liệu mô phỏng: 1000 user cân bằng 3 role, 1578 câu, 17 KC, 40 nghìn tương tác, pass rate 82,5%. Tham số mô phỏng seed 42.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hiện chính từ EDA: phân bố cân bằng, quality score nhất quán IRT, learning curve tăng đơn điệu chứng tỏ mô phỏng có động lực học, beginner overconfident.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Môi trường Kaggle GPU T4, PyTorch 2.6, seed 42. 8 cấu hình ablation, các độ đo ROC-AUC PR-AUC RMSE. Vì class imbalance 82,5% nên ưu tiên PR-AUC Gain.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kết quả test. Mọi mô hình KT vượt baseline. DKT-Quality có RMSE thấp nhất và PR-AUC cao nhất nhóm neural. BKT ROC cao nhất do simulation bias.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nhận định: KT vượt baseline, quality label cải thiện DKT, BKT cao do simulation bias không phản ánh dữ liệu thật, deep model nghẽn vì dữ liệu nhỏ chứ không phải kiến trúc.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DKT-Quality làm mô hình chính: output B,T,17 dự đoán cả 17 KC trong 1 forward, PR-AUC và RMSE tốt nhất nhóm neural, train nhanh 21s. SAKT-Binary cho online update.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3 tầng: dữ liệu, KT/scoring, phục vụ. Chuẩn hóa snake_case và camelCase tại boundary giữa backend và frontend.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Recommender theo ZPD với công thức score, ngưỡng KC yếu 0.40 mạnh 0.70. MST 2 giai đoạn: định vị rồi routing và thích nghi ưu tiên KC yếu.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khách quan chấm tất định. Câu tự luận/coding dùng Gemini 3.5 Flash theo rubric. Fallback local rubric khi LLM lỗi, kèm gemini_error để chẩn đoán.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trực tiếp: onboarding chọn vai trò, diagnostic MST, chấm điểm, cập nhật vector. Dashboard radar current vs target và Top Gaps. KT Model đồng bộ radar. Có video và screenshot dự phòng.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đóng góp chính và năm hạn chế, trong đó simulation bias là nặng nhất, cùng thiếu dữ liệu thật, cap sequence 40, class imbalance và nhóm advanced chỉ 5,9%.</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KT mang lại giá trị thực, DKT-Quality phù hợp realtime, blend KT-EMA xử lý cold-start. Hướng phát triển: dữ liệu thật + A/B test, forgetting curve, AKT/SAINT, mở rộng question bank, deploy production. Cảm ơn và mời Q&amp;A.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bin"/></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gradFill rotWithShape="1">
            <a:gsLst>
              <a:gs pos="0">
                <a:srgbClr val="143A9E">
                  <a:alpha val="100000"/>
                </a:srgbClr>
              </a:gs>
              <a:gs pos="100000">
                <a:srgbClr val="0F2F7A">
                  <a:alpha val="100000"/>
                </a:srgbClr>
              </a:gs>
            </a:gsLst>
            <a:lin ang="3600000" scaled="0"/>
          </a:gradFill>
          <a:ln/>
        </p:spPr>
        <p:txBody>
          <a:bodyPr/>
          <a:lstStyle/>
          <a:p>
            <a:endParaRPr lang="en-US" dirty="0"/>
          </a:p>
        </p:txBody>
      </p:sp>
      <p:sp>
        <p:nvSpPr>
          <p:cNvPr id="3" name="Shape 1"/>
          <p:cNvSpPr/>
          <p:nvPr/>
        </p:nvSpPr>
        <p:spPr>
          <a:xfrm>
            <a:off x="914346" y="800019"/>
            <a:ext cx="1759960" cy="1009461"/>
          </a:xfrm>
          <a:prstGeom prst="roundRect">
            <a:avLst>
              <a:gd name="adj" fmla="val 13210"/>
            </a:avLst>
          </a:prstGeom>
          <a:solidFill>
            <a:srgbClr val="FFFFFF"/>
          </a:solidFill>
          <a:ln/>
          <a:effectLst>
            <a:outerShdw blurRad="285750" dist="76200" dir="5400000" algn="bl" rotWithShape="0">
              <a:srgbClr val="000000">
                <a:alpha val="18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1123788" y="933288"/>
            <a:ext cx="1341077" cy="742923"/>
          </a:xfrm>
          <a:prstGeom prst="rect">
            <a:avLst/>
          </a:prstGeom>
        </p:spPr>
      </p:pic>
      <p:sp>
        <p:nvSpPr>
          <p:cNvPr id="5" name="Text 2"/>
          <p:cNvSpPr/>
          <p:nvPr/>
        </p:nvSpPr>
        <p:spPr>
          <a:xfrm>
            <a:off x="2921902" y="973201"/>
            <a:ext cx="4301400" cy="701062"/>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8" dirty="0">
                <a:solidFill>
                  <a:srgbClr val="D6E0FF"/>
                </a:solidFill>
                <a:latin typeface="Be Vietnam Pro" pitchFamily="34" charset="0"/>
                <a:ea typeface="Be Vietnam Pro" pitchFamily="34" charset="-122"/>
                <a:cs typeface="Be Vietnam Pro" pitchFamily="34" charset="-120"/>
              </a:rPr>
              <a:t>Trường Đại học Công nghệ Thông tin Đại học Quốc gia TP. Hồ Chí Minh</a:t>
            </a:r>
            <a:endParaRPr lang="en-US" sz="1800" dirty="0"/>
          </a:p>
        </p:txBody>
      </p:sp>
      <p:sp>
        <p:nvSpPr>
          <p:cNvPr id="6" name="Text 3"/>
          <p:cNvSpPr/>
          <p:nvPr/>
        </p:nvSpPr>
        <p:spPr>
          <a:xfrm>
            <a:off x="914346" y="3762375"/>
            <a:ext cx="18105239" cy="323850"/>
          </a:xfrm>
          <a:prstGeom prst="rect">
            <a:avLst/>
          </a:prstGeom>
          <a:noFill/>
          <a:ln/>
        </p:spPr>
        <p:txBody>
          <a:bodyPr wrap="square" lIns="25400" tIns="25400" rIns="25400" bIns="25400" rtlCol="0" anchor="t">
            <a:normAutofit lnSpcReduction="10000"/>
          </a:bodyPr>
          <a:lstStyle/>
          <a:p>
            <a:pPr marL="0" indent="0" algn="l">
              <a:buNone/>
            </a:pPr>
            <a:r>
              <a:rPr lang="vi-VN" sz="1800" b="1" kern="0" spc="396" dirty="0">
                <a:solidFill>
                  <a:srgbClr val="8FB0FF"/>
                </a:solidFill>
                <a:latin typeface="Be Vietnam Pro" pitchFamily="34" charset="0"/>
                <a:ea typeface="Be Vietnam Pro" pitchFamily="34" charset="-122"/>
                <a:cs typeface="Be Vietnam Pro" pitchFamily="34" charset="-120"/>
              </a:rPr>
              <a:t>TƯ DUY TÍNH TOÁN TRONG </a:t>
            </a:r>
            <a:r>
              <a:rPr lang="en-US" sz="1800" b="1" kern="0" spc="396" dirty="0">
                <a:solidFill>
                  <a:srgbClr val="8FB0FF"/>
                </a:solidFill>
                <a:latin typeface="Be Vietnam Pro" pitchFamily="34" charset="0"/>
                <a:ea typeface="Be Vietnam Pro" pitchFamily="34" charset="-122"/>
                <a:cs typeface="Be Vietnam Pro" pitchFamily="34" charset="-120"/>
              </a:rPr>
              <a:t>KHDL · 2026</a:t>
            </a:r>
            <a:endParaRPr lang="en-US" sz="1800" dirty="0"/>
          </a:p>
        </p:txBody>
      </p:sp>
      <p:sp>
        <p:nvSpPr>
          <p:cNvPr id="7" name="Text 4"/>
          <p:cNvSpPr/>
          <p:nvPr/>
        </p:nvSpPr>
        <p:spPr>
          <a:xfrm>
            <a:off x="914346" y="4295721"/>
            <a:ext cx="15304770" cy="1560476"/>
          </a:xfrm>
          <a:prstGeom prst="rect">
            <a:avLst/>
          </a:prstGeom>
          <a:noFill/>
          <a:ln/>
        </p:spPr>
        <p:txBody>
          <a:bodyPr wrap="square" lIns="25400" tIns="25400" rIns="25400" bIns="25400" rtlCol="0" anchor="t">
            <a:normAutofit/>
          </a:bodyPr>
          <a:lstStyle/>
          <a:p>
            <a:pPr marL="0" indent="0" algn="l">
              <a:lnSpc>
                <a:spcPct val="108000"/>
              </a:lnSpc>
              <a:buNone/>
            </a:pPr>
            <a:r>
              <a:rPr lang="en-US" sz="5550" b="1" kern="0" spc="-83" dirty="0">
                <a:solidFill>
                  <a:srgbClr val="FFFFFF"/>
                </a:solidFill>
                <a:latin typeface="Be Vietnam Pro" pitchFamily="34" charset="0"/>
                <a:ea typeface="Be Vietnam Pro" pitchFamily="34" charset="-122"/>
                <a:cs typeface="Be Vietnam Pro" pitchFamily="34" charset="-120"/>
              </a:rPr>
              <a:t>Hệ thống phân loại và gợi ý phỏng vấn IT dựa trên Knowledge Tracing</a:t>
            </a:r>
            <a:endParaRPr lang="en-US" sz="5550" dirty="0"/>
          </a:p>
        </p:txBody>
      </p:sp>
      <p:sp>
        <p:nvSpPr>
          <p:cNvPr id="8" name="Text 5"/>
          <p:cNvSpPr/>
          <p:nvPr/>
        </p:nvSpPr>
        <p:spPr>
          <a:xfrm>
            <a:off x="914346" y="6084770"/>
            <a:ext cx="18105239" cy="401782"/>
          </a:xfrm>
          <a:prstGeom prst="rect">
            <a:avLst/>
          </a:prstGeom>
          <a:noFill/>
          <a:ln/>
        </p:spPr>
        <p:txBody>
          <a:bodyPr wrap="square" lIns="25400" tIns="25400" rIns="25400" bIns="25400" rtlCol="0" anchor="t">
            <a:normAutofit/>
          </a:bodyPr>
          <a:lstStyle/>
          <a:p>
            <a:pPr marL="0" indent="0" algn="l">
              <a:buNone/>
            </a:pPr>
            <a:r>
              <a:rPr lang="en-US" sz="2250" dirty="0">
                <a:solidFill>
                  <a:srgbClr val="CDD9FF"/>
                </a:solidFill>
                <a:latin typeface="Be Vietnam Pro" pitchFamily="34" charset="0"/>
                <a:ea typeface="Be Vietnam Pro" pitchFamily="34" charset="-122"/>
                <a:cs typeface="Be Vietnam Pro" pitchFamily="34" charset="-120"/>
              </a:rPr>
              <a:t>InternHub — KT Recommendation System</a:t>
            </a:r>
            <a:endParaRPr lang="en-US" sz="2250" dirty="0"/>
          </a:p>
        </p:txBody>
      </p:sp>
      <p:sp>
        <p:nvSpPr>
          <p:cNvPr id="9" name="Text 6"/>
          <p:cNvSpPr/>
          <p:nvPr/>
        </p:nvSpPr>
        <p:spPr>
          <a:xfrm>
            <a:off x="914346" y="8401212"/>
            <a:ext cx="8888164" cy="323850"/>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8FB0FF"/>
                </a:solidFill>
                <a:latin typeface="Be Vietnam Pro" pitchFamily="34" charset="0"/>
                <a:ea typeface="Be Vietnam Pro" pitchFamily="34" charset="-122"/>
                <a:cs typeface="Be Vietnam Pro" pitchFamily="34" charset="-120"/>
              </a:rPr>
              <a:t>NHÓM THỰC HIỆN</a:t>
            </a:r>
            <a:endParaRPr lang="en-US" sz="1800" dirty="0"/>
          </a:p>
        </p:txBody>
      </p:sp>
      <p:sp>
        <p:nvSpPr>
          <p:cNvPr id="10" name="Text 7"/>
          <p:cNvSpPr/>
          <p:nvPr/>
        </p:nvSpPr>
        <p:spPr>
          <a:xfrm>
            <a:off x="914346" y="8820231"/>
            <a:ext cx="4192637" cy="323850"/>
          </a:xfrm>
          <a:prstGeom prst="rect">
            <a:avLst/>
          </a:prstGeom>
          <a:noFill/>
          <a:ln/>
        </p:spPr>
        <p:txBody>
          <a:bodyPr wrap="square" lIns="25400" tIns="25400" rIns="25400" bIns="25400" rtlCol="0" anchor="t">
            <a:normAutofit/>
          </a:bodyPr>
          <a:lstStyle/>
          <a:p>
            <a:pPr marL="0" indent="0" algn="l">
              <a:buNone/>
            </a:pPr>
            <a:r>
              <a:rPr lang="en-US" sz="1800" dirty="0">
                <a:solidFill>
                  <a:srgbClr val="EEF3FF"/>
                </a:solidFill>
                <a:latin typeface="Be Vietnam Pro" pitchFamily="34" charset="0"/>
                <a:ea typeface="Be Vietnam Pro" pitchFamily="34" charset="-122"/>
                <a:cs typeface="Be Vietnam Pro" pitchFamily="34" charset="-120"/>
              </a:rPr>
              <a:t>Mai Dương Hải Đăng — 24520253</a:t>
            </a:r>
            <a:endParaRPr lang="en-US" sz="1800" dirty="0"/>
          </a:p>
        </p:txBody>
      </p:sp>
      <p:sp>
        <p:nvSpPr>
          <p:cNvPr id="11" name="Text 8"/>
          <p:cNvSpPr/>
          <p:nvPr/>
        </p:nvSpPr>
        <p:spPr>
          <a:xfrm>
            <a:off x="5183007" y="8820231"/>
            <a:ext cx="4192637" cy="323850"/>
          </a:xfrm>
          <a:prstGeom prst="rect">
            <a:avLst/>
          </a:prstGeom>
          <a:noFill/>
          <a:ln/>
        </p:spPr>
        <p:txBody>
          <a:bodyPr wrap="square" lIns="25400" tIns="25400" rIns="25400" bIns="25400" rtlCol="0" anchor="t">
            <a:normAutofit/>
          </a:bodyPr>
          <a:lstStyle/>
          <a:p>
            <a:pPr marL="0" indent="0" algn="l">
              <a:buNone/>
            </a:pPr>
            <a:r>
              <a:rPr lang="en-US" sz="1800" dirty="0">
                <a:solidFill>
                  <a:srgbClr val="EEF3FF"/>
                </a:solidFill>
                <a:latin typeface="Be Vietnam Pro" pitchFamily="34" charset="0"/>
                <a:ea typeface="Be Vietnam Pro" pitchFamily="34" charset="-122"/>
                <a:cs typeface="Be Vietnam Pro" pitchFamily="34" charset="-120"/>
              </a:rPr>
              <a:t>Tạ Gia Khiêm — 24520805</a:t>
            </a:r>
            <a:endParaRPr lang="en-US" sz="1800" dirty="0"/>
          </a:p>
        </p:txBody>
      </p:sp>
      <p:sp>
        <p:nvSpPr>
          <p:cNvPr id="12" name="Text 9"/>
          <p:cNvSpPr/>
          <p:nvPr/>
        </p:nvSpPr>
        <p:spPr>
          <a:xfrm>
            <a:off x="914346" y="9201231"/>
            <a:ext cx="4192637" cy="323850"/>
          </a:xfrm>
          <a:prstGeom prst="rect">
            <a:avLst/>
          </a:prstGeom>
          <a:noFill/>
          <a:ln/>
        </p:spPr>
        <p:txBody>
          <a:bodyPr wrap="square" lIns="25400" tIns="25400" rIns="25400" bIns="25400" rtlCol="0" anchor="t">
            <a:normAutofit/>
          </a:bodyPr>
          <a:lstStyle/>
          <a:p>
            <a:pPr marL="0" indent="0" algn="l">
              <a:buNone/>
            </a:pPr>
            <a:r>
              <a:rPr lang="en-US" sz="1800" dirty="0">
                <a:solidFill>
                  <a:srgbClr val="EEF3FF"/>
                </a:solidFill>
                <a:latin typeface="Be Vietnam Pro" pitchFamily="34" charset="0"/>
                <a:ea typeface="Be Vietnam Pro" pitchFamily="34" charset="-122"/>
                <a:cs typeface="Be Vietnam Pro" pitchFamily="34" charset="-120"/>
              </a:rPr>
              <a:t>Nguyễn Sỹ Huỳnh — 24520716</a:t>
            </a:r>
            <a:endParaRPr lang="en-US" sz="1800" dirty="0"/>
          </a:p>
        </p:txBody>
      </p:sp>
      <p:sp>
        <p:nvSpPr>
          <p:cNvPr id="13" name="Text 10"/>
          <p:cNvSpPr/>
          <p:nvPr/>
        </p:nvSpPr>
        <p:spPr>
          <a:xfrm>
            <a:off x="5183007" y="9201231"/>
            <a:ext cx="4192637" cy="323850"/>
          </a:xfrm>
          <a:prstGeom prst="rect">
            <a:avLst/>
          </a:prstGeom>
          <a:noFill/>
          <a:ln/>
        </p:spPr>
        <p:txBody>
          <a:bodyPr wrap="square" lIns="25400" tIns="25400" rIns="25400" bIns="25400" rtlCol="0" anchor="t">
            <a:normAutofit/>
          </a:bodyPr>
          <a:lstStyle/>
          <a:p>
            <a:pPr marL="0" indent="0" algn="l">
              <a:buNone/>
            </a:pPr>
            <a:r>
              <a:rPr lang="en-US" sz="1800" dirty="0">
                <a:solidFill>
                  <a:srgbClr val="EEF3FF"/>
                </a:solidFill>
                <a:latin typeface="Be Vietnam Pro" pitchFamily="34" charset="0"/>
                <a:ea typeface="Be Vietnam Pro" pitchFamily="34" charset="-122"/>
                <a:cs typeface="Be Vietnam Pro" pitchFamily="34" charset="-120"/>
              </a:rPr>
              <a:t>Nguyễn Ngọc Nam — 24521114</a:t>
            </a:r>
            <a:endParaRPr lang="en-US" sz="1800" dirty="0"/>
          </a:p>
        </p:txBody>
      </p:sp>
      <p:sp>
        <p:nvSpPr>
          <p:cNvPr id="14" name="Text 11"/>
          <p:cNvSpPr/>
          <p:nvPr/>
        </p:nvSpPr>
        <p:spPr>
          <a:xfrm>
            <a:off x="13495639" y="8764894"/>
            <a:ext cx="3878014" cy="323850"/>
          </a:xfrm>
          <a:prstGeom prst="rect">
            <a:avLst/>
          </a:prstGeom>
          <a:noFill/>
          <a:ln/>
        </p:spPr>
        <p:txBody>
          <a:bodyPr wrap="square" lIns="25400" tIns="25400" rIns="25400" bIns="25400" rtlCol="0" anchor="t">
            <a:normAutofit/>
          </a:bodyPr>
          <a:lstStyle/>
          <a:p>
            <a:pPr marL="0" indent="0" algn="r">
              <a:buNone/>
            </a:pPr>
            <a:r>
              <a:rPr lang="en-US" sz="1800" b="1" kern="0" spc="252" dirty="0">
                <a:solidFill>
                  <a:srgbClr val="8FB0FF"/>
                </a:solidFill>
                <a:latin typeface="Be Vietnam Pro" pitchFamily="34" charset="0"/>
                <a:ea typeface="Be Vietnam Pro" pitchFamily="34" charset="-122"/>
                <a:cs typeface="Be Vietnam Pro" pitchFamily="34" charset="-120"/>
              </a:rPr>
              <a:t>GIẢNG VIÊN HƯỚNG DẪN</a:t>
            </a:r>
            <a:endParaRPr lang="en-US" sz="1800" dirty="0"/>
          </a:p>
        </p:txBody>
      </p:sp>
      <p:sp>
        <p:nvSpPr>
          <p:cNvPr id="15" name="Text 12"/>
          <p:cNvSpPr/>
          <p:nvPr/>
        </p:nvSpPr>
        <p:spPr>
          <a:xfrm>
            <a:off x="13495639" y="9183913"/>
            <a:ext cx="3878014" cy="341168"/>
          </a:xfrm>
          <a:prstGeom prst="rect">
            <a:avLst/>
          </a:prstGeom>
          <a:noFill/>
          <a:ln/>
        </p:spPr>
        <p:txBody>
          <a:bodyPr wrap="square" lIns="25400" tIns="25400" rIns="25400" bIns="25400" rtlCol="0" anchor="t">
            <a:normAutofit/>
          </a:bodyPr>
          <a:lstStyle/>
          <a:p>
            <a:pPr marL="0" indent="0" algn="r">
              <a:buNone/>
            </a:pPr>
            <a:r>
              <a:rPr lang="en-US" sz="1875" b="1" dirty="0">
                <a:solidFill>
                  <a:srgbClr val="FFFFFF"/>
                </a:solidFill>
                <a:latin typeface="Be Vietnam Pro" pitchFamily="34" charset="0"/>
                <a:ea typeface="Be Vietnam Pro" pitchFamily="34" charset="-122"/>
                <a:cs typeface="Be Vietnam Pro" pitchFamily="34" charset="-120"/>
              </a:rPr>
              <a:t>TS. Nguyễn Văn Kiệt</a:t>
            </a:r>
            <a:endParaRPr lang="en-US" sz="18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1520726"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BỐI CẢNH</a:t>
            </a:r>
            <a:endParaRPr lang="en-US" sz="1800" dirty="0"/>
          </a:p>
        </p:txBody>
      </p:sp>
      <p:sp>
        <p:nvSpPr>
          <p:cNvPr id="4" name="Text 2"/>
          <p:cNvSpPr/>
          <p:nvPr/>
        </p:nvSpPr>
        <p:spPr>
          <a:xfrm>
            <a:off x="16375693" y="704769"/>
            <a:ext cx="1112314"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02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Đặt vấn đề</a:t>
            </a:r>
            <a:endParaRPr lang="en-US" sz="4350" dirty="0"/>
          </a:p>
        </p:txBody>
      </p:sp>
      <p:sp>
        <p:nvSpPr>
          <p:cNvPr id="6" name="Shape 4"/>
          <p:cNvSpPr/>
          <p:nvPr/>
        </p:nvSpPr>
        <p:spPr>
          <a:xfrm>
            <a:off x="876192" y="2349725"/>
            <a:ext cx="5622050" cy="7327756"/>
          </a:xfrm>
          <a:prstGeom prst="roundRect">
            <a:avLst>
              <a:gd name="adj" fmla="val 2372"/>
            </a:avLst>
          </a:prstGeom>
          <a:solidFill>
            <a:srgbClr val="EEF2FC"/>
          </a:solidFill>
          <a:ln/>
        </p:spPr>
        <p:txBody>
          <a:bodyPr/>
          <a:lstStyle/>
          <a:p>
            <a:endParaRPr lang="en-US"/>
          </a:p>
        </p:txBody>
      </p:sp>
      <p:sp>
        <p:nvSpPr>
          <p:cNvPr id="7" name="Text 5"/>
          <p:cNvSpPr/>
          <p:nvPr/>
        </p:nvSpPr>
        <p:spPr>
          <a:xfrm>
            <a:off x="1257192" y="4808501"/>
            <a:ext cx="5346055" cy="1181100"/>
          </a:xfrm>
          <a:prstGeom prst="rect">
            <a:avLst/>
          </a:prstGeom>
          <a:noFill/>
          <a:ln/>
        </p:spPr>
        <p:txBody>
          <a:bodyPr wrap="square" lIns="25400" tIns="25400" rIns="25400" bIns="25400" rtlCol="0" anchor="t">
            <a:normAutofit/>
          </a:bodyPr>
          <a:lstStyle/>
          <a:p>
            <a:pPr marL="0" indent="0" algn="l">
              <a:lnSpc>
                <a:spcPct val="100000"/>
              </a:lnSpc>
              <a:buNone/>
            </a:pPr>
            <a:r>
              <a:rPr lang="en-US" sz="9000" b="1" kern="0" spc="-270" dirty="0">
                <a:solidFill>
                  <a:srgbClr val="1D50C6"/>
                </a:solidFill>
                <a:latin typeface="Be Vietnam Pro" pitchFamily="34" charset="0"/>
                <a:ea typeface="Be Vietnam Pro" pitchFamily="34" charset="-122"/>
                <a:cs typeface="Be Vietnam Pro" pitchFamily="34" charset="-120"/>
              </a:rPr>
              <a:t>&gt;70%</a:t>
            </a:r>
            <a:endParaRPr lang="en-US" sz="9000" dirty="0"/>
          </a:p>
        </p:txBody>
      </p:sp>
      <p:sp>
        <p:nvSpPr>
          <p:cNvPr id="8" name="Text 6"/>
          <p:cNvSpPr/>
          <p:nvPr/>
        </p:nvSpPr>
        <p:spPr>
          <a:xfrm>
            <a:off x="1257192" y="6122924"/>
            <a:ext cx="5005851" cy="758158"/>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16223D"/>
                </a:solidFill>
                <a:latin typeface="Be Vietnam Pro" pitchFamily="34" charset="0"/>
                <a:ea typeface="Be Vietnam Pro" pitchFamily="34" charset="-122"/>
                <a:cs typeface="Be Vietnam Pro" pitchFamily="34" charset="-120"/>
              </a:rPr>
              <a:t>ứng viên IT chưa chuẩn bị đủ kỹ năng khi phỏng vấn</a:t>
            </a:r>
            <a:endParaRPr lang="en-US" sz="2025" dirty="0"/>
          </a:p>
        </p:txBody>
      </p:sp>
      <p:sp>
        <p:nvSpPr>
          <p:cNvPr id="9" name="Text 7"/>
          <p:cNvSpPr/>
          <p:nvPr/>
        </p:nvSpPr>
        <p:spPr>
          <a:xfrm>
            <a:off x="1257192" y="6976250"/>
            <a:ext cx="5346055" cy="280555"/>
          </a:xfrm>
          <a:prstGeom prst="rect">
            <a:avLst/>
          </a:prstGeom>
          <a:noFill/>
          <a:ln/>
        </p:spPr>
        <p:txBody>
          <a:bodyPr wrap="square" lIns="25400" tIns="25400" rIns="25400" bIns="25400" rtlCol="0" anchor="t">
            <a:normAutofit/>
          </a:bodyPr>
          <a:lstStyle/>
          <a:p>
            <a:pPr marL="0" indent="0" algn="l">
              <a:buNone/>
            </a:pPr>
            <a:r>
              <a:rPr lang="en-US" sz="1500" dirty="0">
                <a:solidFill>
                  <a:srgbClr val="5D6B88"/>
                </a:solidFill>
                <a:latin typeface="Be Vietnam Pro" pitchFamily="34" charset="0"/>
                <a:ea typeface="Be Vietnam Pro" pitchFamily="34" charset="-122"/>
                <a:cs typeface="Be Vietnam Pro" pitchFamily="34" charset="-120"/>
              </a:rPr>
              <a:t>Nguồn: TopDev 2024</a:t>
            </a:r>
            <a:endParaRPr lang="en-US" sz="1500" dirty="0"/>
          </a:p>
        </p:txBody>
      </p:sp>
      <p:sp>
        <p:nvSpPr>
          <p:cNvPr id="10" name="Text 8"/>
          <p:cNvSpPr/>
          <p:nvPr/>
        </p:nvSpPr>
        <p:spPr>
          <a:xfrm>
            <a:off x="6879242" y="2349725"/>
            <a:ext cx="10848543" cy="1280950"/>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405F"/>
                </a:solidFill>
                <a:latin typeface="Be Vietnam Pro" pitchFamily="34" charset="0"/>
                <a:ea typeface="Be Vietnam Pro" pitchFamily="34" charset="-122"/>
                <a:cs typeface="Be Vietnam Pro" pitchFamily="34" charset="-120"/>
              </a:rPr>
              <a:t>Thị trường tuyển dụng IT cạnh tranh gay gắt, trong khi nền tảng hiện có (LeetCode, HackerRank, Pramp) tập trung vào </a:t>
            </a:r>
            <a:r>
              <a:rPr lang="en-US" sz="2250" b="1" dirty="0">
                <a:solidFill>
                  <a:srgbClr val="33405F"/>
                </a:solidFill>
                <a:latin typeface="Be Vietnam Pro" pitchFamily="34" charset="0"/>
                <a:ea typeface="Be Vietnam Pro" pitchFamily="34" charset="-122"/>
                <a:cs typeface="Be Vietnam Pro" pitchFamily="34" charset="-120"/>
              </a:rPr>
              <a:t>thuật toán </a:t>
            </a:r>
            <a:r>
              <a:rPr lang="en-US" sz="2250" dirty="0">
                <a:solidFill>
                  <a:srgbClr val="33405F"/>
                </a:solidFill>
                <a:latin typeface="Be Vietnam Pro" pitchFamily="34" charset="0"/>
                <a:ea typeface="Be Vietnam Pro" pitchFamily="34" charset="-122"/>
                <a:cs typeface="Be Vietnam Pro" pitchFamily="34" charset="-120"/>
              </a:rPr>
              <a:t>và thiếu nội dung cho </a:t>
            </a:r>
            <a:r>
              <a:rPr lang="en-US" sz="2250" b="1" dirty="0">
                <a:solidFill>
                  <a:srgbClr val="33405F"/>
                </a:solidFill>
                <a:latin typeface="Be Vietnam Pro" pitchFamily="34" charset="0"/>
                <a:ea typeface="Be Vietnam Pro" pitchFamily="34" charset="-122"/>
                <a:cs typeface="Be Vietnam Pro" pitchFamily="34" charset="-120"/>
              </a:rPr>
              <a:t>DA / DS / DE</a:t>
            </a:r>
            <a:r>
              <a:rPr lang="en-US" sz="2250" dirty="0">
                <a:solidFill>
                  <a:srgbClr val="33405F"/>
                </a:solidFill>
                <a:latin typeface="Be Vietnam Pro" pitchFamily="34" charset="0"/>
                <a:ea typeface="Be Vietnam Pro" pitchFamily="34" charset="-122"/>
                <a:cs typeface="Be Vietnam Pro" pitchFamily="34" charset="-120"/>
              </a:rPr>
              <a:t>.</a:t>
            </a:r>
            <a:endParaRPr lang="en-US" sz="2250" dirty="0"/>
          </a:p>
        </p:txBody>
      </p:sp>
      <p:sp>
        <p:nvSpPr>
          <p:cNvPr id="11" name="Shape 9"/>
          <p:cNvSpPr/>
          <p:nvPr/>
        </p:nvSpPr>
        <p:spPr>
          <a:xfrm>
            <a:off x="6879242" y="3802017"/>
            <a:ext cx="10532566" cy="5875463"/>
          </a:xfrm>
          <a:prstGeom prst="roundRect">
            <a:avLst>
              <a:gd name="adj" fmla="val 2270"/>
            </a:avLst>
          </a:prstGeom>
          <a:solidFill>
            <a:srgbClr val="FFFFFF"/>
          </a:solidFill>
          <a:ln w="17318">
            <a:solidFill>
              <a:srgbClr val="DBE3F5"/>
            </a:solidFill>
            <a:prstDash val="solid"/>
          </a:ln>
        </p:spPr>
        <p:txBody>
          <a:bodyPr/>
          <a:lstStyle/>
          <a:p>
            <a:endParaRPr lang="en-US"/>
          </a:p>
        </p:txBody>
      </p:sp>
      <p:sp>
        <p:nvSpPr>
          <p:cNvPr id="12" name="Text 10"/>
          <p:cNvSpPr/>
          <p:nvPr/>
        </p:nvSpPr>
        <p:spPr>
          <a:xfrm>
            <a:off x="7220328" y="6025374"/>
            <a:ext cx="10835431" cy="323850"/>
          </a:xfrm>
          <a:prstGeom prst="rect">
            <a:avLst/>
          </a:prstGeom>
          <a:noFill/>
          <a:ln/>
        </p:spPr>
        <p:txBody>
          <a:bodyPr wrap="square" lIns="25400" tIns="25400" rIns="25400" bIns="25400" rtlCol="0" anchor="t">
            <a:normAutofit/>
          </a:bodyPr>
          <a:lstStyle/>
          <a:p>
            <a:pPr marL="0" indent="0" algn="l">
              <a:buNone/>
            </a:pPr>
            <a:r>
              <a:rPr lang="en-US" sz="1800" b="1" kern="0" spc="108" dirty="0">
                <a:solidFill>
                  <a:srgbClr val="0F2F7A"/>
                </a:solidFill>
                <a:latin typeface="Be Vietnam Pro" pitchFamily="34" charset="0"/>
                <a:ea typeface="Be Vietnam Pro" pitchFamily="34" charset="-122"/>
                <a:cs typeface="Be Vietnam Pro" pitchFamily="34" charset="-120"/>
              </a:rPr>
              <a:t>HAI HẠN CHẾ CỐT LÕI</a:t>
            </a:r>
            <a:endParaRPr lang="en-US" sz="1800" dirty="0"/>
          </a:p>
        </p:txBody>
      </p:sp>
      <p:sp>
        <p:nvSpPr>
          <p:cNvPr id="13" name="Shape 11"/>
          <p:cNvSpPr/>
          <p:nvPr/>
        </p:nvSpPr>
        <p:spPr>
          <a:xfrm>
            <a:off x="7220328" y="6520566"/>
            <a:ext cx="381000" cy="381000"/>
          </a:xfrm>
          <a:prstGeom prst="roundRect">
            <a:avLst>
              <a:gd name="adj" fmla="val 25000"/>
            </a:avLst>
          </a:prstGeom>
          <a:solidFill>
            <a:srgbClr val="1D50C6"/>
          </a:solidFill>
          <a:ln/>
        </p:spPr>
        <p:txBody>
          <a:bodyPr/>
          <a:lstStyle/>
          <a:p>
            <a:endParaRPr lang="en-US"/>
          </a:p>
        </p:txBody>
      </p:sp>
      <p:sp>
        <p:nvSpPr>
          <p:cNvPr id="14" name="Text 12"/>
          <p:cNvSpPr/>
          <p:nvPr/>
        </p:nvSpPr>
        <p:spPr>
          <a:xfrm>
            <a:off x="7182228" y="6520566"/>
            <a:ext cx="457200" cy="419100"/>
          </a:xfrm>
          <a:prstGeom prst="rect">
            <a:avLst/>
          </a:prstGeom>
          <a:noFill/>
          <a:ln/>
        </p:spPr>
        <p:txBody>
          <a:bodyPr wrap="square" lIns="25400" tIns="25400" rIns="25400" bIns="25400" rtlCol="0" anchor="ctr">
            <a:normAutofit/>
          </a:bodyPr>
          <a:lstStyle/>
          <a:p>
            <a:pPr marL="0" indent="0" algn="ctr">
              <a:buNone/>
            </a:pPr>
            <a:r>
              <a:rPr lang="en-US" sz="1650" b="1" dirty="0">
                <a:solidFill>
                  <a:srgbClr val="FFFFFF"/>
                </a:solidFill>
                <a:latin typeface="Be Vietnam Pro" pitchFamily="34" charset="0"/>
                <a:ea typeface="Be Vietnam Pro" pitchFamily="34" charset="-122"/>
                <a:cs typeface="Be Vietnam Pro" pitchFamily="34" charset="-120"/>
              </a:rPr>
              <a:t>1</a:t>
            </a:r>
            <a:endParaRPr lang="en-US" sz="1650" dirty="0"/>
          </a:p>
        </p:txBody>
      </p:sp>
      <p:sp>
        <p:nvSpPr>
          <p:cNvPr id="15" name="Text 13"/>
          <p:cNvSpPr/>
          <p:nvPr/>
        </p:nvSpPr>
        <p:spPr>
          <a:xfrm>
            <a:off x="7772752" y="6520566"/>
            <a:ext cx="9968656" cy="385275"/>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16223D"/>
                </a:solidFill>
                <a:latin typeface="Be Vietnam Pro" pitchFamily="34" charset="0"/>
                <a:ea typeface="Be Vietnam Pro" pitchFamily="34" charset="-122"/>
                <a:cs typeface="Be Vietnam Pro" pitchFamily="34" charset="-120"/>
              </a:rPr>
              <a:t>Thiếu cá nhân hóa theo năng lực — câu hỏi tĩnh, như nhau cho mọi người.</a:t>
            </a:r>
            <a:endParaRPr lang="en-US" sz="2025" dirty="0"/>
          </a:p>
        </p:txBody>
      </p:sp>
      <p:sp>
        <p:nvSpPr>
          <p:cNvPr id="16" name="Shape 14"/>
          <p:cNvSpPr/>
          <p:nvPr/>
        </p:nvSpPr>
        <p:spPr>
          <a:xfrm>
            <a:off x="7220328" y="7072989"/>
            <a:ext cx="381000" cy="381000"/>
          </a:xfrm>
          <a:prstGeom prst="roundRect">
            <a:avLst>
              <a:gd name="adj" fmla="val 25000"/>
            </a:avLst>
          </a:prstGeom>
          <a:solidFill>
            <a:srgbClr val="1D50C6"/>
          </a:solidFill>
          <a:ln/>
        </p:spPr>
        <p:txBody>
          <a:bodyPr/>
          <a:lstStyle/>
          <a:p>
            <a:endParaRPr lang="en-US"/>
          </a:p>
        </p:txBody>
      </p:sp>
      <p:sp>
        <p:nvSpPr>
          <p:cNvPr id="17" name="Text 15"/>
          <p:cNvSpPr/>
          <p:nvPr/>
        </p:nvSpPr>
        <p:spPr>
          <a:xfrm>
            <a:off x="7182228" y="7072989"/>
            <a:ext cx="457200" cy="419100"/>
          </a:xfrm>
          <a:prstGeom prst="rect">
            <a:avLst/>
          </a:prstGeom>
          <a:noFill/>
          <a:ln/>
        </p:spPr>
        <p:txBody>
          <a:bodyPr wrap="square" lIns="25400" tIns="25400" rIns="25400" bIns="25400" rtlCol="0" anchor="ctr">
            <a:normAutofit/>
          </a:bodyPr>
          <a:lstStyle/>
          <a:p>
            <a:pPr marL="0" indent="0" algn="ctr">
              <a:buNone/>
            </a:pPr>
            <a:r>
              <a:rPr lang="en-US" sz="1650" b="1" dirty="0">
                <a:solidFill>
                  <a:srgbClr val="FFFFFF"/>
                </a:solidFill>
                <a:latin typeface="Be Vietnam Pro" pitchFamily="34" charset="0"/>
                <a:ea typeface="Be Vietnam Pro" pitchFamily="34" charset="-122"/>
                <a:cs typeface="Be Vietnam Pro" pitchFamily="34" charset="-120"/>
              </a:rPr>
              <a:t>2</a:t>
            </a:r>
            <a:endParaRPr lang="en-US" sz="1650" dirty="0"/>
          </a:p>
        </p:txBody>
      </p:sp>
      <p:sp>
        <p:nvSpPr>
          <p:cNvPr id="18" name="Text 16"/>
          <p:cNvSpPr/>
          <p:nvPr/>
        </p:nvSpPr>
        <p:spPr>
          <a:xfrm>
            <a:off x="7772752" y="7072989"/>
            <a:ext cx="8759279" cy="385275"/>
          </a:xfrm>
          <a:prstGeom prst="rect">
            <a:avLst/>
          </a:prstGeom>
          <a:noFill/>
          <a:ln/>
        </p:spPr>
        <p:txBody>
          <a:bodyPr wrap="square" lIns="25400" tIns="25400" rIns="25400" bIns="25400" rtlCol="0" anchor="t">
            <a:normAutofit/>
          </a:bodyPr>
          <a:lstStyle/>
          <a:p>
            <a:pPr marL="0" indent="0" algn="l">
              <a:lnSpc>
                <a:spcPct val="135000"/>
              </a:lnSpc>
              <a:buNone/>
            </a:pPr>
            <a:r>
              <a:rPr lang="en-US" sz="2025" dirty="0">
                <a:solidFill>
                  <a:srgbClr val="16223D"/>
                </a:solidFill>
                <a:latin typeface="Be Vietnam Pro" pitchFamily="34" charset="0"/>
                <a:ea typeface="Be Vietnam Pro" pitchFamily="34" charset="-122"/>
                <a:cs typeface="Be Vietnam Pro" pitchFamily="34" charset="-120"/>
              </a:rPr>
              <a:t>Không theo dõi quỹ đạo kiến thức của người học theo thời gian.</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1971080"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ĐỊNH HƯỚNG</a:t>
            </a:r>
            <a:endParaRPr lang="en-US" sz="1800" dirty="0"/>
          </a:p>
        </p:txBody>
      </p:sp>
      <p:sp>
        <p:nvSpPr>
          <p:cNvPr id="4" name="Text 2"/>
          <p:cNvSpPr/>
          <p:nvPr/>
        </p:nvSpPr>
        <p:spPr>
          <a:xfrm>
            <a:off x="16372581" y="704769"/>
            <a:ext cx="1115426"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03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Mục tiêu nghiên cứu</a:t>
            </a:r>
            <a:endParaRPr lang="en-US" sz="4350" dirty="0"/>
          </a:p>
        </p:txBody>
      </p:sp>
      <p:sp>
        <p:nvSpPr>
          <p:cNvPr id="6" name="Shape 4"/>
          <p:cNvSpPr/>
          <p:nvPr/>
        </p:nvSpPr>
        <p:spPr>
          <a:xfrm>
            <a:off x="876192" y="2349725"/>
            <a:ext cx="8144010" cy="3540080"/>
          </a:xfrm>
          <a:prstGeom prst="roundRect">
            <a:avLst>
              <a:gd name="adj" fmla="val 3767"/>
            </a:avLst>
          </a:prstGeom>
          <a:solidFill>
            <a:srgbClr val="EEF2FC"/>
          </a:solidFill>
          <a:ln/>
        </p:spPr>
        <p:txBody>
          <a:bodyPr/>
          <a:lstStyle/>
          <a:p>
            <a:endParaRPr lang="en-US"/>
          </a:p>
        </p:txBody>
      </p:sp>
      <p:sp>
        <p:nvSpPr>
          <p:cNvPr id="7" name="Text 5"/>
          <p:cNvSpPr/>
          <p:nvPr/>
        </p:nvSpPr>
        <p:spPr>
          <a:xfrm>
            <a:off x="1238115" y="3759669"/>
            <a:ext cx="935615" cy="758158"/>
          </a:xfrm>
          <a:prstGeom prst="rect">
            <a:avLst/>
          </a:prstGeom>
          <a:noFill/>
          <a:ln/>
        </p:spPr>
        <p:txBody>
          <a:bodyPr wrap="square" lIns="25400" tIns="25400" rIns="25400" bIns="25400" rtlCol="0" anchor="t">
            <a:normAutofit/>
          </a:bodyPr>
          <a:lstStyle/>
          <a:p>
            <a:pPr marL="0" indent="0" algn="l">
              <a:lnSpc>
                <a:spcPct val="90000"/>
              </a:lnSpc>
              <a:buNone/>
            </a:pPr>
            <a:r>
              <a:rPr lang="en-US" sz="6300" b="1" kern="0" spc="-252" dirty="0">
                <a:solidFill>
                  <a:srgbClr val="1D50C6"/>
                </a:solidFill>
                <a:latin typeface="Be Vietnam Pro" pitchFamily="34" charset="0"/>
                <a:ea typeface="Be Vietnam Pro" pitchFamily="34" charset="-122"/>
                <a:cs typeface="Be Vietnam Pro" pitchFamily="34" charset="-120"/>
              </a:rPr>
              <a:t>01</a:t>
            </a:r>
            <a:endParaRPr lang="en-US" sz="6300" dirty="0"/>
          </a:p>
        </p:txBody>
      </p:sp>
      <p:sp>
        <p:nvSpPr>
          <p:cNvPr id="8" name="Text 6"/>
          <p:cNvSpPr/>
          <p:nvPr/>
        </p:nvSpPr>
        <p:spPr>
          <a:xfrm>
            <a:off x="2345125" y="3733015"/>
            <a:ext cx="6502548" cy="81146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6223D"/>
                </a:solidFill>
                <a:latin typeface="Be Vietnam Pro" pitchFamily="34" charset="0"/>
                <a:ea typeface="Be Vietnam Pro" pitchFamily="34" charset="-122"/>
                <a:cs typeface="Be Vietnam Pro" pitchFamily="34" charset="-120"/>
              </a:rPr>
              <a:t>Xây dựng </a:t>
            </a:r>
            <a:r>
              <a:rPr lang="en-US" sz="2175" b="1" dirty="0">
                <a:solidFill>
                  <a:srgbClr val="16223D"/>
                </a:solidFill>
                <a:latin typeface="Be Vietnam Pro" pitchFamily="34" charset="0"/>
                <a:ea typeface="Be Vietnam Pro" pitchFamily="34" charset="-122"/>
                <a:cs typeface="Be Vietnam Pro" pitchFamily="34" charset="-120"/>
              </a:rPr>
              <a:t>bộ dữ liệu KT </a:t>
            </a:r>
            <a:r>
              <a:rPr lang="en-US" sz="2175" dirty="0">
                <a:solidFill>
                  <a:srgbClr val="16223D"/>
                </a:solidFill>
                <a:latin typeface="Be Vietnam Pro" pitchFamily="34" charset="0"/>
                <a:ea typeface="Be Vietnam Pro" pitchFamily="34" charset="-122"/>
                <a:cs typeface="Be Vietnam Pro" pitchFamily="34" charset="-120"/>
              </a:rPr>
              <a:t>cho bài toán phỏng vấn IT (question bank + mô phỏng).</a:t>
            </a:r>
            <a:endParaRPr lang="en-US" sz="2175" dirty="0"/>
          </a:p>
        </p:txBody>
      </p:sp>
      <p:sp>
        <p:nvSpPr>
          <p:cNvPr id="9" name="Shape 7"/>
          <p:cNvSpPr/>
          <p:nvPr/>
        </p:nvSpPr>
        <p:spPr>
          <a:xfrm>
            <a:off x="9267798" y="2349725"/>
            <a:ext cx="8144010" cy="3540080"/>
          </a:xfrm>
          <a:prstGeom prst="roundRect">
            <a:avLst>
              <a:gd name="adj" fmla="val 3767"/>
            </a:avLst>
          </a:prstGeom>
          <a:solidFill>
            <a:srgbClr val="EEF2FC"/>
          </a:solidFill>
          <a:ln/>
        </p:spPr>
        <p:txBody>
          <a:bodyPr/>
          <a:lstStyle/>
          <a:p>
            <a:endParaRPr lang="en-US"/>
          </a:p>
        </p:txBody>
      </p:sp>
      <p:sp>
        <p:nvSpPr>
          <p:cNvPr id="10" name="Text 8"/>
          <p:cNvSpPr/>
          <p:nvPr/>
        </p:nvSpPr>
        <p:spPr>
          <a:xfrm>
            <a:off x="9629720" y="3759669"/>
            <a:ext cx="1113938" cy="758158"/>
          </a:xfrm>
          <a:prstGeom prst="rect">
            <a:avLst/>
          </a:prstGeom>
          <a:noFill/>
          <a:ln/>
        </p:spPr>
        <p:txBody>
          <a:bodyPr wrap="square" lIns="25400" tIns="25400" rIns="25400" bIns="25400" rtlCol="0" anchor="t">
            <a:normAutofit/>
          </a:bodyPr>
          <a:lstStyle/>
          <a:p>
            <a:pPr marL="0" indent="0" algn="l">
              <a:lnSpc>
                <a:spcPct val="90000"/>
              </a:lnSpc>
              <a:buNone/>
            </a:pPr>
            <a:r>
              <a:rPr lang="en-US" sz="6300" b="1" kern="0" spc="-252" dirty="0">
                <a:solidFill>
                  <a:srgbClr val="1D50C6"/>
                </a:solidFill>
                <a:latin typeface="Be Vietnam Pro" pitchFamily="34" charset="0"/>
                <a:ea typeface="Be Vietnam Pro" pitchFamily="34" charset="-122"/>
                <a:cs typeface="Be Vietnam Pro" pitchFamily="34" charset="-120"/>
              </a:rPr>
              <a:t>02</a:t>
            </a:r>
            <a:endParaRPr lang="en-US" sz="6300" dirty="0"/>
          </a:p>
        </p:txBody>
      </p:sp>
      <p:sp>
        <p:nvSpPr>
          <p:cNvPr id="11" name="Text 9"/>
          <p:cNvSpPr/>
          <p:nvPr/>
        </p:nvSpPr>
        <p:spPr>
          <a:xfrm>
            <a:off x="10915055" y="3733015"/>
            <a:ext cx="6318875" cy="81146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6223D"/>
                </a:solidFill>
                <a:latin typeface="Be Vietnam Pro" pitchFamily="34" charset="0"/>
                <a:ea typeface="Be Vietnam Pro" pitchFamily="34" charset="-122"/>
                <a:cs typeface="Be Vietnam Pro" pitchFamily="34" charset="-120"/>
              </a:rPr>
              <a:t>Huấn luyện &amp; so sánh </a:t>
            </a:r>
            <a:r>
              <a:rPr lang="en-US" sz="2175" b="1" dirty="0">
                <a:solidFill>
                  <a:srgbClr val="16223D"/>
                </a:solidFill>
                <a:latin typeface="Be Vietnam Pro" pitchFamily="34" charset="0"/>
                <a:ea typeface="Be Vietnam Pro" pitchFamily="34" charset="-122"/>
                <a:cs typeface="Be Vietnam Pro" pitchFamily="34" charset="-120"/>
              </a:rPr>
              <a:t>3 họ mô hình KT </a:t>
            </a:r>
            <a:r>
              <a:rPr lang="en-US" sz="2175" dirty="0">
                <a:solidFill>
                  <a:srgbClr val="16223D"/>
                </a:solidFill>
                <a:latin typeface="Be Vietnam Pro" pitchFamily="34" charset="0"/>
                <a:ea typeface="Be Vietnam Pro" pitchFamily="34" charset="-122"/>
                <a:cs typeface="Be Vietnam Pro" pitchFamily="34" charset="-120"/>
              </a:rPr>
              <a:t>: BKT, DKT, SAKT (+ biến thể quality label).</a:t>
            </a:r>
            <a:endParaRPr lang="en-US" sz="2175" dirty="0"/>
          </a:p>
        </p:txBody>
      </p:sp>
      <p:sp>
        <p:nvSpPr>
          <p:cNvPr id="12" name="Shape 10"/>
          <p:cNvSpPr/>
          <p:nvPr/>
        </p:nvSpPr>
        <p:spPr>
          <a:xfrm>
            <a:off x="876192" y="6137401"/>
            <a:ext cx="8144010" cy="3540080"/>
          </a:xfrm>
          <a:prstGeom prst="roundRect">
            <a:avLst>
              <a:gd name="adj" fmla="val 3767"/>
            </a:avLst>
          </a:prstGeom>
          <a:solidFill>
            <a:srgbClr val="EEF2FC"/>
          </a:solidFill>
          <a:ln/>
        </p:spPr>
        <p:txBody>
          <a:bodyPr/>
          <a:lstStyle/>
          <a:p>
            <a:endParaRPr lang="en-US"/>
          </a:p>
        </p:txBody>
      </p:sp>
      <p:sp>
        <p:nvSpPr>
          <p:cNvPr id="13" name="Text 11"/>
          <p:cNvSpPr/>
          <p:nvPr/>
        </p:nvSpPr>
        <p:spPr>
          <a:xfrm>
            <a:off x="1238115" y="7547345"/>
            <a:ext cx="1128415" cy="758158"/>
          </a:xfrm>
          <a:prstGeom prst="rect">
            <a:avLst/>
          </a:prstGeom>
          <a:noFill/>
          <a:ln/>
        </p:spPr>
        <p:txBody>
          <a:bodyPr wrap="square" lIns="25400" tIns="25400" rIns="25400" bIns="25400" rtlCol="0" anchor="t">
            <a:normAutofit/>
          </a:bodyPr>
          <a:lstStyle/>
          <a:p>
            <a:pPr marL="0" indent="0" algn="l">
              <a:lnSpc>
                <a:spcPct val="90000"/>
              </a:lnSpc>
              <a:buNone/>
            </a:pPr>
            <a:r>
              <a:rPr lang="en-US" sz="6300" b="1" kern="0" spc="-252" dirty="0">
                <a:solidFill>
                  <a:srgbClr val="1D50C6"/>
                </a:solidFill>
                <a:latin typeface="Be Vietnam Pro" pitchFamily="34" charset="0"/>
                <a:ea typeface="Be Vietnam Pro" pitchFamily="34" charset="-122"/>
                <a:cs typeface="Be Vietnam Pro" pitchFamily="34" charset="-120"/>
              </a:rPr>
              <a:t>03</a:t>
            </a:r>
            <a:endParaRPr lang="en-US" sz="6300" dirty="0"/>
          </a:p>
        </p:txBody>
      </p:sp>
      <p:sp>
        <p:nvSpPr>
          <p:cNvPr id="14" name="Text 12"/>
          <p:cNvSpPr/>
          <p:nvPr/>
        </p:nvSpPr>
        <p:spPr>
          <a:xfrm>
            <a:off x="2537925" y="7520691"/>
            <a:ext cx="6303964" cy="811465"/>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6223D"/>
                </a:solidFill>
                <a:latin typeface="Be Vietnam Pro" pitchFamily="34" charset="0"/>
                <a:ea typeface="Be Vietnam Pro" pitchFamily="34" charset="-122"/>
                <a:cs typeface="Be Vietnam Pro" pitchFamily="34" charset="-120"/>
              </a:rPr>
              <a:t>Xây </a:t>
            </a:r>
            <a:r>
              <a:rPr lang="en-US" sz="2175" b="1" dirty="0">
                <a:solidFill>
                  <a:srgbClr val="16223D"/>
                </a:solidFill>
                <a:latin typeface="Be Vietnam Pro" pitchFamily="34" charset="0"/>
                <a:ea typeface="Be Vietnam Pro" pitchFamily="34" charset="-122"/>
                <a:cs typeface="Be Vietnam Pro" pitchFamily="34" charset="-120"/>
              </a:rPr>
              <a:t>engine gợi ý </a:t>
            </a:r>
            <a:r>
              <a:rPr lang="en-US" sz="2175" dirty="0">
                <a:solidFill>
                  <a:srgbClr val="16223D"/>
                </a:solidFill>
                <a:latin typeface="Be Vietnam Pro" pitchFamily="34" charset="0"/>
                <a:ea typeface="Be Vietnam Pro" pitchFamily="34" charset="-122"/>
                <a:cs typeface="Be Vietnam Pro" pitchFamily="34" charset="-120"/>
              </a:rPr>
              <a:t>dựa trên KT — blend KT 70% + EMA 30%, CAT 2 giai đoạn.</a:t>
            </a:r>
            <a:endParaRPr lang="en-US" sz="2175" dirty="0"/>
          </a:p>
        </p:txBody>
      </p:sp>
      <p:sp>
        <p:nvSpPr>
          <p:cNvPr id="15" name="Shape 13"/>
          <p:cNvSpPr/>
          <p:nvPr/>
        </p:nvSpPr>
        <p:spPr>
          <a:xfrm>
            <a:off x="9267798" y="6137401"/>
            <a:ext cx="8144010" cy="3540080"/>
          </a:xfrm>
          <a:prstGeom prst="roundRect">
            <a:avLst>
              <a:gd name="adj" fmla="val 3767"/>
            </a:avLst>
          </a:prstGeom>
          <a:solidFill>
            <a:srgbClr val="EEF2FC"/>
          </a:solidFill>
          <a:ln/>
        </p:spPr>
        <p:txBody>
          <a:bodyPr/>
          <a:lstStyle/>
          <a:p>
            <a:endParaRPr lang="en-US"/>
          </a:p>
        </p:txBody>
      </p:sp>
      <p:sp>
        <p:nvSpPr>
          <p:cNvPr id="16" name="Text 14"/>
          <p:cNvSpPr/>
          <p:nvPr/>
        </p:nvSpPr>
        <p:spPr>
          <a:xfrm>
            <a:off x="9629720" y="7547345"/>
            <a:ext cx="1157233" cy="758158"/>
          </a:xfrm>
          <a:prstGeom prst="rect">
            <a:avLst/>
          </a:prstGeom>
          <a:noFill/>
          <a:ln/>
        </p:spPr>
        <p:txBody>
          <a:bodyPr wrap="square" lIns="25400" tIns="25400" rIns="25400" bIns="25400" rtlCol="0" anchor="t">
            <a:normAutofit/>
          </a:bodyPr>
          <a:lstStyle/>
          <a:p>
            <a:pPr marL="0" indent="0" algn="l">
              <a:lnSpc>
                <a:spcPct val="90000"/>
              </a:lnSpc>
              <a:buNone/>
            </a:pPr>
            <a:r>
              <a:rPr lang="en-US" sz="6300" b="1" kern="0" spc="-252" dirty="0">
                <a:solidFill>
                  <a:srgbClr val="1D50C6"/>
                </a:solidFill>
                <a:latin typeface="Be Vietnam Pro" pitchFamily="34" charset="0"/>
                <a:ea typeface="Be Vietnam Pro" pitchFamily="34" charset="-122"/>
                <a:cs typeface="Be Vietnam Pro" pitchFamily="34" charset="-120"/>
              </a:rPr>
              <a:t>04</a:t>
            </a:r>
            <a:endParaRPr lang="en-US" sz="6300" dirty="0"/>
          </a:p>
        </p:txBody>
      </p:sp>
      <p:sp>
        <p:nvSpPr>
          <p:cNvPr id="17" name="Text 15"/>
          <p:cNvSpPr/>
          <p:nvPr/>
        </p:nvSpPr>
        <p:spPr>
          <a:xfrm>
            <a:off x="10958350" y="7327349"/>
            <a:ext cx="6274281" cy="1198148"/>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16223D"/>
                </a:solidFill>
                <a:latin typeface="Be Vietnam Pro" pitchFamily="34" charset="0"/>
                <a:ea typeface="Be Vietnam Pro" pitchFamily="34" charset="-122"/>
                <a:cs typeface="Be Vietnam Pro" pitchFamily="34" charset="-120"/>
              </a:rPr>
              <a:t>Tích hợp thành </a:t>
            </a:r>
            <a:r>
              <a:rPr lang="en-US" sz="2175" b="1" dirty="0">
                <a:solidFill>
                  <a:srgbClr val="16223D"/>
                </a:solidFill>
                <a:latin typeface="Be Vietnam Pro" pitchFamily="34" charset="0"/>
                <a:ea typeface="Be Vietnam Pro" pitchFamily="34" charset="-122"/>
                <a:cs typeface="Be Vietnam Pro" pitchFamily="34" charset="-120"/>
              </a:rPr>
              <a:t>ứng dụng web </a:t>
            </a:r>
            <a:r>
              <a:rPr lang="en-US" sz="2175" dirty="0">
                <a:solidFill>
                  <a:srgbClr val="16223D"/>
                </a:solidFill>
                <a:latin typeface="Be Vietnam Pro" pitchFamily="34" charset="0"/>
                <a:ea typeface="Be Vietnam Pro" pitchFamily="34" charset="-122"/>
                <a:cs typeface="Be Vietnam Pro" pitchFamily="34" charset="-120"/>
              </a:rPr>
              <a:t>hoàn chỉnh: React + FastAPI + Streamlit, chấm điểm LLM.</a:t>
            </a:r>
            <a:endParaRPr lang="en-US" sz="21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2518469"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GIỚI HẠN ĐỀ TÀI</a:t>
            </a:r>
            <a:endParaRPr lang="en-US" sz="1800" dirty="0"/>
          </a:p>
        </p:txBody>
      </p:sp>
      <p:sp>
        <p:nvSpPr>
          <p:cNvPr id="4" name="Text 2"/>
          <p:cNvSpPr/>
          <p:nvPr/>
        </p:nvSpPr>
        <p:spPr>
          <a:xfrm>
            <a:off x="16362976" y="704769"/>
            <a:ext cx="1125032"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04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Phạm vi</a:t>
            </a:r>
            <a:endParaRPr lang="en-US" sz="4350" dirty="0"/>
          </a:p>
        </p:txBody>
      </p:sp>
      <p:sp>
        <p:nvSpPr>
          <p:cNvPr id="6" name="Shape 4"/>
          <p:cNvSpPr/>
          <p:nvPr/>
        </p:nvSpPr>
        <p:spPr>
          <a:xfrm>
            <a:off x="876192" y="2349725"/>
            <a:ext cx="3976823" cy="6238334"/>
          </a:xfrm>
          <a:prstGeom prst="roundRect">
            <a:avLst>
              <a:gd name="adj" fmla="val 3353"/>
            </a:avLst>
          </a:prstGeom>
          <a:ln w="17318">
            <a:solidFill>
              <a:srgbClr val="DBE3F5"/>
            </a:solidFill>
            <a:prstDash val="solid"/>
          </a:ln>
        </p:spPr>
        <p:txBody>
          <a:bodyPr/>
          <a:lstStyle/>
          <a:p>
            <a:endParaRPr lang="en-US"/>
          </a:p>
        </p:txBody>
      </p:sp>
      <p:sp>
        <p:nvSpPr>
          <p:cNvPr id="7" name="Text 5"/>
          <p:cNvSpPr/>
          <p:nvPr/>
        </p:nvSpPr>
        <p:spPr>
          <a:xfrm>
            <a:off x="1179260" y="4610560"/>
            <a:ext cx="3707755" cy="666696"/>
          </a:xfrm>
          <a:prstGeom prst="rect">
            <a:avLst/>
          </a:prstGeom>
          <a:noFill/>
          <a:ln/>
        </p:spPr>
        <p:txBody>
          <a:bodyPr wrap="square" lIns="25400" tIns="25400" rIns="25400" bIns="25400" rtlCol="0" anchor="t">
            <a:normAutofit/>
          </a:bodyPr>
          <a:lstStyle/>
          <a:p>
            <a:pPr marL="0" indent="0" algn="l">
              <a:lnSpc>
                <a:spcPct val="100000"/>
              </a:lnSpc>
              <a:buNone/>
            </a:pPr>
            <a:r>
              <a:rPr lang="en-US" sz="4950" b="1" dirty="0">
                <a:solidFill>
                  <a:srgbClr val="1D50C6"/>
                </a:solidFill>
                <a:latin typeface="Be Vietnam Pro" pitchFamily="34" charset="0"/>
                <a:ea typeface="Be Vietnam Pro" pitchFamily="34" charset="-122"/>
                <a:cs typeface="Be Vietnam Pro" pitchFamily="34" charset="-120"/>
              </a:rPr>
              <a:t>3</a:t>
            </a:r>
            <a:endParaRPr lang="en-US" sz="4950" dirty="0"/>
          </a:p>
        </p:txBody>
      </p:sp>
      <p:sp>
        <p:nvSpPr>
          <p:cNvPr id="8" name="Text 6"/>
          <p:cNvSpPr/>
          <p:nvPr/>
        </p:nvSpPr>
        <p:spPr>
          <a:xfrm>
            <a:off x="1179260" y="5353348"/>
            <a:ext cx="3707755" cy="341168"/>
          </a:xfrm>
          <a:prstGeom prst="rect">
            <a:avLst/>
          </a:prstGeom>
          <a:noFill/>
          <a:ln/>
        </p:spPr>
        <p:txBody>
          <a:bodyPr wrap="square" lIns="25400" tIns="25400" rIns="25400" bIns="25400" rtlCol="0" anchor="t">
            <a:normAutofit/>
          </a:bodyPr>
          <a:lstStyle/>
          <a:p>
            <a:pPr marL="0" indent="0" algn="l">
              <a:buNone/>
            </a:pPr>
            <a:r>
              <a:rPr lang="en-US" sz="1875" b="1" dirty="0">
                <a:solidFill>
                  <a:srgbClr val="16223D"/>
                </a:solidFill>
                <a:latin typeface="Be Vietnam Pro" pitchFamily="34" charset="0"/>
                <a:ea typeface="Be Vietnam Pro" pitchFamily="34" charset="-122"/>
                <a:cs typeface="Be Vietnam Pro" pitchFamily="34" charset="-120"/>
              </a:rPr>
              <a:t>Vai trò</a:t>
            </a:r>
            <a:endParaRPr lang="en-US" sz="1875" dirty="0"/>
          </a:p>
        </p:txBody>
      </p:sp>
      <p:sp>
        <p:nvSpPr>
          <p:cNvPr id="9" name="Text 7"/>
          <p:cNvSpPr/>
          <p:nvPr/>
        </p:nvSpPr>
        <p:spPr>
          <a:xfrm>
            <a:off x="1179260" y="5732588"/>
            <a:ext cx="3471807" cy="632601"/>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5D6B88"/>
                </a:solidFill>
                <a:latin typeface="Be Vietnam Pro" pitchFamily="34" charset="0"/>
                <a:ea typeface="Be Vietnam Pro" pitchFamily="34" charset="-122"/>
                <a:cs typeface="Be Vietnam Pro" pitchFamily="34" charset="-120"/>
              </a:rPr>
              <a:t>Data Analyst · Data Scientist · Data Engineer</a:t>
            </a:r>
            <a:endParaRPr lang="en-US" sz="1800" dirty="0"/>
          </a:p>
        </p:txBody>
      </p:sp>
      <p:sp>
        <p:nvSpPr>
          <p:cNvPr id="10" name="Shape 8"/>
          <p:cNvSpPr/>
          <p:nvPr/>
        </p:nvSpPr>
        <p:spPr>
          <a:xfrm>
            <a:off x="5062456" y="2349725"/>
            <a:ext cx="3976823" cy="6238334"/>
          </a:xfrm>
          <a:prstGeom prst="roundRect">
            <a:avLst>
              <a:gd name="adj" fmla="val 3353"/>
            </a:avLst>
          </a:prstGeom>
          <a:ln w="17318">
            <a:solidFill>
              <a:srgbClr val="DBE3F5"/>
            </a:solidFill>
            <a:prstDash val="solid"/>
          </a:ln>
        </p:spPr>
        <p:txBody>
          <a:bodyPr/>
          <a:lstStyle/>
          <a:p>
            <a:endParaRPr lang="en-US"/>
          </a:p>
        </p:txBody>
      </p:sp>
      <p:sp>
        <p:nvSpPr>
          <p:cNvPr id="11" name="Text 9"/>
          <p:cNvSpPr/>
          <p:nvPr/>
        </p:nvSpPr>
        <p:spPr>
          <a:xfrm>
            <a:off x="5365524" y="4759253"/>
            <a:ext cx="3707755" cy="666696"/>
          </a:xfrm>
          <a:prstGeom prst="rect">
            <a:avLst/>
          </a:prstGeom>
          <a:noFill/>
          <a:ln/>
        </p:spPr>
        <p:txBody>
          <a:bodyPr wrap="square" lIns="25400" tIns="25400" rIns="25400" bIns="25400" rtlCol="0" anchor="t">
            <a:normAutofit/>
          </a:bodyPr>
          <a:lstStyle/>
          <a:p>
            <a:pPr marL="0" indent="0" algn="l">
              <a:lnSpc>
                <a:spcPct val="100000"/>
              </a:lnSpc>
              <a:buNone/>
            </a:pPr>
            <a:r>
              <a:rPr lang="en-US" sz="4950" b="1" dirty="0">
                <a:solidFill>
                  <a:srgbClr val="1D50C6"/>
                </a:solidFill>
                <a:latin typeface="Be Vietnam Pro" pitchFamily="34" charset="0"/>
                <a:ea typeface="Be Vietnam Pro" pitchFamily="34" charset="-122"/>
                <a:cs typeface="Be Vietnam Pro" pitchFamily="34" charset="-120"/>
              </a:rPr>
              <a:t>17</a:t>
            </a:r>
            <a:endParaRPr lang="en-US" sz="4950" dirty="0"/>
          </a:p>
        </p:txBody>
      </p:sp>
      <p:sp>
        <p:nvSpPr>
          <p:cNvPr id="12" name="Text 10"/>
          <p:cNvSpPr/>
          <p:nvPr/>
        </p:nvSpPr>
        <p:spPr>
          <a:xfrm>
            <a:off x="5365524" y="5502040"/>
            <a:ext cx="3707755" cy="341168"/>
          </a:xfrm>
          <a:prstGeom prst="rect">
            <a:avLst/>
          </a:prstGeom>
          <a:noFill/>
          <a:ln/>
        </p:spPr>
        <p:txBody>
          <a:bodyPr wrap="square" lIns="25400" tIns="25400" rIns="25400" bIns="25400" rtlCol="0" anchor="t">
            <a:normAutofit/>
          </a:bodyPr>
          <a:lstStyle/>
          <a:p>
            <a:pPr marL="0" indent="0" algn="l">
              <a:buNone/>
            </a:pPr>
            <a:r>
              <a:rPr lang="en-US" sz="1875" b="1" dirty="0">
                <a:solidFill>
                  <a:srgbClr val="16223D"/>
                </a:solidFill>
                <a:latin typeface="Be Vietnam Pro" pitchFamily="34" charset="0"/>
                <a:ea typeface="Be Vietnam Pro" pitchFamily="34" charset="-122"/>
                <a:cs typeface="Be Vietnam Pro" pitchFamily="34" charset="-120"/>
              </a:rPr>
              <a:t>Knowledge Components</a:t>
            </a:r>
            <a:endParaRPr lang="en-US" sz="1875" dirty="0"/>
          </a:p>
        </p:txBody>
      </p:sp>
      <p:sp>
        <p:nvSpPr>
          <p:cNvPr id="13" name="Text 11"/>
          <p:cNvSpPr/>
          <p:nvPr/>
        </p:nvSpPr>
        <p:spPr>
          <a:xfrm>
            <a:off x="5365524" y="5881281"/>
            <a:ext cx="3707755" cy="33535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5D6B88"/>
                </a:solidFill>
                <a:latin typeface="Be Vietnam Pro" pitchFamily="34" charset="0"/>
                <a:ea typeface="Be Vietnam Pro" pitchFamily="34" charset="-122"/>
                <a:cs typeface="Be Vietnam Pro" pitchFamily="34" charset="-120"/>
              </a:rPr>
              <a:t>DA 5 · DS 7 · DE 5</a:t>
            </a:r>
            <a:endParaRPr lang="en-US" sz="1800" dirty="0"/>
          </a:p>
        </p:txBody>
      </p:sp>
      <p:sp>
        <p:nvSpPr>
          <p:cNvPr id="14" name="Shape 12"/>
          <p:cNvSpPr/>
          <p:nvPr/>
        </p:nvSpPr>
        <p:spPr>
          <a:xfrm>
            <a:off x="9248720" y="2349725"/>
            <a:ext cx="3976823" cy="6238334"/>
          </a:xfrm>
          <a:prstGeom prst="roundRect">
            <a:avLst>
              <a:gd name="adj" fmla="val 3353"/>
            </a:avLst>
          </a:prstGeom>
          <a:ln w="17318">
            <a:solidFill>
              <a:srgbClr val="DBE3F5"/>
            </a:solidFill>
            <a:prstDash val="solid"/>
          </a:ln>
        </p:spPr>
        <p:txBody>
          <a:bodyPr/>
          <a:lstStyle/>
          <a:p>
            <a:endParaRPr lang="en-US"/>
          </a:p>
        </p:txBody>
      </p:sp>
      <p:sp>
        <p:nvSpPr>
          <p:cNvPr id="15" name="Text 13"/>
          <p:cNvSpPr/>
          <p:nvPr/>
        </p:nvSpPr>
        <p:spPr>
          <a:xfrm>
            <a:off x="9551788" y="4759253"/>
            <a:ext cx="3707755" cy="666696"/>
          </a:xfrm>
          <a:prstGeom prst="rect">
            <a:avLst/>
          </a:prstGeom>
          <a:noFill/>
          <a:ln/>
        </p:spPr>
        <p:txBody>
          <a:bodyPr wrap="square" lIns="25400" tIns="25400" rIns="25400" bIns="25400" rtlCol="0" anchor="t">
            <a:normAutofit/>
          </a:bodyPr>
          <a:lstStyle/>
          <a:p>
            <a:pPr marL="0" indent="0" algn="l">
              <a:lnSpc>
                <a:spcPct val="100000"/>
              </a:lnSpc>
              <a:buNone/>
            </a:pPr>
            <a:r>
              <a:rPr lang="en-US" sz="4950" b="1" dirty="0">
                <a:solidFill>
                  <a:srgbClr val="1D50C6"/>
                </a:solidFill>
                <a:latin typeface="Be Vietnam Pro" pitchFamily="34" charset="0"/>
                <a:ea typeface="Be Vietnam Pro" pitchFamily="34" charset="-122"/>
                <a:cs typeface="Be Vietnam Pro" pitchFamily="34" charset="-120"/>
              </a:rPr>
              <a:t>5</a:t>
            </a:r>
            <a:endParaRPr lang="en-US" sz="4950" dirty="0"/>
          </a:p>
        </p:txBody>
      </p:sp>
      <p:sp>
        <p:nvSpPr>
          <p:cNvPr id="16" name="Text 14"/>
          <p:cNvSpPr/>
          <p:nvPr/>
        </p:nvSpPr>
        <p:spPr>
          <a:xfrm>
            <a:off x="9551788" y="5502040"/>
            <a:ext cx="3707755" cy="341168"/>
          </a:xfrm>
          <a:prstGeom prst="rect">
            <a:avLst/>
          </a:prstGeom>
          <a:noFill/>
          <a:ln/>
        </p:spPr>
        <p:txBody>
          <a:bodyPr wrap="square" lIns="25400" tIns="25400" rIns="25400" bIns="25400" rtlCol="0" anchor="t">
            <a:normAutofit/>
          </a:bodyPr>
          <a:lstStyle/>
          <a:p>
            <a:pPr marL="0" indent="0" algn="l">
              <a:buNone/>
            </a:pPr>
            <a:r>
              <a:rPr lang="en-US" sz="1875" b="1" dirty="0">
                <a:solidFill>
                  <a:srgbClr val="16223D"/>
                </a:solidFill>
                <a:latin typeface="Be Vietnam Pro" pitchFamily="34" charset="0"/>
                <a:ea typeface="Be Vietnam Pro" pitchFamily="34" charset="-122"/>
                <a:cs typeface="Be Vietnam Pro" pitchFamily="34" charset="-120"/>
              </a:rPr>
              <a:t>Loại câu hỏi</a:t>
            </a:r>
            <a:endParaRPr lang="en-US" sz="1875" dirty="0"/>
          </a:p>
        </p:txBody>
      </p:sp>
      <p:sp>
        <p:nvSpPr>
          <p:cNvPr id="17" name="Text 15"/>
          <p:cNvSpPr/>
          <p:nvPr/>
        </p:nvSpPr>
        <p:spPr>
          <a:xfrm>
            <a:off x="9551788" y="5881281"/>
            <a:ext cx="3707755" cy="335350"/>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5D6B88"/>
                </a:solidFill>
                <a:latin typeface="Be Vietnam Pro" pitchFamily="34" charset="0"/>
                <a:ea typeface="Be Vietnam Pro" pitchFamily="34" charset="-122"/>
                <a:cs typeface="Be Vietnam Pro" pitchFamily="34" charset="-120"/>
              </a:rPr>
              <a:t>MC · TF · Fill · Theory · Coding</a:t>
            </a:r>
            <a:endParaRPr lang="en-US" sz="1800" dirty="0"/>
          </a:p>
        </p:txBody>
      </p:sp>
      <p:sp>
        <p:nvSpPr>
          <p:cNvPr id="18" name="Shape 16"/>
          <p:cNvSpPr/>
          <p:nvPr/>
        </p:nvSpPr>
        <p:spPr>
          <a:xfrm>
            <a:off x="13434985" y="2349725"/>
            <a:ext cx="3976823" cy="6238334"/>
          </a:xfrm>
          <a:prstGeom prst="roundRect">
            <a:avLst>
              <a:gd name="adj" fmla="val 3353"/>
            </a:avLst>
          </a:prstGeom>
          <a:solidFill>
            <a:srgbClr val="1D50C6"/>
          </a:solidFill>
          <a:ln/>
        </p:spPr>
        <p:txBody>
          <a:bodyPr/>
          <a:lstStyle/>
          <a:p>
            <a:endParaRPr lang="en-US"/>
          </a:p>
        </p:txBody>
      </p:sp>
      <p:sp>
        <p:nvSpPr>
          <p:cNvPr id="19" name="Text 17"/>
          <p:cNvSpPr/>
          <p:nvPr/>
        </p:nvSpPr>
        <p:spPr>
          <a:xfrm>
            <a:off x="13720735" y="4772918"/>
            <a:ext cx="3745855" cy="666696"/>
          </a:xfrm>
          <a:prstGeom prst="rect">
            <a:avLst/>
          </a:prstGeom>
          <a:noFill/>
          <a:ln/>
        </p:spPr>
        <p:txBody>
          <a:bodyPr wrap="square" lIns="25400" tIns="25400" rIns="25400" bIns="25400" rtlCol="0" anchor="t">
            <a:normAutofit/>
          </a:bodyPr>
          <a:lstStyle/>
          <a:p>
            <a:pPr marL="0" indent="0" algn="l">
              <a:lnSpc>
                <a:spcPct val="100000"/>
              </a:lnSpc>
              <a:buNone/>
            </a:pPr>
            <a:r>
              <a:rPr lang="en-US" sz="4950" b="1" dirty="0">
                <a:solidFill>
                  <a:srgbClr val="FFFFFF"/>
                </a:solidFill>
                <a:latin typeface="Be Vietnam Pro" pitchFamily="34" charset="0"/>
                <a:ea typeface="Be Vietnam Pro" pitchFamily="34" charset="-122"/>
                <a:cs typeface="Be Vietnam Pro" pitchFamily="34" charset="-120"/>
              </a:rPr>
              <a:t>1.000</a:t>
            </a:r>
            <a:endParaRPr lang="en-US" sz="4950" dirty="0"/>
          </a:p>
        </p:txBody>
      </p:sp>
      <p:sp>
        <p:nvSpPr>
          <p:cNvPr id="20" name="Text 18"/>
          <p:cNvSpPr/>
          <p:nvPr/>
        </p:nvSpPr>
        <p:spPr>
          <a:xfrm>
            <a:off x="13720735" y="5515705"/>
            <a:ext cx="3745855" cy="341168"/>
          </a:xfrm>
          <a:prstGeom prst="rect">
            <a:avLst/>
          </a:prstGeom>
          <a:noFill/>
          <a:ln/>
        </p:spPr>
        <p:txBody>
          <a:bodyPr wrap="square" lIns="25400" tIns="25400" rIns="25400" bIns="25400" rtlCol="0" anchor="t">
            <a:normAutofit/>
          </a:bodyPr>
          <a:lstStyle/>
          <a:p>
            <a:pPr marL="0" indent="0" algn="l">
              <a:buNone/>
            </a:pPr>
            <a:r>
              <a:rPr lang="en-US" sz="1875" b="1" dirty="0">
                <a:solidFill>
                  <a:srgbClr val="FFFFFF"/>
                </a:solidFill>
                <a:latin typeface="Be Vietnam Pro" pitchFamily="34" charset="0"/>
                <a:ea typeface="Be Vietnam Pro" pitchFamily="34" charset="-122"/>
                <a:cs typeface="Be Vietnam Pro" pitchFamily="34" charset="-120"/>
              </a:rPr>
              <a:t>User mô phỏng</a:t>
            </a:r>
            <a:endParaRPr lang="en-US" sz="1875" dirty="0"/>
          </a:p>
        </p:txBody>
      </p:sp>
      <p:sp>
        <p:nvSpPr>
          <p:cNvPr id="21" name="Text 19"/>
          <p:cNvSpPr/>
          <p:nvPr/>
        </p:nvSpPr>
        <p:spPr>
          <a:xfrm>
            <a:off x="13720735" y="5894947"/>
            <a:ext cx="3745855" cy="308020"/>
          </a:xfrm>
          <a:prstGeom prst="rect">
            <a:avLst/>
          </a:prstGeom>
          <a:noFill/>
          <a:ln/>
        </p:spPr>
        <p:txBody>
          <a:bodyPr wrap="square" lIns="25400" tIns="25400" rIns="25400" bIns="25400" rtlCol="0" anchor="t">
            <a:normAutofit/>
          </a:bodyPr>
          <a:lstStyle/>
          <a:p>
            <a:pPr marL="0" indent="0" algn="l">
              <a:lnSpc>
                <a:spcPct val="135000"/>
              </a:lnSpc>
              <a:buNone/>
            </a:pPr>
            <a:r>
              <a:rPr lang="en-US" sz="1575" dirty="0">
                <a:solidFill>
                  <a:srgbClr val="CDD9FF"/>
                </a:solidFill>
                <a:latin typeface="Be Vietnam Pro" pitchFamily="34" charset="0"/>
                <a:ea typeface="Be Vietnam Pro" pitchFamily="34" charset="-122"/>
                <a:cs typeface="Be Vietnam Pro" pitchFamily="34" charset="-120"/>
              </a:rPr>
              <a:t>≈ 40.000 tương tác KT</a:t>
            </a:r>
            <a:endParaRPr lang="en-US" sz="1575" dirty="0"/>
          </a:p>
        </p:txBody>
      </p:sp>
      <p:sp>
        <p:nvSpPr>
          <p:cNvPr id="22" name="Shape 20"/>
          <p:cNvSpPr/>
          <p:nvPr/>
        </p:nvSpPr>
        <p:spPr>
          <a:xfrm>
            <a:off x="876192" y="8835655"/>
            <a:ext cx="16535616" cy="841826"/>
          </a:xfrm>
          <a:prstGeom prst="roundRect">
            <a:avLst>
              <a:gd name="adj" fmla="val 15841"/>
            </a:avLst>
          </a:prstGeom>
          <a:solidFill>
            <a:srgbClr val="F7F5EF"/>
          </a:solidFill>
          <a:ln/>
        </p:spPr>
        <p:txBody>
          <a:bodyPr/>
          <a:lstStyle/>
          <a:p>
            <a:endParaRPr lang="en-US"/>
          </a:p>
        </p:txBody>
      </p:sp>
      <p:sp>
        <p:nvSpPr>
          <p:cNvPr id="23" name="Text 21"/>
          <p:cNvSpPr/>
          <p:nvPr/>
        </p:nvSpPr>
        <p:spPr>
          <a:xfrm>
            <a:off x="1199961" y="9135341"/>
            <a:ext cx="1883718" cy="280555"/>
          </a:xfrm>
          <a:prstGeom prst="rect">
            <a:avLst/>
          </a:prstGeom>
          <a:noFill/>
          <a:ln/>
        </p:spPr>
        <p:txBody>
          <a:bodyPr wrap="square" lIns="25400" tIns="25400" rIns="25400" bIns="25400" rtlCol="0" anchor="t">
            <a:normAutofit/>
          </a:bodyPr>
          <a:lstStyle/>
          <a:p>
            <a:pPr marL="0" indent="0" algn="l">
              <a:buNone/>
            </a:pPr>
            <a:r>
              <a:rPr lang="en-US" sz="1500" b="1" kern="0" spc="120" dirty="0">
                <a:solidFill>
                  <a:srgbClr val="9A6B2A"/>
                </a:solidFill>
                <a:latin typeface="Be Vietnam Pro" pitchFamily="34" charset="0"/>
                <a:ea typeface="Be Vietnam Pro" pitchFamily="34" charset="-122"/>
                <a:cs typeface="Be Vietnam Pro" pitchFamily="34" charset="-120"/>
              </a:rPr>
              <a:t>NGOÀI PHẠM VI</a:t>
            </a:r>
            <a:endParaRPr lang="en-US" sz="1500" dirty="0"/>
          </a:p>
        </p:txBody>
      </p:sp>
      <p:sp>
        <p:nvSpPr>
          <p:cNvPr id="24" name="Text 22"/>
          <p:cNvSpPr/>
          <p:nvPr/>
        </p:nvSpPr>
        <p:spPr>
          <a:xfrm>
            <a:off x="3102931" y="9083251"/>
            <a:ext cx="8733085" cy="38473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3405F"/>
                </a:solidFill>
                <a:latin typeface="Be Vietnam Pro" pitchFamily="34" charset="0"/>
                <a:ea typeface="Be Vietnam Pro" pitchFamily="34" charset="-122"/>
                <a:cs typeface="Be Vietnam Pro" pitchFamily="34" charset="-120"/>
              </a:rPr>
              <a:t>Dữ liệu người dùng thật · A/B testing · Triển khai production scale.</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2769840"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CƠ SỞ LÝ THUYẾT</a:t>
            </a:r>
            <a:endParaRPr lang="en-US" sz="1800" dirty="0"/>
          </a:p>
        </p:txBody>
      </p:sp>
      <p:sp>
        <p:nvSpPr>
          <p:cNvPr id="4" name="Text 2"/>
          <p:cNvSpPr/>
          <p:nvPr/>
        </p:nvSpPr>
        <p:spPr>
          <a:xfrm>
            <a:off x="16372581" y="704769"/>
            <a:ext cx="1115426"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05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Cơ sở lý thuyết: Knowledge Tracing</a:t>
            </a:r>
            <a:endParaRPr lang="en-US" sz="4350" dirty="0"/>
          </a:p>
        </p:txBody>
      </p:sp>
      <p:sp>
        <p:nvSpPr>
          <p:cNvPr id="6" name="Text 4"/>
          <p:cNvSpPr/>
          <p:nvPr/>
        </p:nvSpPr>
        <p:spPr>
          <a:xfrm>
            <a:off x="876192" y="2235398"/>
            <a:ext cx="16344900" cy="424783"/>
          </a:xfrm>
          <a:prstGeom prst="rect">
            <a:avLst/>
          </a:prstGeom>
          <a:noFill/>
          <a:ln/>
        </p:spPr>
        <p:txBody>
          <a:bodyPr wrap="square" lIns="25400" tIns="25400" rIns="25400" bIns="25400" rtlCol="0" anchor="t">
            <a:normAutofit/>
          </a:bodyPr>
          <a:lstStyle/>
          <a:p>
            <a:pPr marL="0" indent="0" algn="l">
              <a:lnSpc>
                <a:spcPct val="140000"/>
              </a:lnSpc>
              <a:buNone/>
            </a:pPr>
            <a:r>
              <a:rPr lang="en-US" sz="2175" dirty="0">
                <a:solidFill>
                  <a:srgbClr val="33405F"/>
                </a:solidFill>
                <a:latin typeface="Be Vietnam Pro" pitchFamily="34" charset="0"/>
                <a:ea typeface="Be Vietnam Pro" pitchFamily="34" charset="-122"/>
                <a:cs typeface="Be Vietnam Pro" pitchFamily="34" charset="-120"/>
              </a:rPr>
              <a:t>KT dự đoán </a:t>
            </a:r>
            <a:r>
              <a:rPr lang="en-US" sz="2175" b="1" dirty="0">
                <a:solidFill>
                  <a:srgbClr val="33405F"/>
                </a:solidFill>
                <a:latin typeface="Be Vietnam Pro" pitchFamily="34" charset="0"/>
                <a:ea typeface="Be Vietnam Pro" pitchFamily="34" charset="-122"/>
                <a:cs typeface="Be Vietnam Pro" pitchFamily="34" charset="-120"/>
              </a:rPr>
              <a:t>xác suất trả lời đúng câu kế tiếp </a:t>
            </a:r>
            <a:r>
              <a:rPr lang="en-US" sz="2175" dirty="0">
                <a:solidFill>
                  <a:srgbClr val="33405F"/>
                </a:solidFill>
                <a:latin typeface="Be Vietnam Pro" pitchFamily="34" charset="0"/>
                <a:ea typeface="Be Vietnam Pro" pitchFamily="34" charset="-122"/>
                <a:cs typeface="Be Vietnam Pro" pitchFamily="34" charset="-120"/>
              </a:rPr>
              <a:t>dựa trên lịch sử tương tác của người học.</a:t>
            </a:r>
            <a:endParaRPr lang="en-US" sz="2175" dirty="0"/>
          </a:p>
        </p:txBody>
      </p:sp>
      <p:sp>
        <p:nvSpPr>
          <p:cNvPr id="7" name="Shape 5"/>
          <p:cNvSpPr/>
          <p:nvPr/>
        </p:nvSpPr>
        <p:spPr>
          <a:xfrm>
            <a:off x="876192" y="2907831"/>
            <a:ext cx="5346718" cy="6769650"/>
          </a:xfrm>
          <a:prstGeom prst="roundRect">
            <a:avLst>
              <a:gd name="adj" fmla="val 2850"/>
            </a:avLst>
          </a:prstGeom>
          <a:ln w="17318">
            <a:solidFill>
              <a:srgbClr val="DBE3F5"/>
            </a:solidFill>
            <a:prstDash val="solid"/>
          </a:ln>
        </p:spPr>
        <p:txBody>
          <a:bodyPr/>
          <a:lstStyle/>
          <a:p>
            <a:endParaRPr lang="en-US"/>
          </a:p>
        </p:txBody>
      </p:sp>
      <p:sp>
        <p:nvSpPr>
          <p:cNvPr id="8" name="Text 6"/>
          <p:cNvSpPr/>
          <p:nvPr/>
        </p:nvSpPr>
        <p:spPr>
          <a:xfrm>
            <a:off x="1217279" y="3267995"/>
            <a:ext cx="5130998" cy="523009"/>
          </a:xfrm>
          <a:prstGeom prst="rect">
            <a:avLst/>
          </a:prstGeom>
          <a:noFill/>
          <a:ln/>
        </p:spPr>
        <p:txBody>
          <a:bodyPr wrap="square" lIns="25400" tIns="25400" rIns="25400" bIns="25400" rtlCol="0" anchor="t">
            <a:normAutofit/>
          </a:bodyPr>
          <a:lstStyle/>
          <a:p>
            <a:pPr marL="0" indent="0" algn="l">
              <a:buNone/>
            </a:pPr>
            <a:r>
              <a:rPr lang="en-US" sz="3000" b="1" dirty="0">
                <a:solidFill>
                  <a:srgbClr val="1D50C6"/>
                </a:solidFill>
                <a:latin typeface="Be Vietnam Pro" pitchFamily="34" charset="0"/>
                <a:ea typeface="Be Vietnam Pro" pitchFamily="34" charset="-122"/>
                <a:cs typeface="Be Vietnam Pro" pitchFamily="34" charset="-120"/>
              </a:rPr>
              <a:t>BKT</a:t>
            </a:r>
            <a:endParaRPr lang="en-US" sz="3000" dirty="0"/>
          </a:p>
        </p:txBody>
      </p:sp>
      <p:sp>
        <p:nvSpPr>
          <p:cNvPr id="9" name="Text 7"/>
          <p:cNvSpPr/>
          <p:nvPr/>
        </p:nvSpPr>
        <p:spPr>
          <a:xfrm>
            <a:off x="1217279" y="3810000"/>
            <a:ext cx="5130998" cy="323850"/>
          </a:xfrm>
          <a:prstGeom prst="rect">
            <a:avLst/>
          </a:prstGeom>
          <a:noFill/>
          <a:ln/>
        </p:spPr>
        <p:txBody>
          <a:bodyPr wrap="square" lIns="25400" tIns="25400" rIns="25400" bIns="25400" rtlCol="0" anchor="t">
            <a:normAutofit/>
          </a:bodyPr>
          <a:lstStyle/>
          <a:p>
            <a:pPr marL="0" indent="0" algn="l">
              <a:buNone/>
            </a:pPr>
            <a:r>
              <a:rPr lang="en-US" sz="1800" b="1" dirty="0">
                <a:solidFill>
                  <a:srgbClr val="5D6B88"/>
                </a:solidFill>
                <a:latin typeface="Be Vietnam Pro" pitchFamily="34" charset="0"/>
                <a:ea typeface="Be Vietnam Pro" pitchFamily="34" charset="-122"/>
                <a:cs typeface="Be Vietnam Pro" pitchFamily="34" charset="-120"/>
              </a:rPr>
              <a:t>Bayesian Knowledge Tracing</a:t>
            </a:r>
            <a:endParaRPr lang="en-US" sz="1800" dirty="0"/>
          </a:p>
        </p:txBody>
      </p:sp>
      <p:sp>
        <p:nvSpPr>
          <p:cNvPr id="10" name="Shape 8"/>
          <p:cNvSpPr/>
          <p:nvPr/>
        </p:nvSpPr>
        <p:spPr>
          <a:xfrm>
            <a:off x="1217279" y="4324269"/>
            <a:ext cx="4664544" cy="18942"/>
          </a:xfrm>
          <a:prstGeom prst="rect">
            <a:avLst/>
          </a:prstGeom>
          <a:solidFill>
            <a:srgbClr val="DBE3F5"/>
          </a:solidFill>
          <a:ln/>
        </p:spPr>
        <p:txBody>
          <a:bodyPr/>
          <a:lstStyle/>
          <a:p>
            <a:endParaRPr lang="en-US"/>
          </a:p>
        </p:txBody>
      </p:sp>
      <p:sp>
        <p:nvSpPr>
          <p:cNvPr id="11" name="Text 9"/>
          <p:cNvSpPr/>
          <p:nvPr/>
        </p:nvSpPr>
        <p:spPr>
          <a:xfrm>
            <a:off x="1217279" y="4571729"/>
            <a:ext cx="4804480" cy="755993"/>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33405F"/>
                </a:solidFill>
                <a:latin typeface="Be Vietnam Pro" pitchFamily="34" charset="0"/>
                <a:ea typeface="Be Vietnam Pro" pitchFamily="34" charset="-122"/>
                <a:cs typeface="Be Vietnam Pro" pitchFamily="34" charset="-120"/>
              </a:rPr>
              <a:t>HMM 2 trạng thái mỗi KC, 4 tham số </a:t>
            </a:r>
            <a:r>
              <a:rPr lang="en-US" sz="1950" b="1" dirty="0">
                <a:solidFill>
                  <a:srgbClr val="33405F"/>
                </a:solidFill>
                <a:latin typeface="Be Vietnam Pro" pitchFamily="34" charset="0"/>
                <a:ea typeface="Be Vietnam Pro" pitchFamily="34" charset="-122"/>
                <a:cs typeface="Be Vietnam Pro" pitchFamily="34" charset="-120"/>
              </a:rPr>
              <a:t>L0, T, S, G</a:t>
            </a:r>
            <a:r>
              <a:rPr lang="en-US" sz="1950" dirty="0">
                <a:solidFill>
                  <a:srgbClr val="33405F"/>
                </a:solidFill>
                <a:latin typeface="Be Vietnam Pro" pitchFamily="34" charset="0"/>
                <a:ea typeface="Be Vietnam Pro" pitchFamily="34" charset="-122"/>
                <a:cs typeface="Be Vietnam Pro" pitchFamily="34" charset="-120"/>
              </a:rPr>
              <a:t>.</a:t>
            </a:r>
            <a:endParaRPr lang="en-US" sz="1950" dirty="0"/>
          </a:p>
        </p:txBody>
      </p:sp>
      <p:sp>
        <p:nvSpPr>
          <p:cNvPr id="12" name="Shape 10"/>
          <p:cNvSpPr/>
          <p:nvPr/>
        </p:nvSpPr>
        <p:spPr>
          <a:xfrm>
            <a:off x="1217279" y="8867044"/>
            <a:ext cx="1622227" cy="450273"/>
          </a:xfrm>
          <a:prstGeom prst="roundRect">
            <a:avLst>
              <a:gd name="adj" fmla="val 50000"/>
            </a:avLst>
          </a:prstGeom>
          <a:solidFill>
            <a:srgbClr val="EEF2FC"/>
          </a:solidFill>
          <a:ln/>
        </p:spPr>
        <p:txBody>
          <a:bodyPr/>
          <a:lstStyle/>
          <a:p>
            <a:endParaRPr lang="en-US"/>
          </a:p>
        </p:txBody>
      </p:sp>
      <p:sp>
        <p:nvSpPr>
          <p:cNvPr id="13" name="Text 11"/>
          <p:cNvSpPr/>
          <p:nvPr/>
        </p:nvSpPr>
        <p:spPr>
          <a:xfrm>
            <a:off x="1407779" y="8962294"/>
            <a:ext cx="1317427"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0F2F7A"/>
                </a:solidFill>
                <a:latin typeface="Be Vietnam Pro" pitchFamily="34" charset="0"/>
                <a:ea typeface="Be Vietnam Pro" pitchFamily="34" charset="-122"/>
                <a:cs typeface="Be Vietnam Pro" pitchFamily="34" charset="-120"/>
              </a:rPr>
              <a:t>Dễ diễn giải</a:t>
            </a:r>
            <a:endParaRPr lang="en-US" sz="1650" dirty="0"/>
          </a:p>
        </p:txBody>
      </p:sp>
      <p:sp>
        <p:nvSpPr>
          <p:cNvPr id="14" name="Shape 12"/>
          <p:cNvSpPr/>
          <p:nvPr/>
        </p:nvSpPr>
        <p:spPr>
          <a:xfrm>
            <a:off x="6470506" y="2907831"/>
            <a:ext cx="5346853" cy="6769650"/>
          </a:xfrm>
          <a:prstGeom prst="roundRect">
            <a:avLst>
              <a:gd name="adj" fmla="val 2850"/>
            </a:avLst>
          </a:prstGeom>
          <a:ln w="17318">
            <a:solidFill>
              <a:srgbClr val="DBE3F5"/>
            </a:solidFill>
            <a:prstDash val="solid"/>
          </a:ln>
        </p:spPr>
        <p:txBody>
          <a:bodyPr/>
          <a:lstStyle/>
          <a:p>
            <a:endParaRPr lang="en-US"/>
          </a:p>
        </p:txBody>
      </p:sp>
      <p:sp>
        <p:nvSpPr>
          <p:cNvPr id="15" name="Text 13"/>
          <p:cNvSpPr/>
          <p:nvPr/>
        </p:nvSpPr>
        <p:spPr>
          <a:xfrm>
            <a:off x="6811592" y="3267995"/>
            <a:ext cx="5131147" cy="523009"/>
          </a:xfrm>
          <a:prstGeom prst="rect">
            <a:avLst/>
          </a:prstGeom>
          <a:noFill/>
          <a:ln/>
        </p:spPr>
        <p:txBody>
          <a:bodyPr wrap="square" lIns="25400" tIns="25400" rIns="25400" bIns="25400" rtlCol="0" anchor="t">
            <a:normAutofit/>
          </a:bodyPr>
          <a:lstStyle/>
          <a:p>
            <a:pPr marL="0" indent="0" algn="l">
              <a:buNone/>
            </a:pPr>
            <a:r>
              <a:rPr lang="en-US" sz="3000" b="1" dirty="0">
                <a:solidFill>
                  <a:srgbClr val="1D50C6"/>
                </a:solidFill>
                <a:latin typeface="Be Vietnam Pro" pitchFamily="34" charset="0"/>
                <a:ea typeface="Be Vietnam Pro" pitchFamily="34" charset="-122"/>
                <a:cs typeface="Be Vietnam Pro" pitchFamily="34" charset="-120"/>
              </a:rPr>
              <a:t>DKT</a:t>
            </a:r>
            <a:endParaRPr lang="en-US" sz="3000" dirty="0"/>
          </a:p>
        </p:txBody>
      </p:sp>
      <p:sp>
        <p:nvSpPr>
          <p:cNvPr id="16" name="Text 14"/>
          <p:cNvSpPr/>
          <p:nvPr/>
        </p:nvSpPr>
        <p:spPr>
          <a:xfrm>
            <a:off x="6811592" y="3810000"/>
            <a:ext cx="5131147" cy="323850"/>
          </a:xfrm>
          <a:prstGeom prst="rect">
            <a:avLst/>
          </a:prstGeom>
          <a:noFill/>
          <a:ln/>
        </p:spPr>
        <p:txBody>
          <a:bodyPr wrap="square" lIns="25400" tIns="25400" rIns="25400" bIns="25400" rtlCol="0" anchor="t">
            <a:normAutofit/>
          </a:bodyPr>
          <a:lstStyle/>
          <a:p>
            <a:pPr marL="0" indent="0" algn="l">
              <a:buNone/>
            </a:pPr>
            <a:r>
              <a:rPr lang="en-US" sz="1800" b="1" dirty="0">
                <a:solidFill>
                  <a:srgbClr val="5D6B88"/>
                </a:solidFill>
                <a:latin typeface="Be Vietnam Pro" pitchFamily="34" charset="0"/>
                <a:ea typeface="Be Vietnam Pro" pitchFamily="34" charset="-122"/>
                <a:cs typeface="Be Vietnam Pro" pitchFamily="34" charset="-120"/>
              </a:rPr>
              <a:t>Deep Knowledge Tracing</a:t>
            </a:r>
            <a:endParaRPr lang="en-US" sz="1800" dirty="0"/>
          </a:p>
        </p:txBody>
      </p:sp>
      <p:sp>
        <p:nvSpPr>
          <p:cNvPr id="17" name="Shape 15"/>
          <p:cNvSpPr/>
          <p:nvPr/>
        </p:nvSpPr>
        <p:spPr>
          <a:xfrm>
            <a:off x="6811592" y="4324269"/>
            <a:ext cx="4664679" cy="18942"/>
          </a:xfrm>
          <a:prstGeom prst="rect">
            <a:avLst/>
          </a:prstGeom>
          <a:solidFill>
            <a:srgbClr val="DBE3F5"/>
          </a:solidFill>
          <a:ln/>
        </p:spPr>
        <p:txBody>
          <a:bodyPr/>
          <a:lstStyle/>
          <a:p>
            <a:endParaRPr lang="en-US"/>
          </a:p>
        </p:txBody>
      </p:sp>
      <p:sp>
        <p:nvSpPr>
          <p:cNvPr id="18" name="Text 16"/>
          <p:cNvSpPr/>
          <p:nvPr/>
        </p:nvSpPr>
        <p:spPr>
          <a:xfrm>
            <a:off x="6811592" y="4571729"/>
            <a:ext cx="4804620" cy="755993"/>
          </a:xfrm>
          <a:prstGeom prst="rect">
            <a:avLst/>
          </a:prstGeom>
          <a:noFill/>
          <a:ln/>
        </p:spPr>
        <p:txBody>
          <a:bodyPr wrap="square" lIns="25400" tIns="25400" rIns="25400" bIns="25400" rtlCol="0" anchor="t">
            <a:normAutofit/>
          </a:bodyPr>
          <a:lstStyle/>
          <a:p>
            <a:pPr marL="0" indent="0" algn="l">
              <a:lnSpc>
                <a:spcPct val="145000"/>
              </a:lnSpc>
              <a:buNone/>
            </a:pPr>
            <a:r>
              <a:rPr lang="en-US" sz="1950" b="1" dirty="0">
                <a:solidFill>
                  <a:srgbClr val="33405F"/>
                </a:solidFill>
                <a:latin typeface="Be Vietnam Pro" pitchFamily="34" charset="0"/>
                <a:ea typeface="Be Vietnam Pro" pitchFamily="34" charset="-122"/>
                <a:cs typeface="Be Vietnam Pro" pitchFamily="34" charset="-120"/>
              </a:rPr>
              <a:t>LSTM </a:t>
            </a:r>
            <a:r>
              <a:rPr lang="en-US" sz="1950" dirty="0">
                <a:solidFill>
                  <a:srgbClr val="33405F"/>
                </a:solidFill>
                <a:latin typeface="Be Vietnam Pro" pitchFamily="34" charset="0"/>
                <a:ea typeface="Be Vietnam Pro" pitchFamily="34" charset="-122"/>
                <a:cs typeface="Be Vietnam Pro" pitchFamily="34" charset="-120"/>
              </a:rPr>
              <a:t>học biểu diễn ẩn của trạng thái kiến thức.</a:t>
            </a:r>
            <a:endParaRPr lang="en-US" sz="1950" dirty="0"/>
          </a:p>
        </p:txBody>
      </p:sp>
      <p:sp>
        <p:nvSpPr>
          <p:cNvPr id="19" name="Shape 17"/>
          <p:cNvSpPr/>
          <p:nvPr/>
        </p:nvSpPr>
        <p:spPr>
          <a:xfrm>
            <a:off x="6811592" y="8867044"/>
            <a:ext cx="1661869" cy="450273"/>
          </a:xfrm>
          <a:prstGeom prst="roundRect">
            <a:avLst>
              <a:gd name="adj" fmla="val 50000"/>
            </a:avLst>
          </a:prstGeom>
          <a:solidFill>
            <a:srgbClr val="EEF2FC"/>
          </a:solidFill>
          <a:ln/>
        </p:spPr>
        <p:txBody>
          <a:bodyPr/>
          <a:lstStyle/>
          <a:p>
            <a:endParaRPr lang="en-US"/>
          </a:p>
        </p:txBody>
      </p:sp>
      <p:sp>
        <p:nvSpPr>
          <p:cNvPr id="20" name="Text 18"/>
          <p:cNvSpPr/>
          <p:nvPr/>
        </p:nvSpPr>
        <p:spPr>
          <a:xfrm>
            <a:off x="7002092" y="8962294"/>
            <a:ext cx="1357069"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0F2F7A"/>
                </a:solidFill>
                <a:latin typeface="Be Vietnam Pro" pitchFamily="34" charset="0"/>
                <a:ea typeface="Be Vietnam Pro" pitchFamily="34" charset="-122"/>
                <a:cs typeface="Be Vietnam Pro" pitchFamily="34" charset="-120"/>
              </a:rPr>
              <a:t>Biểu diễn ẩn</a:t>
            </a:r>
            <a:endParaRPr lang="en-US" sz="1650" dirty="0"/>
          </a:p>
        </p:txBody>
      </p:sp>
      <p:sp>
        <p:nvSpPr>
          <p:cNvPr id="21" name="Shape 19"/>
          <p:cNvSpPr/>
          <p:nvPr/>
        </p:nvSpPr>
        <p:spPr>
          <a:xfrm>
            <a:off x="12064954" y="2907831"/>
            <a:ext cx="5346853" cy="6769650"/>
          </a:xfrm>
          <a:prstGeom prst="roundRect">
            <a:avLst>
              <a:gd name="adj" fmla="val 2850"/>
            </a:avLst>
          </a:prstGeom>
          <a:ln w="17318">
            <a:solidFill>
              <a:srgbClr val="DBE3F5"/>
            </a:solidFill>
            <a:prstDash val="solid"/>
          </a:ln>
        </p:spPr>
        <p:txBody>
          <a:bodyPr/>
          <a:lstStyle/>
          <a:p>
            <a:endParaRPr lang="en-US"/>
          </a:p>
        </p:txBody>
      </p:sp>
      <p:sp>
        <p:nvSpPr>
          <p:cNvPr id="22" name="Text 20"/>
          <p:cNvSpPr/>
          <p:nvPr/>
        </p:nvSpPr>
        <p:spPr>
          <a:xfrm>
            <a:off x="12406042" y="3267995"/>
            <a:ext cx="5131147" cy="523009"/>
          </a:xfrm>
          <a:prstGeom prst="rect">
            <a:avLst/>
          </a:prstGeom>
          <a:noFill/>
          <a:ln/>
        </p:spPr>
        <p:txBody>
          <a:bodyPr wrap="square" lIns="25400" tIns="25400" rIns="25400" bIns="25400" rtlCol="0" anchor="t">
            <a:normAutofit/>
          </a:bodyPr>
          <a:lstStyle/>
          <a:p>
            <a:pPr marL="0" indent="0" algn="l">
              <a:buNone/>
            </a:pPr>
            <a:r>
              <a:rPr lang="en-US" sz="3000" b="1" dirty="0">
                <a:solidFill>
                  <a:srgbClr val="1D50C6"/>
                </a:solidFill>
                <a:latin typeface="Be Vietnam Pro" pitchFamily="34" charset="0"/>
                <a:ea typeface="Be Vietnam Pro" pitchFamily="34" charset="-122"/>
                <a:cs typeface="Be Vietnam Pro" pitchFamily="34" charset="-120"/>
              </a:rPr>
              <a:t>SAKT</a:t>
            </a:r>
            <a:endParaRPr lang="en-US" sz="3000" dirty="0"/>
          </a:p>
        </p:txBody>
      </p:sp>
      <p:sp>
        <p:nvSpPr>
          <p:cNvPr id="23" name="Text 21"/>
          <p:cNvSpPr/>
          <p:nvPr/>
        </p:nvSpPr>
        <p:spPr>
          <a:xfrm>
            <a:off x="12406042" y="3810000"/>
            <a:ext cx="5131147" cy="323850"/>
          </a:xfrm>
          <a:prstGeom prst="rect">
            <a:avLst/>
          </a:prstGeom>
          <a:noFill/>
          <a:ln/>
        </p:spPr>
        <p:txBody>
          <a:bodyPr wrap="square" lIns="25400" tIns="25400" rIns="25400" bIns="25400" rtlCol="0" anchor="t">
            <a:normAutofit/>
          </a:bodyPr>
          <a:lstStyle/>
          <a:p>
            <a:pPr marL="0" indent="0" algn="l">
              <a:buNone/>
            </a:pPr>
            <a:r>
              <a:rPr lang="en-US" sz="1800" b="1" dirty="0">
                <a:solidFill>
                  <a:srgbClr val="5D6B88"/>
                </a:solidFill>
                <a:latin typeface="Be Vietnam Pro" pitchFamily="34" charset="0"/>
                <a:ea typeface="Be Vietnam Pro" pitchFamily="34" charset="-122"/>
                <a:cs typeface="Be Vietnam Pro" pitchFamily="34" charset="-120"/>
              </a:rPr>
              <a:t>Self-Attentive KT</a:t>
            </a:r>
            <a:endParaRPr lang="en-US" sz="1800" dirty="0"/>
          </a:p>
        </p:txBody>
      </p:sp>
      <p:sp>
        <p:nvSpPr>
          <p:cNvPr id="24" name="Shape 22"/>
          <p:cNvSpPr/>
          <p:nvPr/>
        </p:nvSpPr>
        <p:spPr>
          <a:xfrm>
            <a:off x="12406042" y="4324269"/>
            <a:ext cx="4664679" cy="18942"/>
          </a:xfrm>
          <a:prstGeom prst="rect">
            <a:avLst/>
          </a:prstGeom>
          <a:solidFill>
            <a:srgbClr val="DBE3F5"/>
          </a:solidFill>
          <a:ln/>
        </p:spPr>
        <p:txBody>
          <a:bodyPr/>
          <a:lstStyle/>
          <a:p>
            <a:endParaRPr lang="en-US"/>
          </a:p>
        </p:txBody>
      </p:sp>
      <p:sp>
        <p:nvSpPr>
          <p:cNvPr id="25" name="Text 23"/>
          <p:cNvSpPr/>
          <p:nvPr/>
        </p:nvSpPr>
        <p:spPr>
          <a:xfrm>
            <a:off x="12406042" y="4571729"/>
            <a:ext cx="4804620" cy="755993"/>
          </a:xfrm>
          <a:prstGeom prst="rect">
            <a:avLst/>
          </a:prstGeom>
          <a:noFill/>
          <a:ln/>
        </p:spPr>
        <p:txBody>
          <a:bodyPr wrap="square" lIns="25400" tIns="25400" rIns="25400" bIns="25400" rtlCol="0" anchor="t">
            <a:normAutofit/>
          </a:bodyPr>
          <a:lstStyle/>
          <a:p>
            <a:pPr marL="0" indent="0" algn="l">
              <a:lnSpc>
                <a:spcPct val="145000"/>
              </a:lnSpc>
              <a:buNone/>
            </a:pPr>
            <a:r>
              <a:rPr lang="en-US" sz="1950" b="1" dirty="0">
                <a:solidFill>
                  <a:srgbClr val="33405F"/>
                </a:solidFill>
                <a:latin typeface="Be Vietnam Pro" pitchFamily="34" charset="0"/>
                <a:ea typeface="Be Vietnam Pro" pitchFamily="34" charset="-122"/>
                <a:cs typeface="Be Vietnam Pro" pitchFamily="34" charset="-120"/>
              </a:rPr>
              <a:t>Self-attention </a:t>
            </a:r>
            <a:r>
              <a:rPr lang="en-US" sz="1950" dirty="0">
                <a:solidFill>
                  <a:srgbClr val="33405F"/>
                </a:solidFill>
                <a:latin typeface="Be Vietnam Pro" pitchFamily="34" charset="0"/>
                <a:ea typeface="Be Vietnam Pro" pitchFamily="34" charset="-122"/>
                <a:cs typeface="Be Vietnam Pro" pitchFamily="34" charset="-120"/>
              </a:rPr>
              <a:t>, song song hóa, diễn giải qua attention.</a:t>
            </a:r>
            <a:endParaRPr lang="en-US" sz="1950" dirty="0"/>
          </a:p>
        </p:txBody>
      </p:sp>
      <p:sp>
        <p:nvSpPr>
          <p:cNvPr id="26" name="Shape 24"/>
          <p:cNvSpPr/>
          <p:nvPr/>
        </p:nvSpPr>
        <p:spPr>
          <a:xfrm>
            <a:off x="12406042" y="8867044"/>
            <a:ext cx="1927189" cy="450273"/>
          </a:xfrm>
          <a:prstGeom prst="roundRect">
            <a:avLst>
              <a:gd name="adj" fmla="val 50000"/>
            </a:avLst>
          </a:prstGeom>
          <a:solidFill>
            <a:srgbClr val="EEF2FC"/>
          </a:solidFill>
          <a:ln/>
        </p:spPr>
        <p:txBody>
          <a:bodyPr/>
          <a:lstStyle/>
          <a:p>
            <a:endParaRPr lang="en-US"/>
          </a:p>
        </p:txBody>
      </p:sp>
      <p:sp>
        <p:nvSpPr>
          <p:cNvPr id="27" name="Text 25"/>
          <p:cNvSpPr/>
          <p:nvPr/>
        </p:nvSpPr>
        <p:spPr>
          <a:xfrm>
            <a:off x="12596542" y="8962294"/>
            <a:ext cx="1622389"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0F2F7A"/>
                </a:solidFill>
                <a:latin typeface="Be Vietnam Pro" pitchFamily="34" charset="0"/>
                <a:ea typeface="Be Vietnam Pro" pitchFamily="34" charset="-122"/>
                <a:cs typeface="Be Vietnam Pro" pitchFamily="34" charset="-120"/>
              </a:rPr>
              <a:t>Song song hóa</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2769840"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CƠ SỞ LÝ THUYẾT</a:t>
            </a:r>
            <a:endParaRPr lang="en-US" sz="1800" dirty="0"/>
          </a:p>
        </p:txBody>
      </p:sp>
      <p:sp>
        <p:nvSpPr>
          <p:cNvPr id="4" name="Text 2"/>
          <p:cNvSpPr/>
          <p:nvPr/>
        </p:nvSpPr>
        <p:spPr>
          <a:xfrm>
            <a:off x="16368116" y="704769"/>
            <a:ext cx="111989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06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IRT &amp; cơ chế cập nhật realtime</a:t>
            </a:r>
            <a:endParaRPr lang="en-US" sz="4350" dirty="0"/>
          </a:p>
        </p:txBody>
      </p:sp>
      <p:sp>
        <p:nvSpPr>
          <p:cNvPr id="6" name="Shape 4"/>
          <p:cNvSpPr/>
          <p:nvPr/>
        </p:nvSpPr>
        <p:spPr>
          <a:xfrm>
            <a:off x="876192" y="2349725"/>
            <a:ext cx="6614192" cy="7327756"/>
          </a:xfrm>
          <a:prstGeom prst="roundRect">
            <a:avLst>
              <a:gd name="adj" fmla="val 2304"/>
            </a:avLst>
          </a:prstGeom>
          <a:solidFill>
            <a:srgbClr val="EEF2FC"/>
          </a:solidFill>
          <a:ln/>
        </p:spPr>
        <p:txBody>
          <a:bodyPr/>
          <a:lstStyle/>
          <a:p>
            <a:endParaRPr lang="en-US"/>
          </a:p>
        </p:txBody>
      </p:sp>
      <p:sp>
        <p:nvSpPr>
          <p:cNvPr id="7" name="Text 5"/>
          <p:cNvSpPr/>
          <p:nvPr/>
        </p:nvSpPr>
        <p:spPr>
          <a:xfrm>
            <a:off x="1238115" y="5208308"/>
            <a:ext cx="6479381" cy="358486"/>
          </a:xfrm>
          <a:prstGeom prst="rect">
            <a:avLst/>
          </a:prstGeom>
          <a:noFill/>
          <a:ln/>
        </p:spPr>
        <p:txBody>
          <a:bodyPr wrap="square" lIns="25400" tIns="25400" rIns="25400" bIns="25400" rtlCol="0" anchor="t">
            <a:normAutofit/>
          </a:bodyPr>
          <a:lstStyle/>
          <a:p>
            <a:pPr marL="0" indent="0" algn="l">
              <a:buNone/>
            </a:pPr>
            <a:r>
              <a:rPr lang="en-US" sz="1950" b="1" kern="0" spc="78" dirty="0">
                <a:solidFill>
                  <a:srgbClr val="0F2F7A"/>
                </a:solidFill>
                <a:latin typeface="Be Vietnam Pro" pitchFamily="34" charset="0"/>
                <a:ea typeface="Be Vietnam Pro" pitchFamily="34" charset="-122"/>
                <a:cs typeface="Be Vietnam Pro" pitchFamily="34" charset="-120"/>
              </a:rPr>
              <a:t>IRT — 3PL</a:t>
            </a:r>
            <a:endParaRPr lang="en-US" sz="1950" dirty="0"/>
          </a:p>
        </p:txBody>
      </p:sp>
      <p:sp>
        <p:nvSpPr>
          <p:cNvPr id="8" name="Text 6"/>
          <p:cNvSpPr/>
          <p:nvPr/>
        </p:nvSpPr>
        <p:spPr>
          <a:xfrm>
            <a:off x="1238115" y="5700117"/>
            <a:ext cx="6067057" cy="1156746"/>
          </a:xfrm>
          <a:prstGeom prst="rect">
            <a:avLst/>
          </a:prstGeom>
          <a:noFill/>
          <a:ln/>
        </p:spPr>
        <p:txBody>
          <a:bodyPr wrap="square" lIns="25400" tIns="25400" rIns="25400" bIns="25400" rtlCol="0" anchor="t">
            <a:normAutofit/>
          </a:bodyPr>
          <a:lstStyle/>
          <a:p>
            <a:pPr marL="0" indent="0" algn="l">
              <a:lnSpc>
                <a:spcPct val="145000"/>
              </a:lnSpc>
              <a:buNone/>
            </a:pPr>
            <a:r>
              <a:rPr lang="en-US" sz="2025" dirty="0">
                <a:solidFill>
                  <a:srgbClr val="33405F"/>
                </a:solidFill>
                <a:latin typeface="Be Vietnam Pro" pitchFamily="34" charset="0"/>
                <a:ea typeface="Be Vietnam Pro" pitchFamily="34" charset="-122"/>
                <a:cs typeface="Be Vietnam Pro" pitchFamily="34" charset="-120"/>
              </a:rPr>
              <a:t>Mô phỏng hành vi người dùng: xác suất trả lời đúng phụ thuộc </a:t>
            </a:r>
            <a:r>
              <a:rPr lang="en-US" sz="2025" b="1" dirty="0">
                <a:solidFill>
                  <a:srgbClr val="33405F"/>
                </a:solidFill>
                <a:latin typeface="Be Vietnam Pro" pitchFamily="34" charset="0"/>
                <a:ea typeface="Be Vietnam Pro" pitchFamily="34" charset="-122"/>
                <a:cs typeface="Be Vietnam Pro" pitchFamily="34" charset="-120"/>
              </a:rPr>
              <a:t>năng lực θ </a:t>
            </a:r>
            <a:r>
              <a:rPr lang="en-US" sz="2025" dirty="0">
                <a:solidFill>
                  <a:srgbClr val="33405F"/>
                </a:solidFill>
                <a:latin typeface="Be Vietnam Pro" pitchFamily="34" charset="0"/>
                <a:ea typeface="Be Vietnam Pro" pitchFamily="34" charset="-122"/>
                <a:cs typeface="Be Vietnam Pro" pitchFamily="34" charset="-120"/>
              </a:rPr>
              <a:t>và </a:t>
            </a:r>
            <a:r>
              <a:rPr lang="en-US" sz="2025" b="1" dirty="0">
                <a:solidFill>
                  <a:srgbClr val="33405F"/>
                </a:solidFill>
                <a:latin typeface="Be Vietnam Pro" pitchFamily="34" charset="0"/>
                <a:ea typeface="Be Vietnam Pro" pitchFamily="34" charset="-122"/>
                <a:cs typeface="Be Vietnam Pro" pitchFamily="34" charset="-120"/>
              </a:rPr>
              <a:t>độ khó b </a:t>
            </a:r>
            <a:r>
              <a:rPr lang="en-US" sz="2025" dirty="0">
                <a:solidFill>
                  <a:srgbClr val="33405F"/>
                </a:solidFill>
                <a:latin typeface="Be Vietnam Pro" pitchFamily="34" charset="0"/>
                <a:ea typeface="Be Vietnam Pro" pitchFamily="34" charset="-122"/>
                <a:cs typeface="Be Vietnam Pro" pitchFamily="34" charset="-120"/>
              </a:rPr>
              <a:t>của câu hỏi.</a:t>
            </a:r>
            <a:endParaRPr lang="en-US" sz="2025" dirty="0"/>
          </a:p>
        </p:txBody>
      </p:sp>
      <p:sp>
        <p:nvSpPr>
          <p:cNvPr id="9" name="Shape 7"/>
          <p:cNvSpPr/>
          <p:nvPr/>
        </p:nvSpPr>
        <p:spPr>
          <a:xfrm>
            <a:off x="7871384" y="2349725"/>
            <a:ext cx="9540423" cy="1396278"/>
          </a:xfrm>
          <a:prstGeom prst="roundRect">
            <a:avLst>
              <a:gd name="adj" fmla="val 9550"/>
            </a:avLst>
          </a:prstGeom>
          <a:ln w="17318">
            <a:solidFill>
              <a:srgbClr val="DBE3F5"/>
            </a:solidFill>
            <a:prstDash val="solid"/>
          </a:ln>
        </p:spPr>
        <p:txBody>
          <a:bodyPr/>
          <a:lstStyle/>
          <a:p>
            <a:endParaRPr lang="en-US"/>
          </a:p>
        </p:txBody>
      </p:sp>
      <p:sp>
        <p:nvSpPr>
          <p:cNvPr id="10" name="Text 8"/>
          <p:cNvSpPr/>
          <p:nvPr/>
        </p:nvSpPr>
        <p:spPr>
          <a:xfrm>
            <a:off x="8212471" y="2633717"/>
            <a:ext cx="9744074"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1D50C6"/>
                </a:solidFill>
                <a:latin typeface="Be Vietnam Pro" pitchFamily="34" charset="0"/>
                <a:ea typeface="Be Vietnam Pro" pitchFamily="34" charset="-122"/>
                <a:cs typeface="Be Vietnam Pro" pitchFamily="34" charset="-120"/>
              </a:rPr>
              <a:t>EMA — CHẠY NGAY TỪ CÂU ĐẦU</a:t>
            </a:r>
            <a:endParaRPr lang="en-US" sz="1575" dirty="0"/>
          </a:p>
        </p:txBody>
      </p:sp>
      <p:sp>
        <p:nvSpPr>
          <p:cNvPr id="11" name="Text 9"/>
          <p:cNvSpPr/>
          <p:nvPr/>
        </p:nvSpPr>
        <p:spPr>
          <a:xfrm>
            <a:off x="8212471" y="2999022"/>
            <a:ext cx="9744074" cy="501091"/>
          </a:xfrm>
          <a:prstGeom prst="rect">
            <a:avLst/>
          </a:prstGeom>
          <a:noFill/>
          <a:ln/>
        </p:spPr>
        <p:txBody>
          <a:bodyPr wrap="square" lIns="25400" tIns="25400" rIns="25400" bIns="25400" rtlCol="0" anchor="t">
            <a:normAutofit/>
          </a:bodyPr>
          <a:lstStyle/>
          <a:p>
            <a:pPr marL="0" indent="0" algn="l">
              <a:buNone/>
            </a:pPr>
            <a:r>
              <a:rPr lang="en-US" sz="2550" b="1" kern="0" spc="26" dirty="0">
                <a:solidFill>
                  <a:srgbClr val="16223D"/>
                </a:solidFill>
                <a:latin typeface="Be Vietnam Pro" pitchFamily="34" charset="0"/>
                <a:ea typeface="Be Vietnam Pro" pitchFamily="34" charset="-122"/>
                <a:cs typeface="Be Vietnam Pro" pitchFamily="34" charset="-120"/>
              </a:rPr>
              <a:t>θ</a:t>
            </a:r>
            <a:r>
              <a:rPr lang="en-US" sz="2125" b="1" kern="0" spc="26" baseline="-40000" dirty="0">
                <a:solidFill>
                  <a:srgbClr val="16223D"/>
                </a:solidFill>
                <a:latin typeface="Be Vietnam Pro" pitchFamily="34" charset="0"/>
                <a:ea typeface="Be Vietnam Pro" pitchFamily="34" charset="-122"/>
                <a:cs typeface="Be Vietnam Pro" pitchFamily="34" charset="-120"/>
              </a:rPr>
              <a:t>EMA </a:t>
            </a:r>
            <a:r>
              <a:rPr lang="en-US" sz="2550" b="1" kern="0" spc="26" dirty="0">
                <a:solidFill>
                  <a:srgbClr val="16223D"/>
                </a:solidFill>
                <a:latin typeface="Be Vietnam Pro" pitchFamily="34" charset="0"/>
                <a:ea typeface="Be Vietnam Pro" pitchFamily="34" charset="-122"/>
                <a:cs typeface="Be Vietnam Pro" pitchFamily="34" charset="-120"/>
              </a:rPr>
              <a:t>= 0.35 · s + 0.65 · θ</a:t>
            </a:r>
            <a:r>
              <a:rPr lang="en-US" sz="2125" b="1" kern="0" spc="26" baseline="-40000" dirty="0">
                <a:solidFill>
                  <a:srgbClr val="16223D"/>
                </a:solidFill>
                <a:latin typeface="Be Vietnam Pro" pitchFamily="34" charset="0"/>
                <a:ea typeface="Be Vietnam Pro" pitchFamily="34" charset="-122"/>
                <a:cs typeface="Be Vietnam Pro" pitchFamily="34" charset="-120"/>
              </a:rPr>
              <a:t>EMA</a:t>
            </a:r>
            <a:endParaRPr lang="en-US" sz="2550" dirty="0"/>
          </a:p>
        </p:txBody>
      </p:sp>
      <p:sp>
        <p:nvSpPr>
          <p:cNvPr id="12" name="Shape 10"/>
          <p:cNvSpPr/>
          <p:nvPr/>
        </p:nvSpPr>
        <p:spPr>
          <a:xfrm>
            <a:off x="7871384" y="3955445"/>
            <a:ext cx="9540423" cy="1455945"/>
          </a:xfrm>
          <a:prstGeom prst="roundRect">
            <a:avLst>
              <a:gd name="adj" fmla="val 9159"/>
            </a:avLst>
          </a:prstGeom>
          <a:solidFill>
            <a:srgbClr val="EEF2FC"/>
          </a:solidFill>
          <a:ln w="17318">
            <a:solidFill>
              <a:srgbClr val="1D50C6"/>
            </a:solidFill>
            <a:prstDash val="solid"/>
          </a:ln>
        </p:spPr>
        <p:txBody>
          <a:bodyPr/>
          <a:lstStyle/>
          <a:p>
            <a:endParaRPr lang="en-US"/>
          </a:p>
        </p:txBody>
      </p:sp>
      <p:sp>
        <p:nvSpPr>
          <p:cNvPr id="13" name="Text 11"/>
          <p:cNvSpPr/>
          <p:nvPr/>
        </p:nvSpPr>
        <p:spPr>
          <a:xfrm>
            <a:off x="8212471" y="4239437"/>
            <a:ext cx="9744074"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1D50C6"/>
                </a:solidFill>
                <a:latin typeface="Be Vietnam Pro" pitchFamily="34" charset="0"/>
                <a:ea typeface="Be Vietnam Pro" pitchFamily="34" charset="-122"/>
                <a:cs typeface="Be Vietnam Pro" pitchFamily="34" charset="-120"/>
              </a:rPr>
              <a:t>BLEND KT–EMA · KÍCH HOẠT KHI ≥ 3 TƯƠNG TÁC</a:t>
            </a:r>
            <a:endParaRPr lang="en-US" sz="1575" dirty="0"/>
          </a:p>
        </p:txBody>
      </p:sp>
      <p:sp>
        <p:nvSpPr>
          <p:cNvPr id="14" name="Text 12"/>
          <p:cNvSpPr/>
          <p:nvPr/>
        </p:nvSpPr>
        <p:spPr>
          <a:xfrm>
            <a:off x="8212471" y="4604742"/>
            <a:ext cx="9744074" cy="560757"/>
          </a:xfrm>
          <a:prstGeom prst="rect">
            <a:avLst/>
          </a:prstGeom>
          <a:noFill/>
          <a:ln/>
        </p:spPr>
        <p:txBody>
          <a:bodyPr wrap="square" lIns="25400" tIns="25400" rIns="25400" bIns="25400" rtlCol="0" anchor="t">
            <a:normAutofit/>
          </a:bodyPr>
          <a:lstStyle/>
          <a:p>
            <a:pPr marL="0" indent="0" algn="l">
              <a:buNone/>
            </a:pPr>
            <a:r>
              <a:rPr lang="en-US" sz="2850" b="1" kern="0" spc="29" dirty="0">
                <a:solidFill>
                  <a:srgbClr val="0F2F7A"/>
                </a:solidFill>
                <a:latin typeface="Be Vietnam Pro" pitchFamily="34" charset="0"/>
                <a:ea typeface="Be Vietnam Pro" pitchFamily="34" charset="-122"/>
                <a:cs typeface="Be Vietnam Pro" pitchFamily="34" charset="-120"/>
              </a:rPr>
              <a:t>θ = 0.7 · θ</a:t>
            </a:r>
            <a:r>
              <a:rPr lang="en-US" sz="2375" b="1" kern="0" spc="29" baseline="-40000" dirty="0">
                <a:solidFill>
                  <a:srgbClr val="0F2F7A"/>
                </a:solidFill>
                <a:latin typeface="Be Vietnam Pro" pitchFamily="34" charset="0"/>
                <a:ea typeface="Be Vietnam Pro" pitchFamily="34" charset="-122"/>
                <a:cs typeface="Be Vietnam Pro" pitchFamily="34" charset="-120"/>
              </a:rPr>
              <a:t>KT </a:t>
            </a:r>
            <a:r>
              <a:rPr lang="en-US" sz="2850" b="1" kern="0" spc="29" dirty="0">
                <a:solidFill>
                  <a:srgbClr val="0F2F7A"/>
                </a:solidFill>
                <a:latin typeface="Be Vietnam Pro" pitchFamily="34" charset="0"/>
                <a:ea typeface="Be Vietnam Pro" pitchFamily="34" charset="-122"/>
                <a:cs typeface="Be Vietnam Pro" pitchFamily="34" charset="-120"/>
              </a:rPr>
              <a:t>+ 0.3 · θ</a:t>
            </a:r>
            <a:r>
              <a:rPr lang="en-US" sz="2375" b="1" kern="0" spc="29" baseline="-40000" dirty="0">
                <a:solidFill>
                  <a:srgbClr val="0F2F7A"/>
                </a:solidFill>
                <a:latin typeface="Be Vietnam Pro" pitchFamily="34" charset="0"/>
                <a:ea typeface="Be Vietnam Pro" pitchFamily="34" charset="-122"/>
                <a:cs typeface="Be Vietnam Pro" pitchFamily="34" charset="-120"/>
              </a:rPr>
              <a:t>EMA</a:t>
            </a:r>
            <a:endParaRPr lang="en-US" sz="2850" dirty="0"/>
          </a:p>
        </p:txBody>
      </p:sp>
      <p:sp>
        <p:nvSpPr>
          <p:cNvPr id="15" name="Text 13"/>
          <p:cNvSpPr/>
          <p:nvPr/>
        </p:nvSpPr>
        <p:spPr>
          <a:xfrm>
            <a:off x="7871384" y="5620832"/>
            <a:ext cx="9826636"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Giải quyết </a:t>
            </a:r>
            <a:r>
              <a:rPr lang="en-US" sz="1875" b="1" dirty="0">
                <a:solidFill>
                  <a:srgbClr val="33405F"/>
                </a:solidFill>
                <a:latin typeface="Be Vietnam Pro" pitchFamily="34" charset="0"/>
                <a:ea typeface="Be Vietnam Pro" pitchFamily="34" charset="-122"/>
                <a:cs typeface="Be Vietnam Pro" pitchFamily="34" charset="-120"/>
              </a:rPr>
              <a:t>cold-start </a:t>
            </a:r>
            <a:r>
              <a:rPr lang="en-US" sz="1875" dirty="0">
                <a:solidFill>
                  <a:srgbClr val="33405F"/>
                </a:solidFill>
                <a:latin typeface="Be Vietnam Pro" pitchFamily="34" charset="0"/>
                <a:ea typeface="Be Vietnam Pro" pitchFamily="34" charset="-122"/>
                <a:cs typeface="Be Vietnam Pro" pitchFamily="34" charset="-120"/>
              </a:rPr>
              <a:t>và giữ ổn định dự đoán — hằng số đồng nhất giữa backend và frontend.</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2921496"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XÂY DỰNG DỮ LIỆU</a:t>
            </a:r>
            <a:endParaRPr lang="en-US" sz="1800" dirty="0"/>
          </a:p>
        </p:txBody>
      </p:sp>
      <p:sp>
        <p:nvSpPr>
          <p:cNvPr id="4" name="Text 2"/>
          <p:cNvSpPr/>
          <p:nvPr/>
        </p:nvSpPr>
        <p:spPr>
          <a:xfrm>
            <a:off x="16391794" y="704769"/>
            <a:ext cx="1096214"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07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Pipeline xây dựng dữ liệu</a:t>
            </a:r>
            <a:endParaRPr lang="en-US" sz="4350" dirty="0"/>
          </a:p>
        </p:txBody>
      </p:sp>
      <p:sp>
        <p:nvSpPr>
          <p:cNvPr id="6" name="Shape 4"/>
          <p:cNvSpPr/>
          <p:nvPr/>
        </p:nvSpPr>
        <p:spPr>
          <a:xfrm>
            <a:off x="876192" y="2406957"/>
            <a:ext cx="4978436" cy="7270524"/>
          </a:xfrm>
          <a:prstGeom prst="roundRect">
            <a:avLst>
              <a:gd name="adj" fmla="val 3061"/>
            </a:avLst>
          </a:prstGeom>
          <a:solidFill>
            <a:srgbClr val="EEF2FC"/>
          </a:solidFill>
          <a:ln/>
        </p:spPr>
        <p:txBody>
          <a:bodyPr/>
          <a:lstStyle/>
          <a:p>
            <a:endParaRPr lang="en-US"/>
          </a:p>
        </p:txBody>
      </p:sp>
      <p:sp>
        <p:nvSpPr>
          <p:cNvPr id="7" name="Text 5"/>
          <p:cNvSpPr/>
          <p:nvPr/>
        </p:nvSpPr>
        <p:spPr>
          <a:xfrm>
            <a:off x="1199961" y="2768880"/>
            <a:ext cx="4763988" cy="297873"/>
          </a:xfrm>
          <a:prstGeom prst="rect">
            <a:avLst/>
          </a:prstGeom>
          <a:noFill/>
          <a:ln/>
        </p:spPr>
        <p:txBody>
          <a:bodyPr wrap="square" lIns="25400" tIns="25400" rIns="25400" bIns="25400" rtlCol="0" anchor="t">
            <a:normAutofit/>
          </a:bodyPr>
          <a:lstStyle/>
          <a:p>
            <a:pPr marL="0" indent="0" algn="l">
              <a:buNone/>
            </a:pPr>
            <a:r>
              <a:rPr lang="en-US" sz="1650" b="1" kern="0" spc="99" dirty="0">
                <a:solidFill>
                  <a:srgbClr val="1D50C6"/>
                </a:solidFill>
                <a:latin typeface="Be Vietnam Pro" pitchFamily="34" charset="0"/>
                <a:ea typeface="Be Vietnam Pro" pitchFamily="34" charset="-122"/>
                <a:cs typeface="Be Vietnam Pro" pitchFamily="34" charset="-120"/>
              </a:rPr>
              <a:t>BƯỚC 1</a:t>
            </a:r>
            <a:endParaRPr lang="en-US" sz="1650" dirty="0"/>
          </a:p>
        </p:txBody>
      </p:sp>
      <p:sp>
        <p:nvSpPr>
          <p:cNvPr id="8" name="Text 6"/>
          <p:cNvSpPr/>
          <p:nvPr/>
        </p:nvSpPr>
        <p:spPr>
          <a:xfrm>
            <a:off x="1199961" y="3161921"/>
            <a:ext cx="4763988" cy="403811"/>
          </a:xfrm>
          <a:prstGeom prst="rect">
            <a:avLst/>
          </a:prstGeom>
          <a:noFill/>
          <a:ln/>
        </p:spPr>
        <p:txBody>
          <a:bodyPr wrap="square" lIns="25400" tIns="25400" rIns="25400" bIns="25400" rtlCol="0" anchor="t">
            <a:normAutofit/>
          </a:bodyPr>
          <a:lstStyle/>
          <a:p>
            <a:pPr marL="0" indent="0" algn="l">
              <a:lnSpc>
                <a:spcPct val="120000"/>
              </a:lnSpc>
              <a:buNone/>
            </a:pPr>
            <a:r>
              <a:rPr lang="en-US" sz="2400" b="1" dirty="0">
                <a:solidFill>
                  <a:srgbClr val="16223D"/>
                </a:solidFill>
                <a:latin typeface="Be Vietnam Pro" pitchFamily="34" charset="0"/>
                <a:ea typeface="Be Vietnam Pro" pitchFamily="34" charset="-122"/>
                <a:cs typeface="Be Vietnam Pro" pitchFamily="34" charset="-120"/>
              </a:rPr>
              <a:t>Question Bank</a:t>
            </a:r>
            <a:endParaRPr lang="en-US" sz="2400" dirty="0"/>
          </a:p>
        </p:txBody>
      </p:sp>
      <p:sp>
        <p:nvSpPr>
          <p:cNvPr id="9" name="Shape 7"/>
          <p:cNvSpPr/>
          <p:nvPr/>
        </p:nvSpPr>
        <p:spPr>
          <a:xfrm>
            <a:off x="1199961" y="3737074"/>
            <a:ext cx="4330898" cy="18942"/>
          </a:xfrm>
          <a:prstGeom prst="rect">
            <a:avLst/>
          </a:prstGeom>
          <a:solidFill>
            <a:srgbClr val="DBE3F5"/>
          </a:solidFill>
          <a:ln/>
        </p:spPr>
        <p:txBody>
          <a:bodyPr/>
          <a:lstStyle/>
          <a:p>
            <a:endParaRPr lang="en-US"/>
          </a:p>
        </p:txBody>
      </p:sp>
      <p:sp>
        <p:nvSpPr>
          <p:cNvPr id="10" name="Text 8"/>
          <p:cNvSpPr/>
          <p:nvPr/>
        </p:nvSpPr>
        <p:spPr>
          <a:xfrm>
            <a:off x="1199961" y="3965458"/>
            <a:ext cx="4460825" cy="728663"/>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33405F"/>
                </a:solidFill>
                <a:latin typeface="Be Vietnam Pro" pitchFamily="34" charset="0"/>
                <a:ea typeface="Be Vietnam Pro" pitchFamily="34" charset="-122"/>
                <a:cs typeface="Be Vietnam Pro" pitchFamily="34" charset="-120"/>
              </a:rPr>
              <a:t>Scrape nguồn công khai + sinh bằng </a:t>
            </a:r>
            <a:r>
              <a:rPr lang="en-US" sz="1875" b="1" dirty="0">
                <a:solidFill>
                  <a:srgbClr val="33405F"/>
                </a:solidFill>
                <a:latin typeface="Be Vietnam Pro" pitchFamily="34" charset="0"/>
                <a:ea typeface="Be Vietnam Pro" pitchFamily="34" charset="-122"/>
                <a:cs typeface="Be Vietnam Pro" pitchFamily="34" charset="-120"/>
              </a:rPr>
              <a:t>LLM </a:t>
            </a:r>
            <a:r>
              <a:rPr lang="en-US" sz="1875" dirty="0">
                <a:solidFill>
                  <a:srgbClr val="33405F"/>
                </a:solidFill>
                <a:latin typeface="Be Vietnam Pro" pitchFamily="34" charset="0"/>
                <a:ea typeface="Be Vietnam Pro" pitchFamily="34" charset="-122"/>
                <a:cs typeface="Be Vietnam Pro" pitchFamily="34" charset="-120"/>
              </a:rPr>
              <a:t>+ kiểm soát chất lượng (QC).</a:t>
            </a:r>
            <a:endParaRPr lang="en-US" sz="1875" dirty="0"/>
          </a:p>
        </p:txBody>
      </p:sp>
      <p:sp>
        <p:nvSpPr>
          <p:cNvPr id="11" name="Text 9"/>
          <p:cNvSpPr/>
          <p:nvPr/>
        </p:nvSpPr>
        <p:spPr>
          <a:xfrm>
            <a:off x="6026051" y="2406957"/>
            <a:ext cx="533508" cy="7308624"/>
          </a:xfrm>
          <a:prstGeom prst="rect">
            <a:avLst/>
          </a:prstGeom>
          <a:noFill/>
          <a:ln/>
        </p:spPr>
        <p:txBody>
          <a:bodyPr wrap="square" lIns="25400" tIns="25400" rIns="25400" bIns="25400" rtlCol="0" anchor="ctr">
            <a:normAutofit/>
          </a:bodyPr>
          <a:lstStyle/>
          <a:p>
            <a:pPr marL="0" indent="0" algn="l">
              <a:buNone/>
            </a:pPr>
            <a:r>
              <a:rPr lang="en-US" sz="3600" dirty="0">
                <a:solidFill>
                  <a:srgbClr val="1D50C6"/>
                </a:solidFill>
                <a:latin typeface="Be Vietnam Pro" pitchFamily="34" charset="0"/>
                <a:ea typeface="Be Vietnam Pro" pitchFamily="34" charset="-122"/>
                <a:cs typeface="Be Vietnam Pro" pitchFamily="34" charset="-120"/>
              </a:rPr>
              <a:t>→</a:t>
            </a:r>
            <a:endParaRPr lang="en-US" sz="3600" dirty="0"/>
          </a:p>
        </p:txBody>
      </p:sp>
      <p:sp>
        <p:nvSpPr>
          <p:cNvPr id="12" name="Shape 10"/>
          <p:cNvSpPr/>
          <p:nvPr/>
        </p:nvSpPr>
        <p:spPr>
          <a:xfrm>
            <a:off x="6654782" y="2406957"/>
            <a:ext cx="4978436" cy="7270524"/>
          </a:xfrm>
          <a:prstGeom prst="roundRect">
            <a:avLst>
              <a:gd name="adj" fmla="val 3061"/>
            </a:avLst>
          </a:prstGeom>
          <a:solidFill>
            <a:srgbClr val="EEF2FC"/>
          </a:solidFill>
          <a:ln/>
        </p:spPr>
        <p:txBody>
          <a:bodyPr/>
          <a:lstStyle/>
          <a:p>
            <a:endParaRPr lang="en-US"/>
          </a:p>
        </p:txBody>
      </p:sp>
      <p:sp>
        <p:nvSpPr>
          <p:cNvPr id="13" name="Text 11"/>
          <p:cNvSpPr/>
          <p:nvPr/>
        </p:nvSpPr>
        <p:spPr>
          <a:xfrm>
            <a:off x="6978551" y="2768880"/>
            <a:ext cx="4763988" cy="297873"/>
          </a:xfrm>
          <a:prstGeom prst="rect">
            <a:avLst/>
          </a:prstGeom>
          <a:noFill/>
          <a:ln/>
        </p:spPr>
        <p:txBody>
          <a:bodyPr wrap="square" lIns="25400" tIns="25400" rIns="25400" bIns="25400" rtlCol="0" anchor="t">
            <a:normAutofit/>
          </a:bodyPr>
          <a:lstStyle/>
          <a:p>
            <a:pPr marL="0" indent="0" algn="l">
              <a:buNone/>
            </a:pPr>
            <a:r>
              <a:rPr lang="en-US" sz="1650" b="1" kern="0" spc="99" dirty="0">
                <a:solidFill>
                  <a:srgbClr val="1D50C6"/>
                </a:solidFill>
                <a:latin typeface="Be Vietnam Pro" pitchFamily="34" charset="0"/>
                <a:ea typeface="Be Vietnam Pro" pitchFamily="34" charset="-122"/>
                <a:cs typeface="Be Vietnam Pro" pitchFamily="34" charset="-120"/>
              </a:rPr>
              <a:t>BƯỚC 2</a:t>
            </a:r>
            <a:endParaRPr lang="en-US" sz="1650" dirty="0"/>
          </a:p>
        </p:txBody>
      </p:sp>
      <p:sp>
        <p:nvSpPr>
          <p:cNvPr id="14" name="Text 12"/>
          <p:cNvSpPr/>
          <p:nvPr/>
        </p:nvSpPr>
        <p:spPr>
          <a:xfrm>
            <a:off x="6978551" y="3161921"/>
            <a:ext cx="4763988" cy="403811"/>
          </a:xfrm>
          <a:prstGeom prst="rect">
            <a:avLst/>
          </a:prstGeom>
          <a:noFill/>
          <a:ln/>
        </p:spPr>
        <p:txBody>
          <a:bodyPr wrap="square" lIns="25400" tIns="25400" rIns="25400" bIns="25400" rtlCol="0" anchor="t">
            <a:normAutofit/>
          </a:bodyPr>
          <a:lstStyle/>
          <a:p>
            <a:pPr marL="0" indent="0" algn="l">
              <a:lnSpc>
                <a:spcPct val="120000"/>
              </a:lnSpc>
              <a:buNone/>
            </a:pPr>
            <a:r>
              <a:rPr lang="en-US" sz="2400" b="1" dirty="0">
                <a:solidFill>
                  <a:srgbClr val="16223D"/>
                </a:solidFill>
                <a:latin typeface="Be Vietnam Pro" pitchFamily="34" charset="0"/>
                <a:ea typeface="Be Vietnam Pro" pitchFamily="34" charset="-122"/>
                <a:cs typeface="Be Vietnam Pro" pitchFamily="34" charset="-120"/>
              </a:rPr>
              <a:t>Virtual Users</a:t>
            </a:r>
            <a:endParaRPr lang="en-US" sz="2400" dirty="0"/>
          </a:p>
        </p:txBody>
      </p:sp>
      <p:sp>
        <p:nvSpPr>
          <p:cNvPr id="15" name="Shape 13"/>
          <p:cNvSpPr/>
          <p:nvPr/>
        </p:nvSpPr>
        <p:spPr>
          <a:xfrm>
            <a:off x="6978551" y="3737074"/>
            <a:ext cx="4330898" cy="18942"/>
          </a:xfrm>
          <a:prstGeom prst="rect">
            <a:avLst/>
          </a:prstGeom>
          <a:solidFill>
            <a:srgbClr val="DBE3F5"/>
          </a:solidFill>
          <a:ln/>
        </p:spPr>
        <p:txBody>
          <a:bodyPr/>
          <a:lstStyle/>
          <a:p>
            <a:endParaRPr lang="en-US"/>
          </a:p>
        </p:txBody>
      </p:sp>
      <p:sp>
        <p:nvSpPr>
          <p:cNvPr id="16" name="Text 14"/>
          <p:cNvSpPr/>
          <p:nvPr/>
        </p:nvSpPr>
        <p:spPr>
          <a:xfrm>
            <a:off x="6978551" y="3965458"/>
            <a:ext cx="4460825" cy="728663"/>
          </a:xfrm>
          <a:prstGeom prst="rect">
            <a:avLst/>
          </a:prstGeom>
          <a:noFill/>
          <a:ln/>
        </p:spPr>
        <p:txBody>
          <a:bodyPr wrap="square" lIns="25400" tIns="25400" rIns="25400" bIns="25400" rtlCol="0" anchor="t">
            <a:normAutofit/>
          </a:bodyPr>
          <a:lstStyle/>
          <a:p>
            <a:pPr marL="0" indent="0" algn="l">
              <a:lnSpc>
                <a:spcPct val="145000"/>
              </a:lnSpc>
              <a:buNone/>
            </a:pPr>
            <a:r>
              <a:rPr lang="en-US" sz="1875" b="1" dirty="0">
                <a:solidFill>
                  <a:srgbClr val="33405F"/>
                </a:solidFill>
                <a:latin typeface="Be Vietnam Pro" pitchFamily="34" charset="0"/>
                <a:ea typeface="Be Vietnam Pro" pitchFamily="34" charset="-122"/>
                <a:cs typeface="Be Vietnam Pro" pitchFamily="34" charset="-120"/>
              </a:rPr>
              <a:t>1.000 user </a:t>
            </a:r>
            <a:r>
              <a:rPr lang="en-US" sz="1875" dirty="0">
                <a:solidFill>
                  <a:srgbClr val="33405F"/>
                </a:solidFill>
                <a:latin typeface="Be Vietnam Pro" pitchFamily="34" charset="0"/>
                <a:ea typeface="Be Vietnam Pro" pitchFamily="34" charset="-122"/>
                <a:cs typeface="Be Vietnam Pro" pitchFamily="34" charset="-120"/>
              </a:rPr>
              <a:t>với skill vector Gaussian có tương quan giữa các KC.</a:t>
            </a:r>
            <a:endParaRPr lang="en-US" sz="1875" dirty="0"/>
          </a:p>
        </p:txBody>
      </p:sp>
      <p:sp>
        <p:nvSpPr>
          <p:cNvPr id="17" name="Text 15"/>
          <p:cNvSpPr/>
          <p:nvPr/>
        </p:nvSpPr>
        <p:spPr>
          <a:xfrm>
            <a:off x="11804641" y="2406957"/>
            <a:ext cx="533508" cy="7308624"/>
          </a:xfrm>
          <a:prstGeom prst="rect">
            <a:avLst/>
          </a:prstGeom>
          <a:noFill/>
          <a:ln/>
        </p:spPr>
        <p:txBody>
          <a:bodyPr wrap="square" lIns="25400" tIns="25400" rIns="25400" bIns="25400" rtlCol="0" anchor="ctr">
            <a:normAutofit/>
          </a:bodyPr>
          <a:lstStyle/>
          <a:p>
            <a:pPr marL="0" indent="0" algn="l">
              <a:buNone/>
            </a:pPr>
            <a:r>
              <a:rPr lang="en-US" sz="3600" dirty="0">
                <a:solidFill>
                  <a:srgbClr val="1D50C6"/>
                </a:solidFill>
                <a:latin typeface="Be Vietnam Pro" pitchFamily="34" charset="0"/>
                <a:ea typeface="Be Vietnam Pro" pitchFamily="34" charset="-122"/>
                <a:cs typeface="Be Vietnam Pro" pitchFamily="34" charset="-120"/>
              </a:rPr>
              <a:t>→</a:t>
            </a:r>
            <a:endParaRPr lang="en-US" sz="3600" dirty="0"/>
          </a:p>
        </p:txBody>
      </p:sp>
      <p:sp>
        <p:nvSpPr>
          <p:cNvPr id="18" name="Shape 16"/>
          <p:cNvSpPr/>
          <p:nvPr/>
        </p:nvSpPr>
        <p:spPr>
          <a:xfrm>
            <a:off x="12433371" y="2406957"/>
            <a:ext cx="4978436" cy="7270524"/>
          </a:xfrm>
          <a:prstGeom prst="roundRect">
            <a:avLst>
              <a:gd name="adj" fmla="val 3061"/>
            </a:avLst>
          </a:prstGeom>
          <a:solidFill>
            <a:srgbClr val="1D50C6"/>
          </a:solidFill>
          <a:ln/>
        </p:spPr>
        <p:txBody>
          <a:bodyPr/>
          <a:lstStyle/>
          <a:p>
            <a:endParaRPr lang="en-US"/>
          </a:p>
        </p:txBody>
      </p:sp>
      <p:sp>
        <p:nvSpPr>
          <p:cNvPr id="19" name="Text 17"/>
          <p:cNvSpPr/>
          <p:nvPr/>
        </p:nvSpPr>
        <p:spPr>
          <a:xfrm>
            <a:off x="12757141" y="2768880"/>
            <a:ext cx="4763988" cy="297873"/>
          </a:xfrm>
          <a:prstGeom prst="rect">
            <a:avLst/>
          </a:prstGeom>
          <a:noFill/>
          <a:ln/>
        </p:spPr>
        <p:txBody>
          <a:bodyPr wrap="square" lIns="25400" tIns="25400" rIns="25400" bIns="25400" rtlCol="0" anchor="t">
            <a:normAutofit/>
          </a:bodyPr>
          <a:lstStyle/>
          <a:p>
            <a:pPr marL="0" indent="0" algn="l">
              <a:buNone/>
            </a:pPr>
            <a:r>
              <a:rPr lang="en-US" sz="1650" b="1" kern="0" spc="99" dirty="0">
                <a:solidFill>
                  <a:srgbClr val="BCD0FF"/>
                </a:solidFill>
                <a:latin typeface="Be Vietnam Pro" pitchFamily="34" charset="0"/>
                <a:ea typeface="Be Vietnam Pro" pitchFamily="34" charset="-122"/>
                <a:cs typeface="Be Vietnam Pro" pitchFamily="34" charset="-120"/>
              </a:rPr>
              <a:t>BƯỚC 3</a:t>
            </a:r>
            <a:endParaRPr lang="en-US" sz="1650" dirty="0"/>
          </a:p>
        </p:txBody>
      </p:sp>
      <p:sp>
        <p:nvSpPr>
          <p:cNvPr id="20" name="Text 18"/>
          <p:cNvSpPr/>
          <p:nvPr/>
        </p:nvSpPr>
        <p:spPr>
          <a:xfrm>
            <a:off x="12757141" y="3161921"/>
            <a:ext cx="4763988" cy="403811"/>
          </a:xfrm>
          <a:prstGeom prst="rect">
            <a:avLst/>
          </a:prstGeom>
          <a:noFill/>
          <a:ln/>
        </p:spPr>
        <p:txBody>
          <a:bodyPr wrap="square" lIns="25400" tIns="25400" rIns="25400" bIns="25400" rtlCol="0" anchor="t">
            <a:normAutofit/>
          </a:bodyPr>
          <a:lstStyle/>
          <a:p>
            <a:pPr marL="0" indent="0" algn="l">
              <a:lnSpc>
                <a:spcPct val="120000"/>
              </a:lnSpc>
              <a:buNone/>
            </a:pPr>
            <a:r>
              <a:rPr lang="en-US" sz="2400" b="1" dirty="0">
                <a:solidFill>
                  <a:srgbClr val="FFFFFF"/>
                </a:solidFill>
                <a:latin typeface="Be Vietnam Pro" pitchFamily="34" charset="0"/>
                <a:ea typeface="Be Vietnam Pro" pitchFamily="34" charset="-122"/>
                <a:cs typeface="Be Vietnam Pro" pitchFamily="34" charset="-120"/>
              </a:rPr>
              <a:t>Mô phỏng tương tác</a:t>
            </a:r>
            <a:endParaRPr lang="en-US" sz="2400" dirty="0"/>
          </a:p>
        </p:txBody>
      </p:sp>
      <p:sp>
        <p:nvSpPr>
          <p:cNvPr id="21" name="Shape 19"/>
          <p:cNvSpPr/>
          <p:nvPr/>
        </p:nvSpPr>
        <p:spPr>
          <a:xfrm>
            <a:off x="12757141" y="3737074"/>
            <a:ext cx="4330898" cy="18942"/>
          </a:xfrm>
          <a:prstGeom prst="rect">
            <a:avLst/>
          </a:prstGeom>
          <a:solidFill>
            <a:srgbClr val="FFFFFF">
              <a:alpha val="30000"/>
            </a:srgbClr>
          </a:solidFill>
          <a:ln/>
        </p:spPr>
        <p:txBody>
          <a:bodyPr/>
          <a:lstStyle/>
          <a:p>
            <a:endParaRPr lang="en-US"/>
          </a:p>
        </p:txBody>
      </p:sp>
      <p:sp>
        <p:nvSpPr>
          <p:cNvPr id="22" name="Text 20"/>
          <p:cNvSpPr/>
          <p:nvPr/>
        </p:nvSpPr>
        <p:spPr>
          <a:xfrm>
            <a:off x="12757141" y="3965458"/>
            <a:ext cx="4460825" cy="1073944"/>
          </a:xfrm>
          <a:prstGeom prst="rect">
            <a:avLst/>
          </a:prstGeom>
          <a:noFill/>
          <a:ln/>
        </p:spPr>
        <p:txBody>
          <a:bodyPr wrap="square" lIns="25400" tIns="25400" rIns="25400" bIns="25400" rtlCol="0" anchor="t">
            <a:normAutofit/>
          </a:bodyPr>
          <a:lstStyle/>
          <a:p>
            <a:pPr marL="0" indent="0" algn="l">
              <a:lnSpc>
                <a:spcPct val="145000"/>
              </a:lnSpc>
              <a:buNone/>
            </a:pPr>
            <a:r>
              <a:rPr lang="en-US" sz="1875" dirty="0">
                <a:solidFill>
                  <a:srgbClr val="EAF0FF"/>
                </a:solidFill>
                <a:latin typeface="Be Vietnam Pro" pitchFamily="34" charset="0"/>
                <a:ea typeface="Be Vietnam Pro" pitchFamily="34" charset="-122"/>
                <a:cs typeface="Be Vietnam Pro" pitchFamily="34" charset="-120"/>
              </a:rPr>
              <a:t>IRT + </a:t>
            </a:r>
            <a:r>
              <a:rPr lang="en-US" sz="1875" b="1" dirty="0">
                <a:solidFill>
                  <a:srgbClr val="EAF0FF"/>
                </a:solidFill>
                <a:latin typeface="Be Vietnam Pro" pitchFamily="34" charset="0"/>
                <a:ea typeface="Be Vietnam Pro" pitchFamily="34" charset="-122"/>
                <a:cs typeface="Be Vietnam Pro" pitchFamily="34" charset="-120"/>
              </a:rPr>
              <a:t>power-based graded response </a:t>
            </a:r>
            <a:r>
              <a:rPr lang="en-US" sz="1875" dirty="0">
                <a:solidFill>
                  <a:srgbClr val="EAF0FF"/>
                </a:solidFill>
                <a:latin typeface="Be Vietnam Pro" pitchFamily="34" charset="0"/>
                <a:ea typeface="Be Vietnam Pro" pitchFamily="34" charset="-122"/>
                <a:cs typeface="Be Vietnam Pro" pitchFamily="34" charset="-120"/>
              </a:rPr>
              <a:t>+ cập nhật skill sau mỗi câu.</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2921496"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XÂY DỰNG DỮ LIỆU</a:t>
            </a:r>
            <a:endParaRPr lang="en-US" sz="1800" dirty="0"/>
          </a:p>
        </p:txBody>
      </p:sp>
      <p:sp>
        <p:nvSpPr>
          <p:cNvPr id="4" name="Text 2"/>
          <p:cNvSpPr/>
          <p:nvPr/>
        </p:nvSpPr>
        <p:spPr>
          <a:xfrm>
            <a:off x="16376640" y="704769"/>
            <a:ext cx="1111367"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08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Xây dựng &amp; kiểm định Question Bank</a:t>
            </a:r>
            <a:endParaRPr lang="en-US" sz="4350" dirty="0"/>
          </a:p>
        </p:txBody>
      </p:sp>
      <p:sp>
        <p:nvSpPr>
          <p:cNvPr id="6" name="Shape 4"/>
          <p:cNvSpPr/>
          <p:nvPr/>
        </p:nvSpPr>
        <p:spPr>
          <a:xfrm>
            <a:off x="876192" y="2349725"/>
            <a:ext cx="11251270" cy="1147735"/>
          </a:xfrm>
          <a:prstGeom prst="roundRect">
            <a:avLst>
              <a:gd name="adj" fmla="val 11619"/>
            </a:avLst>
          </a:prstGeom>
          <a:ln w="17318">
            <a:solidFill>
              <a:srgbClr val="DBE3F5"/>
            </a:solidFill>
            <a:prstDash val="solid"/>
          </a:ln>
        </p:spPr>
        <p:txBody>
          <a:bodyPr/>
          <a:lstStyle/>
          <a:p>
            <a:endParaRPr lang="en-US"/>
          </a:p>
        </p:txBody>
      </p:sp>
      <p:sp>
        <p:nvSpPr>
          <p:cNvPr id="7" name="Text 5"/>
          <p:cNvSpPr/>
          <p:nvPr/>
        </p:nvSpPr>
        <p:spPr>
          <a:xfrm>
            <a:off x="1179260" y="2595563"/>
            <a:ext cx="11709647"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1D50C6"/>
                </a:solidFill>
                <a:latin typeface="Be Vietnam Pro" pitchFamily="34" charset="0"/>
                <a:ea typeface="Be Vietnam Pro" pitchFamily="34" charset="-122"/>
                <a:cs typeface="Be Vietnam Pro" pitchFamily="34" charset="-120"/>
              </a:rPr>
              <a:t>Thu thập</a:t>
            </a:r>
            <a:endParaRPr lang="en-US" sz="1650" dirty="0"/>
          </a:p>
        </p:txBody>
      </p:sp>
      <p:sp>
        <p:nvSpPr>
          <p:cNvPr id="8" name="Text 6"/>
          <p:cNvSpPr/>
          <p:nvPr/>
        </p:nvSpPr>
        <p:spPr>
          <a:xfrm>
            <a:off x="1179260" y="2931508"/>
            <a:ext cx="11709647"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Obenner (DE), LearningZone (SQL), Youssef / Alexey (DS/DA) — có trích dẫn nguồn.</a:t>
            </a:r>
            <a:endParaRPr lang="en-US" sz="1800" dirty="0"/>
          </a:p>
        </p:txBody>
      </p:sp>
      <p:sp>
        <p:nvSpPr>
          <p:cNvPr id="9" name="Shape 7"/>
          <p:cNvSpPr/>
          <p:nvPr/>
        </p:nvSpPr>
        <p:spPr>
          <a:xfrm>
            <a:off x="876192" y="3668884"/>
            <a:ext cx="11251270" cy="1147735"/>
          </a:xfrm>
          <a:prstGeom prst="roundRect">
            <a:avLst>
              <a:gd name="adj" fmla="val 11619"/>
            </a:avLst>
          </a:prstGeom>
          <a:ln w="17318">
            <a:solidFill>
              <a:srgbClr val="DBE3F5"/>
            </a:solidFill>
            <a:prstDash val="solid"/>
          </a:ln>
        </p:spPr>
        <p:txBody>
          <a:bodyPr/>
          <a:lstStyle/>
          <a:p>
            <a:endParaRPr lang="en-US"/>
          </a:p>
        </p:txBody>
      </p:sp>
      <p:sp>
        <p:nvSpPr>
          <p:cNvPr id="10" name="Text 8"/>
          <p:cNvSpPr/>
          <p:nvPr/>
        </p:nvSpPr>
        <p:spPr>
          <a:xfrm>
            <a:off x="1179260" y="3914721"/>
            <a:ext cx="11709647"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1D50C6"/>
                </a:solidFill>
                <a:latin typeface="Be Vietnam Pro" pitchFamily="34" charset="0"/>
                <a:ea typeface="Be Vietnam Pro" pitchFamily="34" charset="-122"/>
                <a:cs typeface="Be Vietnam Pro" pitchFamily="34" charset="-120"/>
              </a:rPr>
              <a:t>Sinh LLM đa mô hình</a:t>
            </a:r>
            <a:endParaRPr lang="en-US" sz="1650" dirty="0"/>
          </a:p>
        </p:txBody>
      </p:sp>
      <p:sp>
        <p:nvSpPr>
          <p:cNvPr id="11" name="Text 9"/>
          <p:cNvSpPr/>
          <p:nvPr/>
        </p:nvSpPr>
        <p:spPr>
          <a:xfrm>
            <a:off x="1179260" y="4250666"/>
            <a:ext cx="11709647"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Gemini sinh câu → mô hình mạnh tạo đáp án + </a:t>
            </a:r>
            <a:r>
              <a:rPr lang="en-US" sz="1800" i="1" dirty="0">
                <a:solidFill>
                  <a:srgbClr val="33405F"/>
                </a:solidFill>
                <a:latin typeface="Be Vietnam Pro" pitchFamily="34" charset="0"/>
                <a:ea typeface="Be Vietnam Pro" pitchFamily="34" charset="-122"/>
                <a:cs typeface="Be Vietnam Pro" pitchFamily="34" charset="-120"/>
              </a:rPr>
              <a:t>evaluation_points </a:t>
            </a:r>
            <a:r>
              <a:rPr lang="en-US" sz="1800" dirty="0">
                <a:solidFill>
                  <a:srgbClr val="33405F"/>
                </a:solidFill>
                <a:latin typeface="Be Vietnam Pro" pitchFamily="34" charset="0"/>
                <a:ea typeface="Be Vietnam Pro" pitchFamily="34" charset="-122"/>
                <a:cs typeface="Be Vietnam Pro" pitchFamily="34" charset="-120"/>
              </a:rPr>
              <a:t>→ judge chấm chất lượng.</a:t>
            </a:r>
            <a:endParaRPr lang="en-US" sz="1800" dirty="0"/>
          </a:p>
        </p:txBody>
      </p:sp>
      <p:sp>
        <p:nvSpPr>
          <p:cNvPr id="12" name="Shape 10"/>
          <p:cNvSpPr/>
          <p:nvPr/>
        </p:nvSpPr>
        <p:spPr>
          <a:xfrm>
            <a:off x="876192" y="4988042"/>
            <a:ext cx="11251270" cy="1147735"/>
          </a:xfrm>
          <a:prstGeom prst="roundRect">
            <a:avLst>
              <a:gd name="adj" fmla="val 11619"/>
            </a:avLst>
          </a:prstGeom>
          <a:ln w="17318">
            <a:solidFill>
              <a:srgbClr val="DBE3F5"/>
            </a:solidFill>
            <a:prstDash val="solid"/>
          </a:ln>
        </p:spPr>
        <p:txBody>
          <a:bodyPr/>
          <a:lstStyle/>
          <a:p>
            <a:endParaRPr lang="en-US"/>
          </a:p>
        </p:txBody>
      </p:sp>
      <p:sp>
        <p:nvSpPr>
          <p:cNvPr id="13" name="Text 11"/>
          <p:cNvSpPr/>
          <p:nvPr/>
        </p:nvSpPr>
        <p:spPr>
          <a:xfrm>
            <a:off x="1179260" y="5233879"/>
            <a:ext cx="11709647"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1D50C6"/>
                </a:solidFill>
                <a:latin typeface="Be Vietnam Pro" pitchFamily="34" charset="0"/>
                <a:ea typeface="Be Vietnam Pro" pitchFamily="34" charset="-122"/>
                <a:cs typeface="Be Vietnam Pro" pitchFamily="34" charset="-120"/>
              </a:rPr>
              <a:t>Kiểm soát chất lượng</a:t>
            </a:r>
            <a:endParaRPr lang="en-US" sz="1650" dirty="0"/>
          </a:p>
        </p:txBody>
      </p:sp>
      <p:sp>
        <p:nvSpPr>
          <p:cNvPr id="14" name="Text 12"/>
          <p:cNvSpPr/>
          <p:nvPr/>
        </p:nvSpPr>
        <p:spPr>
          <a:xfrm>
            <a:off x="1179260" y="5569825"/>
            <a:ext cx="11709647"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Kiểm schema → QC bằng RAG → human review → chuẩn hóa </a:t>
            </a:r>
            <a:r>
              <a:rPr lang="en-US" sz="1800" b="1" dirty="0">
                <a:solidFill>
                  <a:srgbClr val="33405F"/>
                </a:solidFill>
                <a:latin typeface="Be Vietnam Pro" pitchFamily="34" charset="0"/>
                <a:ea typeface="Be Vietnam Pro" pitchFamily="34" charset="-122"/>
                <a:cs typeface="Be Vietnam Pro" pitchFamily="34" charset="-120"/>
              </a:rPr>
              <a:t>82 skill_groups → 17 KC</a:t>
            </a:r>
            <a:r>
              <a:rPr lang="en-US" sz="1800" dirty="0">
                <a:solidFill>
                  <a:srgbClr val="33405F"/>
                </a:solidFill>
                <a:latin typeface="Be Vietnam Pro" pitchFamily="34" charset="0"/>
                <a:ea typeface="Be Vietnam Pro" pitchFamily="34" charset="-122"/>
                <a:cs typeface="Be Vietnam Pro" pitchFamily="34" charset="-120"/>
              </a:rPr>
              <a:t>.</a:t>
            </a:r>
            <a:endParaRPr lang="en-US" sz="1800" dirty="0"/>
          </a:p>
        </p:txBody>
      </p:sp>
      <p:sp>
        <p:nvSpPr>
          <p:cNvPr id="15" name="Shape 13"/>
          <p:cNvSpPr/>
          <p:nvPr/>
        </p:nvSpPr>
        <p:spPr>
          <a:xfrm>
            <a:off x="12451231" y="2349725"/>
            <a:ext cx="4960576" cy="7327756"/>
          </a:xfrm>
          <a:prstGeom prst="roundRect">
            <a:avLst>
              <a:gd name="adj" fmla="val 3072"/>
            </a:avLst>
          </a:prstGeom>
          <a:solidFill>
            <a:srgbClr val="1D50C6"/>
          </a:solidFill>
          <a:ln/>
        </p:spPr>
        <p:txBody>
          <a:bodyPr/>
          <a:lstStyle/>
          <a:p>
            <a:endParaRPr lang="en-US"/>
          </a:p>
        </p:txBody>
      </p:sp>
      <p:sp>
        <p:nvSpPr>
          <p:cNvPr id="16" name="Text 14"/>
          <p:cNvSpPr/>
          <p:nvPr/>
        </p:nvSpPr>
        <p:spPr>
          <a:xfrm>
            <a:off x="12794077" y="4641679"/>
            <a:ext cx="4702373" cy="723927"/>
          </a:xfrm>
          <a:prstGeom prst="rect">
            <a:avLst/>
          </a:prstGeom>
          <a:noFill/>
          <a:ln/>
        </p:spPr>
        <p:txBody>
          <a:bodyPr wrap="square" lIns="25400" tIns="25400" rIns="25400" bIns="25400" rtlCol="0" anchor="t">
            <a:normAutofit/>
          </a:bodyPr>
          <a:lstStyle/>
          <a:p>
            <a:pPr marL="0" indent="0" algn="l">
              <a:lnSpc>
                <a:spcPct val="100000"/>
              </a:lnSpc>
              <a:buNone/>
            </a:pPr>
            <a:r>
              <a:rPr lang="en-US" sz="5400" b="1" dirty="0">
                <a:solidFill>
                  <a:srgbClr val="FFFFFF"/>
                </a:solidFill>
                <a:latin typeface="Be Vietnam Pro" pitchFamily="34" charset="0"/>
                <a:ea typeface="Be Vietnam Pro" pitchFamily="34" charset="-122"/>
                <a:cs typeface="Be Vietnam Pro" pitchFamily="34" charset="-120"/>
              </a:rPr>
              <a:t>1.578</a:t>
            </a:r>
            <a:endParaRPr lang="en-US" sz="5400" dirty="0"/>
          </a:p>
        </p:txBody>
      </p:sp>
      <p:sp>
        <p:nvSpPr>
          <p:cNvPr id="17" name="Text 15"/>
          <p:cNvSpPr/>
          <p:nvPr/>
        </p:nvSpPr>
        <p:spPr>
          <a:xfrm>
            <a:off x="12794077" y="5422756"/>
            <a:ext cx="4702373" cy="333727"/>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CDD9FF"/>
                </a:solidFill>
                <a:latin typeface="Be Vietnam Pro" pitchFamily="34" charset="0"/>
                <a:ea typeface="Be Vietnam Pro" pitchFamily="34" charset="-122"/>
                <a:cs typeface="Be Vietnam Pro" pitchFamily="34" charset="-120"/>
              </a:rPr>
              <a:t>câu — snapshot huấn luyện KT</a:t>
            </a:r>
            <a:endParaRPr lang="en-US" sz="1725" dirty="0"/>
          </a:p>
        </p:txBody>
      </p:sp>
      <p:sp>
        <p:nvSpPr>
          <p:cNvPr id="18" name="Shape 16"/>
          <p:cNvSpPr/>
          <p:nvPr/>
        </p:nvSpPr>
        <p:spPr>
          <a:xfrm>
            <a:off x="12794077" y="6004132"/>
            <a:ext cx="4274885" cy="18942"/>
          </a:xfrm>
          <a:prstGeom prst="rect">
            <a:avLst/>
          </a:prstGeom>
          <a:solidFill>
            <a:srgbClr val="FFFFFF">
              <a:alpha val="25000"/>
            </a:srgbClr>
          </a:solidFill>
          <a:ln/>
        </p:spPr>
        <p:txBody>
          <a:bodyPr/>
          <a:lstStyle/>
          <a:p>
            <a:endParaRPr lang="en-US"/>
          </a:p>
        </p:txBody>
      </p:sp>
      <p:sp>
        <p:nvSpPr>
          <p:cNvPr id="19" name="Text 17"/>
          <p:cNvSpPr/>
          <p:nvPr/>
        </p:nvSpPr>
        <p:spPr>
          <a:xfrm>
            <a:off x="12794077" y="6308824"/>
            <a:ext cx="4702373" cy="723927"/>
          </a:xfrm>
          <a:prstGeom prst="rect">
            <a:avLst/>
          </a:prstGeom>
          <a:noFill/>
          <a:ln/>
        </p:spPr>
        <p:txBody>
          <a:bodyPr wrap="square" lIns="25400" tIns="25400" rIns="25400" bIns="25400" rtlCol="0" anchor="t">
            <a:normAutofit/>
          </a:bodyPr>
          <a:lstStyle/>
          <a:p>
            <a:pPr marL="0" indent="0" algn="l">
              <a:lnSpc>
                <a:spcPct val="100000"/>
              </a:lnSpc>
              <a:buNone/>
            </a:pPr>
            <a:r>
              <a:rPr lang="en-US" sz="5400" b="1" dirty="0">
                <a:solidFill>
                  <a:srgbClr val="FFFFFF"/>
                </a:solidFill>
                <a:latin typeface="Be Vietnam Pro" pitchFamily="34" charset="0"/>
                <a:ea typeface="Be Vietnam Pro" pitchFamily="34" charset="-122"/>
                <a:cs typeface="Be Vietnam Pro" pitchFamily="34" charset="-120"/>
              </a:rPr>
              <a:t>2.122</a:t>
            </a:r>
            <a:endParaRPr lang="en-US" sz="5400" dirty="0"/>
          </a:p>
        </p:txBody>
      </p:sp>
      <p:sp>
        <p:nvSpPr>
          <p:cNvPr id="20" name="Text 18"/>
          <p:cNvSpPr/>
          <p:nvPr/>
        </p:nvSpPr>
        <p:spPr>
          <a:xfrm>
            <a:off x="12794077" y="7089901"/>
            <a:ext cx="4702373" cy="333727"/>
          </a:xfrm>
          <a:prstGeom prst="rect">
            <a:avLst/>
          </a:prstGeom>
          <a:noFill/>
          <a:ln/>
        </p:spPr>
        <p:txBody>
          <a:bodyPr wrap="square" lIns="25400" tIns="25400" rIns="25400" bIns="25400" rtlCol="0" anchor="t">
            <a:normAutofit/>
          </a:bodyPr>
          <a:lstStyle/>
          <a:p>
            <a:pPr marL="0" indent="0" algn="l">
              <a:lnSpc>
                <a:spcPct val="135000"/>
              </a:lnSpc>
              <a:buNone/>
            </a:pPr>
            <a:r>
              <a:rPr lang="en-US" sz="1725" dirty="0">
                <a:solidFill>
                  <a:srgbClr val="CDD9FF"/>
                </a:solidFill>
                <a:latin typeface="Be Vietnam Pro" pitchFamily="34" charset="0"/>
                <a:ea typeface="Be Vietnam Pro" pitchFamily="34" charset="-122"/>
                <a:cs typeface="Be Vietnam Pro" pitchFamily="34" charset="-120"/>
              </a:rPr>
              <a:t>câu — bản triển khai ứng dụng</a:t>
            </a:r>
            <a:endParaRPr lang="en-US" sz="17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531840"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BỘ DỮ LIỆU MÔ PHỎNG</a:t>
            </a:r>
            <a:endParaRPr lang="en-US" sz="1800" dirty="0"/>
          </a:p>
        </p:txBody>
      </p:sp>
      <p:sp>
        <p:nvSpPr>
          <p:cNvPr id="4" name="Text 2"/>
          <p:cNvSpPr/>
          <p:nvPr/>
        </p:nvSpPr>
        <p:spPr>
          <a:xfrm>
            <a:off x="16368116" y="704769"/>
            <a:ext cx="111989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09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Thống kê bộ dữ liệu</a:t>
            </a:r>
            <a:endParaRPr lang="en-US" sz="4350" dirty="0"/>
          </a:p>
        </p:txBody>
      </p:sp>
      <p:sp>
        <p:nvSpPr>
          <p:cNvPr id="6" name="Shape 4"/>
          <p:cNvSpPr/>
          <p:nvPr/>
        </p:nvSpPr>
        <p:spPr>
          <a:xfrm>
            <a:off x="876192" y="2953156"/>
            <a:ext cx="8267808" cy="9525"/>
          </a:xfrm>
          <a:prstGeom prst="rect">
            <a:avLst/>
          </a:prstGeom>
          <a:solidFill>
            <a:srgbClr val="DBE3F5"/>
          </a:solidFill>
          <a:ln/>
        </p:spPr>
        <p:txBody>
          <a:bodyPr/>
          <a:lstStyle/>
          <a:p>
            <a:endParaRPr lang="en-US"/>
          </a:p>
        </p:txBody>
      </p:sp>
      <p:sp>
        <p:nvSpPr>
          <p:cNvPr id="7" name="Text 5"/>
          <p:cNvSpPr/>
          <p:nvPr/>
        </p:nvSpPr>
        <p:spPr>
          <a:xfrm>
            <a:off x="933342" y="2502125"/>
            <a:ext cx="3744502" cy="345389"/>
          </a:xfrm>
          <a:prstGeom prst="rect">
            <a:avLst/>
          </a:prstGeom>
          <a:noFill/>
          <a:ln/>
        </p:spPr>
        <p:txBody>
          <a:bodyPr wrap="square" lIns="25400" tIns="25400" rIns="25400" bIns="25400" rtlCol="0" anchor="ctr">
            <a:normAutofit/>
          </a:bodyPr>
          <a:lstStyle/>
          <a:p>
            <a:pPr marL="0" indent="0" algn="l">
              <a:buNone/>
            </a:pPr>
            <a:r>
              <a:rPr lang="en-US" sz="1875" dirty="0">
                <a:solidFill>
                  <a:srgbClr val="5D6B88"/>
                </a:solidFill>
                <a:latin typeface="Be Vietnam Pro" pitchFamily="34" charset="0"/>
                <a:ea typeface="Be Vietnam Pro" pitchFamily="34" charset="-122"/>
                <a:cs typeface="Be Vietnam Pro" pitchFamily="34" charset="-120"/>
              </a:rPr>
              <a:t>Người dùng</a:t>
            </a:r>
            <a:endParaRPr lang="en-US" sz="1875" dirty="0"/>
          </a:p>
        </p:txBody>
      </p:sp>
      <p:sp>
        <p:nvSpPr>
          <p:cNvPr id="8" name="Text 6"/>
          <p:cNvSpPr/>
          <p:nvPr/>
        </p:nvSpPr>
        <p:spPr>
          <a:xfrm>
            <a:off x="4544109" y="2502125"/>
            <a:ext cx="4542740" cy="345389"/>
          </a:xfrm>
          <a:prstGeom prst="rect">
            <a:avLst/>
          </a:prstGeom>
          <a:noFill/>
          <a:ln/>
        </p:spPr>
        <p:txBody>
          <a:bodyPr wrap="square" lIns="25400" tIns="25400" rIns="25400" bIns="25400" rtlCol="0" anchor="ctr">
            <a:normAutofit/>
          </a:bodyPr>
          <a:lstStyle/>
          <a:p>
            <a:pPr marL="0" indent="0" algn="r">
              <a:buNone/>
            </a:pPr>
            <a:r>
              <a:rPr lang="en-US" sz="1875" b="1" dirty="0">
                <a:solidFill>
                  <a:srgbClr val="16223D"/>
                </a:solidFill>
                <a:latin typeface="Be Vietnam Pro" pitchFamily="34" charset="0"/>
                <a:ea typeface="Be Vietnam Pro" pitchFamily="34" charset="-122"/>
                <a:cs typeface="Be Vietnam Pro" pitchFamily="34" charset="-120"/>
              </a:rPr>
              <a:t>1.000 </a:t>
            </a:r>
            <a:r>
              <a:rPr lang="en-US" sz="1575" dirty="0">
                <a:solidFill>
                  <a:srgbClr val="5D6B88"/>
                </a:solidFill>
                <a:latin typeface="Be Vietnam Pro" pitchFamily="34" charset="0"/>
                <a:ea typeface="Be Vietnam Pro" pitchFamily="34" charset="-122"/>
                <a:cs typeface="Be Vietnam Pro" pitchFamily="34" charset="-120"/>
              </a:rPr>
              <a:t>(DA 334 / DS 333 / DE 333)</a:t>
            </a:r>
            <a:endParaRPr lang="en-US" sz="1875" dirty="0"/>
          </a:p>
        </p:txBody>
      </p:sp>
      <p:sp>
        <p:nvSpPr>
          <p:cNvPr id="9" name="Shape 7"/>
          <p:cNvSpPr/>
          <p:nvPr/>
        </p:nvSpPr>
        <p:spPr>
          <a:xfrm>
            <a:off x="876192" y="3569575"/>
            <a:ext cx="8267808" cy="9525"/>
          </a:xfrm>
          <a:prstGeom prst="rect">
            <a:avLst/>
          </a:prstGeom>
          <a:solidFill>
            <a:srgbClr val="DBE3F5"/>
          </a:solidFill>
          <a:ln/>
        </p:spPr>
        <p:txBody>
          <a:bodyPr/>
          <a:lstStyle/>
          <a:p>
            <a:endParaRPr lang="en-US"/>
          </a:p>
        </p:txBody>
      </p:sp>
      <p:sp>
        <p:nvSpPr>
          <p:cNvPr id="10" name="Text 8"/>
          <p:cNvSpPr/>
          <p:nvPr/>
        </p:nvSpPr>
        <p:spPr>
          <a:xfrm>
            <a:off x="933342" y="3114215"/>
            <a:ext cx="3744502" cy="349719"/>
          </a:xfrm>
          <a:prstGeom prst="rect">
            <a:avLst/>
          </a:prstGeom>
          <a:noFill/>
          <a:ln/>
        </p:spPr>
        <p:txBody>
          <a:bodyPr wrap="square" lIns="25400" tIns="25400" rIns="25400" bIns="25400" rtlCol="0" anchor="ctr">
            <a:normAutofit/>
          </a:bodyPr>
          <a:lstStyle/>
          <a:p>
            <a:pPr marL="0" indent="0" algn="l">
              <a:buNone/>
            </a:pPr>
            <a:r>
              <a:rPr lang="en-US" sz="1875" dirty="0">
                <a:solidFill>
                  <a:srgbClr val="5D6B88"/>
                </a:solidFill>
                <a:latin typeface="Be Vietnam Pro" pitchFamily="34" charset="0"/>
                <a:ea typeface="Be Vietnam Pro" pitchFamily="34" charset="-122"/>
                <a:cs typeface="Be Vietnam Pro" pitchFamily="34" charset="-120"/>
              </a:rPr>
              <a:t>Câu hỏi (snapshot KT)</a:t>
            </a:r>
            <a:endParaRPr lang="en-US" sz="1875" dirty="0"/>
          </a:p>
        </p:txBody>
      </p:sp>
      <p:sp>
        <p:nvSpPr>
          <p:cNvPr id="11" name="Text 9"/>
          <p:cNvSpPr/>
          <p:nvPr/>
        </p:nvSpPr>
        <p:spPr>
          <a:xfrm>
            <a:off x="4544109" y="3114215"/>
            <a:ext cx="4542740" cy="349719"/>
          </a:xfrm>
          <a:prstGeom prst="rect">
            <a:avLst/>
          </a:prstGeom>
          <a:noFill/>
          <a:ln/>
        </p:spPr>
        <p:txBody>
          <a:bodyPr wrap="square" lIns="25400" tIns="25400" rIns="25400" bIns="25400" rtlCol="0" anchor="ctr">
            <a:normAutofit/>
          </a:bodyPr>
          <a:lstStyle/>
          <a:p>
            <a:pPr marL="0" indent="0" algn="r">
              <a:buNone/>
            </a:pPr>
            <a:r>
              <a:rPr lang="en-US" sz="1875" b="1" dirty="0">
                <a:solidFill>
                  <a:srgbClr val="16223D"/>
                </a:solidFill>
                <a:latin typeface="Be Vietnam Pro" pitchFamily="34" charset="0"/>
                <a:ea typeface="Be Vietnam Pro" pitchFamily="34" charset="-122"/>
                <a:cs typeface="Be Vietnam Pro" pitchFamily="34" charset="-120"/>
              </a:rPr>
              <a:t>1.578</a:t>
            </a:r>
            <a:endParaRPr lang="en-US" sz="1875" dirty="0"/>
          </a:p>
        </p:txBody>
      </p:sp>
      <p:sp>
        <p:nvSpPr>
          <p:cNvPr id="12" name="Shape 10"/>
          <p:cNvSpPr/>
          <p:nvPr/>
        </p:nvSpPr>
        <p:spPr>
          <a:xfrm>
            <a:off x="876192" y="4185994"/>
            <a:ext cx="8267808" cy="9525"/>
          </a:xfrm>
          <a:prstGeom prst="rect">
            <a:avLst/>
          </a:prstGeom>
          <a:solidFill>
            <a:srgbClr val="DBE3F5"/>
          </a:solidFill>
          <a:ln/>
        </p:spPr>
        <p:txBody>
          <a:bodyPr/>
          <a:lstStyle/>
          <a:p>
            <a:endParaRPr lang="en-US"/>
          </a:p>
        </p:txBody>
      </p:sp>
      <p:sp>
        <p:nvSpPr>
          <p:cNvPr id="13" name="Text 11"/>
          <p:cNvSpPr/>
          <p:nvPr/>
        </p:nvSpPr>
        <p:spPr>
          <a:xfrm>
            <a:off x="933342" y="3730634"/>
            <a:ext cx="3744502" cy="349719"/>
          </a:xfrm>
          <a:prstGeom prst="rect">
            <a:avLst/>
          </a:prstGeom>
          <a:noFill/>
          <a:ln/>
        </p:spPr>
        <p:txBody>
          <a:bodyPr wrap="square" lIns="25400" tIns="25400" rIns="25400" bIns="25400" rtlCol="0" anchor="ctr">
            <a:normAutofit/>
          </a:bodyPr>
          <a:lstStyle/>
          <a:p>
            <a:pPr marL="0" indent="0" algn="l">
              <a:buNone/>
            </a:pPr>
            <a:r>
              <a:rPr lang="en-US" sz="1875" dirty="0">
                <a:solidFill>
                  <a:srgbClr val="5D6B88"/>
                </a:solidFill>
                <a:latin typeface="Be Vietnam Pro" pitchFamily="34" charset="0"/>
                <a:ea typeface="Be Vietnam Pro" pitchFamily="34" charset="-122"/>
                <a:cs typeface="Be Vietnam Pro" pitchFamily="34" charset="-120"/>
              </a:rPr>
              <a:t>Knowledge Components</a:t>
            </a:r>
            <a:endParaRPr lang="en-US" sz="1875" dirty="0"/>
          </a:p>
        </p:txBody>
      </p:sp>
      <p:sp>
        <p:nvSpPr>
          <p:cNvPr id="14" name="Text 12"/>
          <p:cNvSpPr/>
          <p:nvPr/>
        </p:nvSpPr>
        <p:spPr>
          <a:xfrm>
            <a:off x="4544109" y="3730634"/>
            <a:ext cx="4542740" cy="349719"/>
          </a:xfrm>
          <a:prstGeom prst="rect">
            <a:avLst/>
          </a:prstGeom>
          <a:noFill/>
          <a:ln/>
        </p:spPr>
        <p:txBody>
          <a:bodyPr wrap="square" lIns="25400" tIns="25400" rIns="25400" bIns="25400" rtlCol="0" anchor="ctr">
            <a:normAutofit/>
          </a:bodyPr>
          <a:lstStyle/>
          <a:p>
            <a:pPr marL="0" indent="0" algn="r">
              <a:buNone/>
            </a:pPr>
            <a:r>
              <a:rPr lang="en-US" sz="1875" b="1" dirty="0">
                <a:solidFill>
                  <a:srgbClr val="16223D"/>
                </a:solidFill>
                <a:latin typeface="Be Vietnam Pro" pitchFamily="34" charset="0"/>
                <a:ea typeface="Be Vietnam Pro" pitchFamily="34" charset="-122"/>
                <a:cs typeface="Be Vietnam Pro" pitchFamily="34" charset="-120"/>
              </a:rPr>
              <a:t>17</a:t>
            </a:r>
            <a:endParaRPr lang="en-US" sz="1875" dirty="0"/>
          </a:p>
        </p:txBody>
      </p:sp>
      <p:sp>
        <p:nvSpPr>
          <p:cNvPr id="15" name="Shape 13"/>
          <p:cNvSpPr/>
          <p:nvPr/>
        </p:nvSpPr>
        <p:spPr>
          <a:xfrm>
            <a:off x="876192" y="4802413"/>
            <a:ext cx="8267808" cy="9525"/>
          </a:xfrm>
          <a:prstGeom prst="rect">
            <a:avLst/>
          </a:prstGeom>
          <a:solidFill>
            <a:srgbClr val="DBE3F5"/>
          </a:solidFill>
          <a:ln/>
        </p:spPr>
        <p:txBody>
          <a:bodyPr/>
          <a:lstStyle/>
          <a:p>
            <a:endParaRPr lang="en-US"/>
          </a:p>
        </p:txBody>
      </p:sp>
      <p:sp>
        <p:nvSpPr>
          <p:cNvPr id="16" name="Text 14"/>
          <p:cNvSpPr/>
          <p:nvPr/>
        </p:nvSpPr>
        <p:spPr>
          <a:xfrm>
            <a:off x="933342" y="4347053"/>
            <a:ext cx="3744502" cy="349719"/>
          </a:xfrm>
          <a:prstGeom prst="rect">
            <a:avLst/>
          </a:prstGeom>
          <a:noFill/>
          <a:ln/>
        </p:spPr>
        <p:txBody>
          <a:bodyPr wrap="square" lIns="25400" tIns="25400" rIns="25400" bIns="25400" rtlCol="0" anchor="ctr">
            <a:normAutofit/>
          </a:bodyPr>
          <a:lstStyle/>
          <a:p>
            <a:pPr marL="0" indent="0" algn="l">
              <a:buNone/>
            </a:pPr>
            <a:r>
              <a:rPr lang="en-US" sz="1875" dirty="0">
                <a:solidFill>
                  <a:srgbClr val="5D6B88"/>
                </a:solidFill>
                <a:latin typeface="Be Vietnam Pro" pitchFamily="34" charset="0"/>
                <a:ea typeface="Be Vietnam Pro" pitchFamily="34" charset="-122"/>
                <a:cs typeface="Be Vietnam Pro" pitchFamily="34" charset="-120"/>
              </a:rPr>
              <a:t>Tương tác</a:t>
            </a:r>
            <a:endParaRPr lang="en-US" sz="1875" dirty="0"/>
          </a:p>
        </p:txBody>
      </p:sp>
      <p:sp>
        <p:nvSpPr>
          <p:cNvPr id="17" name="Text 15"/>
          <p:cNvSpPr/>
          <p:nvPr/>
        </p:nvSpPr>
        <p:spPr>
          <a:xfrm>
            <a:off x="4544109" y="4347053"/>
            <a:ext cx="4542740" cy="349719"/>
          </a:xfrm>
          <a:prstGeom prst="rect">
            <a:avLst/>
          </a:prstGeom>
          <a:noFill/>
          <a:ln/>
        </p:spPr>
        <p:txBody>
          <a:bodyPr wrap="square" lIns="25400" tIns="25400" rIns="25400" bIns="25400" rtlCol="0" anchor="ctr">
            <a:normAutofit/>
          </a:bodyPr>
          <a:lstStyle/>
          <a:p>
            <a:pPr marL="0" indent="0" algn="r">
              <a:buNone/>
            </a:pPr>
            <a:r>
              <a:rPr lang="en-US" sz="1875" b="1" dirty="0">
                <a:solidFill>
                  <a:srgbClr val="16223D"/>
                </a:solidFill>
                <a:latin typeface="Be Vietnam Pro" pitchFamily="34" charset="0"/>
                <a:ea typeface="Be Vietnam Pro" pitchFamily="34" charset="-122"/>
                <a:cs typeface="Be Vietnam Pro" pitchFamily="34" charset="-120"/>
              </a:rPr>
              <a:t>≈ 40.140 </a:t>
            </a:r>
            <a:r>
              <a:rPr lang="en-US" sz="1575" dirty="0">
                <a:solidFill>
                  <a:srgbClr val="5D6B88"/>
                </a:solidFill>
                <a:latin typeface="Be Vietnam Pro" pitchFamily="34" charset="0"/>
                <a:ea typeface="Be Vietnam Pro" pitchFamily="34" charset="-122"/>
                <a:cs typeface="Be Vietnam Pro" pitchFamily="34" charset="-120"/>
              </a:rPr>
              <a:t>(TB 40,1/user)</a:t>
            </a:r>
            <a:endParaRPr lang="en-US" sz="1875" dirty="0"/>
          </a:p>
        </p:txBody>
      </p:sp>
      <p:sp>
        <p:nvSpPr>
          <p:cNvPr id="18" name="Shape 16"/>
          <p:cNvSpPr/>
          <p:nvPr/>
        </p:nvSpPr>
        <p:spPr>
          <a:xfrm>
            <a:off x="876192" y="5418832"/>
            <a:ext cx="8267808" cy="9525"/>
          </a:xfrm>
          <a:prstGeom prst="rect">
            <a:avLst/>
          </a:prstGeom>
          <a:solidFill>
            <a:srgbClr val="DBE3F5"/>
          </a:solidFill>
          <a:ln/>
        </p:spPr>
        <p:txBody>
          <a:bodyPr/>
          <a:lstStyle/>
          <a:p>
            <a:endParaRPr lang="en-US"/>
          </a:p>
        </p:txBody>
      </p:sp>
      <p:sp>
        <p:nvSpPr>
          <p:cNvPr id="19" name="Text 17"/>
          <p:cNvSpPr/>
          <p:nvPr/>
        </p:nvSpPr>
        <p:spPr>
          <a:xfrm>
            <a:off x="933342" y="4963472"/>
            <a:ext cx="3744502" cy="349719"/>
          </a:xfrm>
          <a:prstGeom prst="rect">
            <a:avLst/>
          </a:prstGeom>
          <a:noFill/>
          <a:ln/>
        </p:spPr>
        <p:txBody>
          <a:bodyPr wrap="square" lIns="25400" tIns="25400" rIns="25400" bIns="25400" rtlCol="0" anchor="ctr">
            <a:normAutofit/>
          </a:bodyPr>
          <a:lstStyle/>
          <a:p>
            <a:pPr marL="0" indent="0" algn="l">
              <a:buNone/>
            </a:pPr>
            <a:r>
              <a:rPr lang="en-US" sz="1875" dirty="0">
                <a:solidFill>
                  <a:srgbClr val="5D6B88"/>
                </a:solidFill>
                <a:latin typeface="Be Vietnam Pro" pitchFamily="34" charset="0"/>
                <a:ea typeface="Be Vietnam Pro" pitchFamily="34" charset="-122"/>
                <a:cs typeface="Be Vietnam Pro" pitchFamily="34" charset="-120"/>
              </a:rPr>
              <a:t>Split train / val / test</a:t>
            </a:r>
            <a:endParaRPr lang="en-US" sz="1875" dirty="0"/>
          </a:p>
        </p:txBody>
      </p:sp>
      <p:sp>
        <p:nvSpPr>
          <p:cNvPr id="20" name="Text 18"/>
          <p:cNvSpPr/>
          <p:nvPr/>
        </p:nvSpPr>
        <p:spPr>
          <a:xfrm>
            <a:off x="4544109" y="4963472"/>
            <a:ext cx="4542740" cy="349719"/>
          </a:xfrm>
          <a:prstGeom prst="rect">
            <a:avLst/>
          </a:prstGeom>
          <a:noFill/>
          <a:ln/>
        </p:spPr>
        <p:txBody>
          <a:bodyPr wrap="square" lIns="25400" tIns="25400" rIns="25400" bIns="25400" rtlCol="0" anchor="ctr">
            <a:normAutofit/>
          </a:bodyPr>
          <a:lstStyle/>
          <a:p>
            <a:pPr marL="0" indent="0" algn="r">
              <a:buNone/>
            </a:pPr>
            <a:r>
              <a:rPr lang="en-US" sz="1875" b="1" dirty="0">
                <a:solidFill>
                  <a:srgbClr val="16223D"/>
                </a:solidFill>
                <a:latin typeface="Be Vietnam Pro" pitchFamily="34" charset="0"/>
                <a:ea typeface="Be Vietnam Pro" pitchFamily="34" charset="-122"/>
                <a:cs typeface="Be Vietnam Pro" pitchFamily="34" charset="-120"/>
              </a:rPr>
              <a:t>700 / 150 / 150</a:t>
            </a:r>
            <a:endParaRPr lang="en-US" sz="1875" dirty="0"/>
          </a:p>
        </p:txBody>
      </p:sp>
      <p:sp>
        <p:nvSpPr>
          <p:cNvPr id="21" name="Text 19"/>
          <p:cNvSpPr/>
          <p:nvPr/>
        </p:nvSpPr>
        <p:spPr>
          <a:xfrm>
            <a:off x="933342" y="5579891"/>
            <a:ext cx="3744502" cy="345389"/>
          </a:xfrm>
          <a:prstGeom prst="rect">
            <a:avLst/>
          </a:prstGeom>
          <a:noFill/>
          <a:ln/>
        </p:spPr>
        <p:txBody>
          <a:bodyPr wrap="square" lIns="25400" tIns="25400" rIns="25400" bIns="25400" rtlCol="0" anchor="ctr">
            <a:normAutofit/>
          </a:bodyPr>
          <a:lstStyle/>
          <a:p>
            <a:pPr marL="0" indent="0" algn="l">
              <a:buNone/>
            </a:pPr>
            <a:r>
              <a:rPr lang="en-US" sz="1875" dirty="0">
                <a:solidFill>
                  <a:srgbClr val="5D6B88"/>
                </a:solidFill>
                <a:latin typeface="Be Vietnam Pro" pitchFamily="34" charset="0"/>
                <a:ea typeface="Be Vietnam Pro" pitchFamily="34" charset="-122"/>
                <a:cs typeface="Be Vietnam Pro" pitchFamily="34" charset="-120"/>
              </a:rPr>
              <a:t>Pass rate (Q ≥ 1)</a:t>
            </a:r>
            <a:endParaRPr lang="en-US" sz="1875" dirty="0"/>
          </a:p>
        </p:txBody>
      </p:sp>
      <p:sp>
        <p:nvSpPr>
          <p:cNvPr id="22" name="Text 20"/>
          <p:cNvSpPr/>
          <p:nvPr/>
        </p:nvSpPr>
        <p:spPr>
          <a:xfrm>
            <a:off x="4544109" y="5579891"/>
            <a:ext cx="4542740" cy="345389"/>
          </a:xfrm>
          <a:prstGeom prst="rect">
            <a:avLst/>
          </a:prstGeom>
          <a:noFill/>
          <a:ln/>
        </p:spPr>
        <p:txBody>
          <a:bodyPr wrap="square" lIns="25400" tIns="25400" rIns="25400" bIns="25400" rtlCol="0" anchor="ctr">
            <a:normAutofit/>
          </a:bodyPr>
          <a:lstStyle/>
          <a:p>
            <a:pPr marL="0" indent="0" algn="r">
              <a:buNone/>
            </a:pPr>
            <a:r>
              <a:rPr lang="en-US" sz="1875" b="1" dirty="0">
                <a:solidFill>
                  <a:srgbClr val="1D50C6"/>
                </a:solidFill>
                <a:latin typeface="Be Vietnam Pro" pitchFamily="34" charset="0"/>
                <a:ea typeface="Be Vietnam Pro" pitchFamily="34" charset="-122"/>
                <a:cs typeface="Be Vietnam Pro" pitchFamily="34" charset="-120"/>
              </a:rPr>
              <a:t>82,5%</a:t>
            </a:r>
            <a:endParaRPr lang="en-US" sz="1875" dirty="0"/>
          </a:p>
        </p:txBody>
      </p:sp>
      <p:sp>
        <p:nvSpPr>
          <p:cNvPr id="23" name="Shape 21"/>
          <p:cNvSpPr/>
          <p:nvPr/>
        </p:nvSpPr>
        <p:spPr>
          <a:xfrm>
            <a:off x="876192" y="9036708"/>
            <a:ext cx="8267808" cy="640773"/>
          </a:xfrm>
          <a:prstGeom prst="roundRect">
            <a:avLst>
              <a:gd name="adj" fmla="val 17838"/>
            </a:avLst>
          </a:prstGeom>
          <a:solidFill>
            <a:srgbClr val="F7F5EF"/>
          </a:solidFill>
          <a:ln/>
        </p:spPr>
        <p:txBody>
          <a:bodyPr/>
          <a:lstStyle/>
          <a:p>
            <a:endParaRPr lang="en-US"/>
          </a:p>
        </p:txBody>
      </p:sp>
      <p:sp>
        <p:nvSpPr>
          <p:cNvPr id="24" name="Text 22"/>
          <p:cNvSpPr/>
          <p:nvPr/>
        </p:nvSpPr>
        <p:spPr>
          <a:xfrm>
            <a:off x="1123842" y="9227208"/>
            <a:ext cx="8020542" cy="297873"/>
          </a:xfrm>
          <a:prstGeom prst="rect">
            <a:avLst/>
          </a:prstGeom>
          <a:noFill/>
          <a:ln/>
        </p:spPr>
        <p:txBody>
          <a:bodyPr wrap="square" lIns="25400" tIns="25400" rIns="25400" bIns="25400" rtlCol="0" anchor="t">
            <a:normAutofit/>
          </a:bodyPr>
          <a:lstStyle/>
          <a:p>
            <a:pPr marL="0" indent="0" algn="l">
              <a:buNone/>
            </a:pPr>
            <a:r>
              <a:rPr lang="en-US" sz="1650" dirty="0">
                <a:solidFill>
                  <a:srgbClr val="33405F"/>
                </a:solidFill>
                <a:latin typeface="Be Vietnam Pro" pitchFamily="34" charset="0"/>
                <a:ea typeface="Be Vietnam Pro" pitchFamily="34" charset="-122"/>
                <a:cs typeface="Be Vietnam Pro" pitchFamily="34" charset="-120"/>
              </a:rPr>
              <a:t>Tham số mô phỏng: noise 0.30 · η = 0.08 · γ = 0.002 · seed 42.</a:t>
            </a:r>
            <a:endParaRPr lang="en-US" sz="1650" dirty="0"/>
          </a:p>
        </p:txBody>
      </p:sp>
      <p:sp>
        <p:nvSpPr>
          <p:cNvPr id="25" name="Shape 23"/>
          <p:cNvSpPr/>
          <p:nvPr/>
        </p:nvSpPr>
        <p:spPr>
          <a:xfrm>
            <a:off x="9524999" y="2349725"/>
            <a:ext cx="7886808" cy="7327756"/>
          </a:xfrm>
          <a:prstGeom prst="roundRect">
            <a:avLst>
              <a:gd name="adj" fmla="val 1820"/>
            </a:avLst>
          </a:prstGeom>
          <a:solidFill>
            <a:srgbClr val="FFFFFF"/>
          </a:solidFill>
          <a:ln w="8659">
            <a:solidFill>
              <a:srgbClr val="DBE3F5"/>
            </a:solidFill>
            <a:prstDash val="solid"/>
          </a:ln>
        </p:spPr>
        <p:txBody>
          <a:bodyPr/>
          <a:lstStyle/>
          <a:p>
            <a:endParaRPr lang="en-US"/>
          </a:p>
        </p:txBody>
      </p:sp>
      <p:pic>
        <p:nvPicPr>
          <p:cNvPr id="26" name="Image 0" descr="preencoded.png"/>
          <p:cNvPicPr>
            <a:picLocks noChangeAspect="1"/>
          </p:cNvPicPr>
          <p:nvPr/>
        </p:nvPicPr>
        <p:blipFill>
          <a:blip r:embed="rId3"/>
          <a:srcRect t="-93865" b="-93865"/>
          <a:stretch/>
        </p:blipFill>
        <p:spPr>
          <a:xfrm>
            <a:off x="9743101" y="2567826"/>
            <a:ext cx="7450606" cy="68915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40980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PHÂN TÍCH KHÁM PHÁ</a:t>
            </a:r>
            <a:endParaRPr lang="en-US" sz="1800" dirty="0"/>
          </a:p>
        </p:txBody>
      </p:sp>
      <p:sp>
        <p:nvSpPr>
          <p:cNvPr id="4" name="Text 2"/>
          <p:cNvSpPr/>
          <p:nvPr/>
        </p:nvSpPr>
        <p:spPr>
          <a:xfrm>
            <a:off x="16431706" y="704769"/>
            <a:ext cx="105630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10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EDA: phát hiện chính</a:t>
            </a:r>
            <a:endParaRPr lang="en-US" sz="4350" dirty="0"/>
          </a:p>
        </p:txBody>
      </p:sp>
      <p:sp>
        <p:nvSpPr>
          <p:cNvPr id="6" name="Shape 4"/>
          <p:cNvSpPr/>
          <p:nvPr/>
        </p:nvSpPr>
        <p:spPr>
          <a:xfrm>
            <a:off x="876192" y="2416428"/>
            <a:ext cx="104721" cy="104721"/>
          </a:xfrm>
          <a:prstGeom prst="roundRect">
            <a:avLst>
              <a:gd name="adj" fmla="val 27287"/>
            </a:avLst>
          </a:prstGeom>
          <a:solidFill>
            <a:srgbClr val="1D50C6"/>
          </a:solidFill>
          <a:ln/>
        </p:spPr>
        <p:txBody>
          <a:bodyPr/>
          <a:lstStyle/>
          <a:p>
            <a:endParaRPr lang="en-US"/>
          </a:p>
        </p:txBody>
      </p:sp>
      <p:sp>
        <p:nvSpPr>
          <p:cNvPr id="7" name="Text 5"/>
          <p:cNvSpPr/>
          <p:nvPr/>
        </p:nvSpPr>
        <p:spPr>
          <a:xfrm>
            <a:off x="1133259" y="2311707"/>
            <a:ext cx="6888429"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Phân bố câu hỏi </a:t>
            </a:r>
            <a:r>
              <a:rPr lang="en-US" sz="1875" b="1" dirty="0">
                <a:solidFill>
                  <a:srgbClr val="33405F"/>
                </a:solidFill>
                <a:latin typeface="Be Vietnam Pro" pitchFamily="34" charset="0"/>
                <a:ea typeface="Be Vietnam Pro" pitchFamily="34" charset="-122"/>
                <a:cs typeface="Be Vietnam Pro" pitchFamily="34" charset="-120"/>
              </a:rPr>
              <a:t>đều theo 3 role </a:t>
            </a:r>
            <a:r>
              <a:rPr lang="en-US" sz="1875" dirty="0">
                <a:solidFill>
                  <a:srgbClr val="33405F"/>
                </a:solidFill>
                <a:latin typeface="Be Vietnam Pro" pitchFamily="34" charset="0"/>
                <a:ea typeface="Be Vietnam Pro" pitchFamily="34" charset="-122"/>
                <a:cs typeface="Be Vietnam Pro" pitchFamily="34" charset="-120"/>
              </a:rPr>
              <a:t>; độ khó MEDIUM chiếm đa số.</a:t>
            </a:r>
            <a:endParaRPr lang="en-US" sz="1875" dirty="0"/>
          </a:p>
        </p:txBody>
      </p:sp>
      <p:sp>
        <p:nvSpPr>
          <p:cNvPr id="8" name="Shape 6"/>
          <p:cNvSpPr/>
          <p:nvPr/>
        </p:nvSpPr>
        <p:spPr>
          <a:xfrm>
            <a:off x="876192" y="3254600"/>
            <a:ext cx="104721" cy="104721"/>
          </a:xfrm>
          <a:prstGeom prst="roundRect">
            <a:avLst>
              <a:gd name="adj" fmla="val 27287"/>
            </a:avLst>
          </a:prstGeom>
          <a:solidFill>
            <a:srgbClr val="1D50C6"/>
          </a:solidFill>
          <a:ln/>
        </p:spPr>
        <p:txBody>
          <a:bodyPr/>
          <a:lstStyle/>
          <a:p>
            <a:endParaRPr lang="en-US"/>
          </a:p>
        </p:txBody>
      </p:sp>
      <p:sp>
        <p:nvSpPr>
          <p:cNvPr id="9" name="Text 7"/>
          <p:cNvSpPr/>
          <p:nvPr/>
        </p:nvSpPr>
        <p:spPr>
          <a:xfrm>
            <a:off x="1133259" y="3149880"/>
            <a:ext cx="6888429"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Quality score: </a:t>
            </a:r>
            <a:r>
              <a:rPr lang="en-US" sz="1875" b="1" dirty="0">
                <a:solidFill>
                  <a:srgbClr val="33405F"/>
                </a:solidFill>
                <a:latin typeface="Be Vietnam Pro" pitchFamily="34" charset="0"/>
                <a:ea typeface="Be Vietnam Pro" pitchFamily="34" charset="-122"/>
                <a:cs typeface="Be Vietnam Pro" pitchFamily="34" charset="-120"/>
              </a:rPr>
              <a:t>Q=2 ≈ 62% </a:t>
            </a:r>
            <a:r>
              <a:rPr lang="en-US" sz="1875" dirty="0">
                <a:solidFill>
                  <a:srgbClr val="33405F"/>
                </a:solidFill>
                <a:latin typeface="Be Vietnam Pro" pitchFamily="34" charset="0"/>
                <a:ea typeface="Be Vietnam Pro" pitchFamily="34" charset="-122"/>
                <a:cs typeface="Be Vietnam Pro" pitchFamily="34" charset="-120"/>
              </a:rPr>
              <a:t>· Q=1 ≈ 20% · Q=0 ≈ 18% — nhất quán với IRT.</a:t>
            </a:r>
            <a:endParaRPr lang="en-US" sz="1875" dirty="0"/>
          </a:p>
        </p:txBody>
      </p:sp>
      <p:sp>
        <p:nvSpPr>
          <p:cNvPr id="10" name="Shape 8"/>
          <p:cNvSpPr/>
          <p:nvPr/>
        </p:nvSpPr>
        <p:spPr>
          <a:xfrm>
            <a:off x="876192" y="4092773"/>
            <a:ext cx="104721" cy="104721"/>
          </a:xfrm>
          <a:prstGeom prst="roundRect">
            <a:avLst>
              <a:gd name="adj" fmla="val 27287"/>
            </a:avLst>
          </a:prstGeom>
          <a:solidFill>
            <a:srgbClr val="1D50C6"/>
          </a:solidFill>
          <a:ln/>
        </p:spPr>
        <p:txBody>
          <a:bodyPr/>
          <a:lstStyle/>
          <a:p>
            <a:endParaRPr lang="en-US"/>
          </a:p>
        </p:txBody>
      </p:sp>
      <p:sp>
        <p:nvSpPr>
          <p:cNvPr id="11" name="Text 9"/>
          <p:cNvSpPr/>
          <p:nvPr/>
        </p:nvSpPr>
        <p:spPr>
          <a:xfrm>
            <a:off x="1133259" y="3988053"/>
            <a:ext cx="6888429"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Learning curve </a:t>
            </a:r>
            <a:r>
              <a:rPr lang="en-US" sz="1875" b="1" dirty="0">
                <a:solidFill>
                  <a:srgbClr val="33405F"/>
                </a:solidFill>
                <a:latin typeface="Be Vietnam Pro" pitchFamily="34" charset="0"/>
                <a:ea typeface="Be Vietnam Pro" pitchFamily="34" charset="-122"/>
                <a:cs typeface="Be Vietnam Pro" pitchFamily="34" charset="-120"/>
              </a:rPr>
              <a:t>tăng đơn điệu </a:t>
            </a:r>
            <a:r>
              <a:rPr lang="en-US" sz="1875" dirty="0">
                <a:solidFill>
                  <a:srgbClr val="33405F"/>
                </a:solidFill>
                <a:latin typeface="Be Vietnam Pro" pitchFamily="34" charset="0"/>
                <a:ea typeface="Be Vietnam Pro" pitchFamily="34" charset="-122"/>
                <a:cs typeface="Be Vietnam Pro" pitchFamily="34" charset="-120"/>
              </a:rPr>
              <a:t>theo thứ tự câu → mô phỏng có động lực học hợp lý.</a:t>
            </a:r>
            <a:endParaRPr lang="en-US" sz="1875" dirty="0"/>
          </a:p>
        </p:txBody>
      </p:sp>
      <p:sp>
        <p:nvSpPr>
          <p:cNvPr id="12" name="Shape 10"/>
          <p:cNvSpPr/>
          <p:nvPr/>
        </p:nvSpPr>
        <p:spPr>
          <a:xfrm>
            <a:off x="876192" y="4930946"/>
            <a:ext cx="104721" cy="104721"/>
          </a:xfrm>
          <a:prstGeom prst="roundRect">
            <a:avLst>
              <a:gd name="adj" fmla="val 27287"/>
            </a:avLst>
          </a:prstGeom>
          <a:solidFill>
            <a:srgbClr val="1D50C6"/>
          </a:solidFill>
          <a:ln/>
        </p:spPr>
        <p:txBody>
          <a:bodyPr/>
          <a:lstStyle/>
          <a:p>
            <a:endParaRPr lang="en-US"/>
          </a:p>
        </p:txBody>
      </p:sp>
      <p:sp>
        <p:nvSpPr>
          <p:cNvPr id="13" name="Text 11"/>
          <p:cNvSpPr/>
          <p:nvPr/>
        </p:nvSpPr>
        <p:spPr>
          <a:xfrm>
            <a:off x="1133259" y="4826225"/>
            <a:ext cx="6888429"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Confidence bias: </a:t>
            </a:r>
            <a:r>
              <a:rPr lang="en-US" sz="1875" b="1" dirty="0">
                <a:solidFill>
                  <a:srgbClr val="33405F"/>
                </a:solidFill>
                <a:latin typeface="Be Vietnam Pro" pitchFamily="34" charset="0"/>
                <a:ea typeface="Be Vietnam Pro" pitchFamily="34" charset="-122"/>
                <a:cs typeface="Be Vietnam Pro" pitchFamily="34" charset="-120"/>
              </a:rPr>
              <a:t>r(self-rating, skill) ≈ 0.72 </a:t>
            </a:r>
            <a:r>
              <a:rPr lang="en-US" sz="1875" dirty="0">
                <a:solidFill>
                  <a:srgbClr val="33405F"/>
                </a:solidFill>
                <a:latin typeface="Be Vietnam Pro" pitchFamily="34" charset="0"/>
                <a:ea typeface="Be Vietnam Pro" pitchFamily="34" charset="-122"/>
                <a:cs typeface="Be Vietnam Pro" pitchFamily="34" charset="-120"/>
              </a:rPr>
              <a:t>; nhóm beginner overconfident.</a:t>
            </a:r>
            <a:endParaRPr lang="en-US" sz="1875" dirty="0"/>
          </a:p>
        </p:txBody>
      </p:sp>
      <p:sp>
        <p:nvSpPr>
          <p:cNvPr id="14" name="Shape 12"/>
          <p:cNvSpPr/>
          <p:nvPr/>
        </p:nvSpPr>
        <p:spPr>
          <a:xfrm>
            <a:off x="8163899" y="2311707"/>
            <a:ext cx="9247909" cy="3597176"/>
          </a:xfrm>
          <a:prstGeom prst="roundRect">
            <a:avLst>
              <a:gd name="adj" fmla="val 3177"/>
            </a:avLst>
          </a:prstGeom>
          <a:solidFill>
            <a:srgbClr val="FFFFFF"/>
          </a:solidFill>
          <a:ln w="8659">
            <a:solidFill>
              <a:srgbClr val="DBE3F5"/>
            </a:solidFill>
            <a:prstDash val="solid"/>
          </a:ln>
        </p:spPr>
        <p:txBody>
          <a:bodyPr/>
          <a:lstStyle/>
          <a:p>
            <a:endParaRPr lang="en-US"/>
          </a:p>
        </p:txBody>
      </p:sp>
      <p:pic>
        <p:nvPicPr>
          <p:cNvPr id="15" name="Image 0" descr="preencoded.png"/>
          <p:cNvPicPr>
            <a:picLocks noChangeAspect="1"/>
          </p:cNvPicPr>
          <p:nvPr/>
        </p:nvPicPr>
        <p:blipFill>
          <a:blip r:embed="rId3"/>
          <a:srcRect/>
          <a:stretch/>
        </p:blipFill>
        <p:spPr>
          <a:xfrm>
            <a:off x="8343981" y="3043400"/>
            <a:ext cx="8887745" cy="2133789"/>
          </a:xfrm>
          <a:prstGeom prst="rect">
            <a:avLst/>
          </a:prstGeom>
        </p:spPr>
      </p:pic>
      <p:sp>
        <p:nvSpPr>
          <p:cNvPr id="16" name="Shape 13"/>
          <p:cNvSpPr/>
          <p:nvPr/>
        </p:nvSpPr>
        <p:spPr>
          <a:xfrm>
            <a:off x="8163899" y="6080305"/>
            <a:ext cx="9247909" cy="3597176"/>
          </a:xfrm>
          <a:prstGeom prst="roundRect">
            <a:avLst>
              <a:gd name="adj" fmla="val 3177"/>
            </a:avLst>
          </a:prstGeom>
          <a:solidFill>
            <a:srgbClr val="FFFFFF"/>
          </a:solidFill>
          <a:ln w="8659">
            <a:solidFill>
              <a:srgbClr val="DBE3F5"/>
            </a:solidFill>
            <a:prstDash val="solid"/>
          </a:ln>
        </p:spPr>
        <p:txBody>
          <a:bodyPr/>
          <a:lstStyle/>
          <a:p>
            <a:endParaRPr lang="en-US"/>
          </a:p>
        </p:txBody>
      </p:sp>
      <p:pic>
        <p:nvPicPr>
          <p:cNvPr id="17" name="Image 1" descr="preencoded.png"/>
          <p:cNvPicPr>
            <a:picLocks noChangeAspect="1"/>
          </p:cNvPicPr>
          <p:nvPr/>
        </p:nvPicPr>
        <p:blipFill>
          <a:blip r:embed="rId4"/>
          <a:srcRect l="-1" r="-1"/>
          <a:stretch/>
        </p:blipFill>
        <p:spPr>
          <a:xfrm>
            <a:off x="8343981" y="6656811"/>
            <a:ext cx="8887745" cy="24441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2159794"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THỰC NGHIỆM</a:t>
            </a:r>
            <a:endParaRPr lang="en-US" sz="1800" dirty="0"/>
          </a:p>
        </p:txBody>
      </p:sp>
      <p:sp>
        <p:nvSpPr>
          <p:cNvPr id="4" name="Text 2"/>
          <p:cNvSpPr/>
          <p:nvPr/>
        </p:nvSpPr>
        <p:spPr>
          <a:xfrm>
            <a:off x="16495027" y="704769"/>
            <a:ext cx="99298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11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Thiết kế thực nghiệm</a:t>
            </a:r>
            <a:endParaRPr lang="en-US" sz="4350" dirty="0"/>
          </a:p>
        </p:txBody>
      </p:sp>
      <p:sp>
        <p:nvSpPr>
          <p:cNvPr id="6" name="Shape 4"/>
          <p:cNvSpPr/>
          <p:nvPr/>
        </p:nvSpPr>
        <p:spPr>
          <a:xfrm>
            <a:off x="876192" y="2330648"/>
            <a:ext cx="2864806" cy="505474"/>
          </a:xfrm>
          <a:prstGeom prst="roundRect">
            <a:avLst>
              <a:gd name="adj" fmla="val 50000"/>
            </a:avLst>
          </a:prstGeom>
          <a:solidFill>
            <a:srgbClr val="EEF2FC"/>
          </a:solidFill>
          <a:ln/>
        </p:spPr>
        <p:txBody>
          <a:bodyPr/>
          <a:lstStyle/>
          <a:p>
            <a:endParaRPr lang="en-US"/>
          </a:p>
        </p:txBody>
      </p:sp>
      <p:sp>
        <p:nvSpPr>
          <p:cNvPr id="7" name="Text 5"/>
          <p:cNvSpPr/>
          <p:nvPr/>
        </p:nvSpPr>
        <p:spPr>
          <a:xfrm>
            <a:off x="1123842" y="2444948"/>
            <a:ext cx="2455450" cy="314974"/>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Kaggle · GPU Tesla T4</a:t>
            </a:r>
            <a:endParaRPr lang="en-US" sz="1725" dirty="0"/>
          </a:p>
        </p:txBody>
      </p:sp>
      <p:sp>
        <p:nvSpPr>
          <p:cNvPr id="8" name="Shape 6"/>
          <p:cNvSpPr/>
          <p:nvPr/>
        </p:nvSpPr>
        <p:spPr>
          <a:xfrm>
            <a:off x="3893344" y="2330648"/>
            <a:ext cx="1809885" cy="505474"/>
          </a:xfrm>
          <a:prstGeom prst="roundRect">
            <a:avLst>
              <a:gd name="adj" fmla="val 50000"/>
            </a:avLst>
          </a:prstGeom>
          <a:solidFill>
            <a:srgbClr val="EEF2FC"/>
          </a:solidFill>
          <a:ln/>
        </p:spPr>
        <p:txBody>
          <a:bodyPr/>
          <a:lstStyle/>
          <a:p>
            <a:endParaRPr lang="en-US"/>
          </a:p>
        </p:txBody>
      </p:sp>
      <p:sp>
        <p:nvSpPr>
          <p:cNvPr id="9" name="Text 7"/>
          <p:cNvSpPr/>
          <p:nvPr/>
        </p:nvSpPr>
        <p:spPr>
          <a:xfrm>
            <a:off x="4140994" y="2444948"/>
            <a:ext cx="1390785" cy="314974"/>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PyTorch 2.6</a:t>
            </a:r>
            <a:endParaRPr lang="en-US" sz="1725" dirty="0"/>
          </a:p>
        </p:txBody>
      </p:sp>
      <p:sp>
        <p:nvSpPr>
          <p:cNvPr id="10" name="Shape 8"/>
          <p:cNvSpPr/>
          <p:nvPr/>
        </p:nvSpPr>
        <p:spPr>
          <a:xfrm>
            <a:off x="5855575" y="2330648"/>
            <a:ext cx="1369083" cy="505474"/>
          </a:xfrm>
          <a:prstGeom prst="roundRect">
            <a:avLst>
              <a:gd name="adj" fmla="val 50000"/>
            </a:avLst>
          </a:prstGeom>
          <a:solidFill>
            <a:srgbClr val="EEF2FC"/>
          </a:solidFill>
          <a:ln/>
        </p:spPr>
        <p:txBody>
          <a:bodyPr/>
          <a:lstStyle/>
          <a:p>
            <a:endParaRPr lang="en-US"/>
          </a:p>
        </p:txBody>
      </p:sp>
      <p:sp>
        <p:nvSpPr>
          <p:cNvPr id="11" name="Text 9"/>
          <p:cNvSpPr/>
          <p:nvPr/>
        </p:nvSpPr>
        <p:spPr>
          <a:xfrm>
            <a:off x="6103225" y="2444948"/>
            <a:ext cx="949983" cy="314974"/>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seed 42</a:t>
            </a:r>
            <a:endParaRPr lang="en-US" sz="1725" dirty="0"/>
          </a:p>
        </p:txBody>
      </p:sp>
      <p:sp>
        <p:nvSpPr>
          <p:cNvPr id="12" name="Shape 10"/>
          <p:cNvSpPr/>
          <p:nvPr/>
        </p:nvSpPr>
        <p:spPr>
          <a:xfrm>
            <a:off x="7377004" y="2330648"/>
            <a:ext cx="7151868" cy="505474"/>
          </a:xfrm>
          <a:prstGeom prst="roundRect">
            <a:avLst>
              <a:gd name="adj" fmla="val 50000"/>
            </a:avLst>
          </a:prstGeom>
          <a:solidFill>
            <a:srgbClr val="EEF2FC"/>
          </a:solidFill>
          <a:ln/>
        </p:spPr>
        <p:txBody>
          <a:bodyPr/>
          <a:lstStyle/>
          <a:p>
            <a:endParaRPr lang="en-US"/>
          </a:p>
        </p:txBody>
      </p:sp>
      <p:sp>
        <p:nvSpPr>
          <p:cNvPr id="13" name="Text 11"/>
          <p:cNvSpPr/>
          <p:nvPr/>
        </p:nvSpPr>
        <p:spPr>
          <a:xfrm>
            <a:off x="7624654" y="2444948"/>
            <a:ext cx="6871124" cy="314974"/>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Độ đo: ROC-AUC · PR-AUC · PR-AUC Gain · RMSE · Accuracy</a:t>
            </a:r>
            <a:endParaRPr lang="en-US" sz="1725" dirty="0"/>
          </a:p>
        </p:txBody>
      </p:sp>
      <p:sp>
        <p:nvSpPr>
          <p:cNvPr id="14" name="Text 12"/>
          <p:cNvSpPr/>
          <p:nvPr/>
        </p:nvSpPr>
        <p:spPr>
          <a:xfrm>
            <a:off x="876192" y="3064642"/>
            <a:ext cx="18189178" cy="315191"/>
          </a:xfrm>
          <a:prstGeom prst="rect">
            <a:avLst/>
          </a:prstGeom>
          <a:noFill/>
          <a:ln/>
        </p:spPr>
        <p:txBody>
          <a:bodyPr wrap="square" lIns="25400" tIns="25400" rIns="25400" bIns="25400" rtlCol="0" anchor="t">
            <a:normAutofit/>
          </a:bodyPr>
          <a:lstStyle/>
          <a:p>
            <a:pPr marL="0" indent="0" algn="l">
              <a:buNone/>
            </a:pPr>
            <a:r>
              <a:rPr lang="en-US" sz="1725" b="1" kern="0" spc="69" dirty="0">
                <a:solidFill>
                  <a:srgbClr val="16223D"/>
                </a:solidFill>
                <a:latin typeface="Be Vietnam Pro" pitchFamily="34" charset="0"/>
                <a:ea typeface="Be Vietnam Pro" pitchFamily="34" charset="-122"/>
                <a:cs typeface="Be Vietnam Pro" pitchFamily="34" charset="-120"/>
              </a:rPr>
              <a:t>8 cấu hình ablation</a:t>
            </a:r>
            <a:endParaRPr lang="en-US" sz="1725" dirty="0"/>
          </a:p>
        </p:txBody>
      </p:sp>
      <p:sp>
        <p:nvSpPr>
          <p:cNvPr id="15" name="Shape 13"/>
          <p:cNvSpPr/>
          <p:nvPr/>
        </p:nvSpPr>
        <p:spPr>
          <a:xfrm>
            <a:off x="876192" y="3494078"/>
            <a:ext cx="4019577" cy="773906"/>
          </a:xfrm>
          <a:prstGeom prst="roundRect">
            <a:avLst>
              <a:gd name="adj" fmla="val 14769"/>
            </a:avLst>
          </a:prstGeom>
          <a:ln w="17318">
            <a:solidFill>
              <a:srgbClr val="DBE3F5"/>
            </a:solidFill>
            <a:prstDash val="solid"/>
          </a:ln>
        </p:spPr>
        <p:txBody>
          <a:bodyPr/>
          <a:lstStyle/>
          <a:p>
            <a:endParaRPr lang="en-US"/>
          </a:p>
        </p:txBody>
      </p:sp>
      <p:sp>
        <p:nvSpPr>
          <p:cNvPr id="16" name="Text 14"/>
          <p:cNvSpPr/>
          <p:nvPr/>
        </p:nvSpPr>
        <p:spPr>
          <a:xfrm>
            <a:off x="1042766" y="3720946"/>
            <a:ext cx="3686428"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5D6B88"/>
                </a:solidFill>
                <a:latin typeface="Be Vietnam Pro" pitchFamily="34" charset="0"/>
                <a:ea typeface="Be Vietnam Pro" pitchFamily="34" charset="-122"/>
                <a:cs typeface="Be Vietnam Pro" pitchFamily="34" charset="-120"/>
              </a:rPr>
              <a:t>Baseline</a:t>
            </a:r>
            <a:endParaRPr lang="en-US" sz="1875" dirty="0"/>
          </a:p>
        </p:txBody>
      </p:sp>
      <p:sp>
        <p:nvSpPr>
          <p:cNvPr id="17" name="Shape 15"/>
          <p:cNvSpPr/>
          <p:nvPr/>
        </p:nvSpPr>
        <p:spPr>
          <a:xfrm>
            <a:off x="5048115" y="3494078"/>
            <a:ext cx="4019712" cy="773906"/>
          </a:xfrm>
          <a:prstGeom prst="roundRect">
            <a:avLst>
              <a:gd name="adj" fmla="val 14769"/>
            </a:avLst>
          </a:prstGeom>
          <a:ln w="17318">
            <a:solidFill>
              <a:srgbClr val="DBE3F5"/>
            </a:solidFill>
            <a:prstDash val="solid"/>
          </a:ln>
        </p:spPr>
        <p:txBody>
          <a:bodyPr/>
          <a:lstStyle/>
          <a:p>
            <a:endParaRPr lang="en-US"/>
          </a:p>
        </p:txBody>
      </p:sp>
      <p:sp>
        <p:nvSpPr>
          <p:cNvPr id="18" name="Text 16"/>
          <p:cNvSpPr/>
          <p:nvPr/>
        </p:nvSpPr>
        <p:spPr>
          <a:xfrm>
            <a:off x="5214687" y="3720946"/>
            <a:ext cx="3686567"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16223D"/>
                </a:solidFill>
                <a:latin typeface="Be Vietnam Pro" pitchFamily="34" charset="0"/>
                <a:ea typeface="Be Vietnam Pro" pitchFamily="34" charset="-122"/>
                <a:cs typeface="Be Vietnam Pro" pitchFamily="34" charset="-120"/>
              </a:rPr>
              <a:t>BKT</a:t>
            </a:r>
            <a:endParaRPr lang="en-US" sz="1875" dirty="0"/>
          </a:p>
        </p:txBody>
      </p:sp>
      <p:sp>
        <p:nvSpPr>
          <p:cNvPr id="19" name="Shape 17"/>
          <p:cNvSpPr/>
          <p:nvPr/>
        </p:nvSpPr>
        <p:spPr>
          <a:xfrm>
            <a:off x="9220173" y="3494078"/>
            <a:ext cx="4019577" cy="773906"/>
          </a:xfrm>
          <a:prstGeom prst="roundRect">
            <a:avLst>
              <a:gd name="adj" fmla="val 14769"/>
            </a:avLst>
          </a:prstGeom>
          <a:ln w="17318">
            <a:solidFill>
              <a:srgbClr val="DBE3F5"/>
            </a:solidFill>
            <a:prstDash val="solid"/>
          </a:ln>
        </p:spPr>
        <p:txBody>
          <a:bodyPr/>
          <a:lstStyle/>
          <a:p>
            <a:endParaRPr lang="en-US"/>
          </a:p>
        </p:txBody>
      </p:sp>
      <p:sp>
        <p:nvSpPr>
          <p:cNvPr id="20" name="Text 18"/>
          <p:cNvSpPr/>
          <p:nvPr/>
        </p:nvSpPr>
        <p:spPr>
          <a:xfrm>
            <a:off x="9386747" y="3720946"/>
            <a:ext cx="3686428"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16223D"/>
                </a:solidFill>
                <a:latin typeface="Be Vietnam Pro" pitchFamily="34" charset="0"/>
                <a:ea typeface="Be Vietnam Pro" pitchFamily="34" charset="-122"/>
                <a:cs typeface="Be Vietnam Pro" pitchFamily="34" charset="-120"/>
              </a:rPr>
              <a:t>DKT-Binary</a:t>
            </a:r>
            <a:endParaRPr lang="en-US" sz="1875" dirty="0"/>
          </a:p>
        </p:txBody>
      </p:sp>
      <p:sp>
        <p:nvSpPr>
          <p:cNvPr id="21" name="Shape 19"/>
          <p:cNvSpPr/>
          <p:nvPr/>
        </p:nvSpPr>
        <p:spPr>
          <a:xfrm>
            <a:off x="13392095" y="3494078"/>
            <a:ext cx="4019712" cy="773906"/>
          </a:xfrm>
          <a:prstGeom prst="roundRect">
            <a:avLst>
              <a:gd name="adj" fmla="val 14769"/>
            </a:avLst>
          </a:prstGeom>
          <a:solidFill>
            <a:srgbClr val="EEF2FC"/>
          </a:solidFill>
          <a:ln w="17318">
            <a:solidFill>
              <a:srgbClr val="1D50C6"/>
            </a:solidFill>
            <a:prstDash val="solid"/>
          </a:ln>
        </p:spPr>
        <p:txBody>
          <a:bodyPr/>
          <a:lstStyle/>
          <a:p>
            <a:endParaRPr lang="en-US"/>
          </a:p>
        </p:txBody>
      </p:sp>
      <p:sp>
        <p:nvSpPr>
          <p:cNvPr id="22" name="Text 20"/>
          <p:cNvSpPr/>
          <p:nvPr/>
        </p:nvSpPr>
        <p:spPr>
          <a:xfrm>
            <a:off x="13558668" y="3720946"/>
            <a:ext cx="3686567"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0F2F7A"/>
                </a:solidFill>
                <a:latin typeface="Be Vietnam Pro" pitchFamily="34" charset="0"/>
                <a:ea typeface="Be Vietnam Pro" pitchFamily="34" charset="-122"/>
                <a:cs typeface="Be Vietnam Pro" pitchFamily="34" charset="-120"/>
              </a:rPr>
              <a:t>DKT-Quality★</a:t>
            </a:r>
            <a:endParaRPr lang="en-US" sz="1875" dirty="0"/>
          </a:p>
        </p:txBody>
      </p:sp>
      <p:sp>
        <p:nvSpPr>
          <p:cNvPr id="23" name="Shape 21"/>
          <p:cNvSpPr/>
          <p:nvPr/>
        </p:nvSpPr>
        <p:spPr>
          <a:xfrm>
            <a:off x="876192" y="4420330"/>
            <a:ext cx="4019577" cy="773906"/>
          </a:xfrm>
          <a:prstGeom prst="roundRect">
            <a:avLst>
              <a:gd name="adj" fmla="val 14769"/>
            </a:avLst>
          </a:prstGeom>
          <a:ln w="17318">
            <a:solidFill>
              <a:srgbClr val="DBE3F5"/>
            </a:solidFill>
            <a:prstDash val="solid"/>
          </a:ln>
        </p:spPr>
        <p:txBody>
          <a:bodyPr/>
          <a:lstStyle/>
          <a:p>
            <a:endParaRPr lang="en-US"/>
          </a:p>
        </p:txBody>
      </p:sp>
      <p:sp>
        <p:nvSpPr>
          <p:cNvPr id="24" name="Text 22"/>
          <p:cNvSpPr/>
          <p:nvPr/>
        </p:nvSpPr>
        <p:spPr>
          <a:xfrm>
            <a:off x="1042766" y="4647199"/>
            <a:ext cx="3686428"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16223D"/>
                </a:solidFill>
                <a:latin typeface="Be Vietnam Pro" pitchFamily="34" charset="0"/>
                <a:ea typeface="Be Vietnam Pro" pitchFamily="34" charset="-122"/>
                <a:cs typeface="Be Vietnam Pro" pitchFamily="34" charset="-120"/>
              </a:rPr>
              <a:t>SAKT-Binary</a:t>
            </a:r>
            <a:endParaRPr lang="en-US" sz="1875" dirty="0"/>
          </a:p>
        </p:txBody>
      </p:sp>
      <p:sp>
        <p:nvSpPr>
          <p:cNvPr id="25" name="Shape 23"/>
          <p:cNvSpPr/>
          <p:nvPr/>
        </p:nvSpPr>
        <p:spPr>
          <a:xfrm>
            <a:off x="5048115" y="4420330"/>
            <a:ext cx="4019712" cy="773906"/>
          </a:xfrm>
          <a:prstGeom prst="roundRect">
            <a:avLst>
              <a:gd name="adj" fmla="val 14769"/>
            </a:avLst>
          </a:prstGeom>
          <a:solidFill>
            <a:srgbClr val="EEF2FC"/>
          </a:solidFill>
          <a:ln w="17318">
            <a:solidFill>
              <a:srgbClr val="1D50C6"/>
            </a:solidFill>
            <a:prstDash val="solid"/>
          </a:ln>
        </p:spPr>
        <p:txBody>
          <a:bodyPr/>
          <a:lstStyle/>
          <a:p>
            <a:endParaRPr lang="en-US"/>
          </a:p>
        </p:txBody>
      </p:sp>
      <p:sp>
        <p:nvSpPr>
          <p:cNvPr id="26" name="Text 24"/>
          <p:cNvSpPr/>
          <p:nvPr/>
        </p:nvSpPr>
        <p:spPr>
          <a:xfrm>
            <a:off x="5214687" y="4647199"/>
            <a:ext cx="3686567"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0F2F7A"/>
                </a:solidFill>
                <a:latin typeface="Be Vietnam Pro" pitchFamily="34" charset="0"/>
                <a:ea typeface="Be Vietnam Pro" pitchFamily="34" charset="-122"/>
                <a:cs typeface="Be Vietnam Pro" pitchFamily="34" charset="-120"/>
              </a:rPr>
              <a:t>SAKT-Quality★</a:t>
            </a:r>
            <a:endParaRPr lang="en-US" sz="1875" dirty="0"/>
          </a:p>
        </p:txBody>
      </p:sp>
      <p:sp>
        <p:nvSpPr>
          <p:cNvPr id="27" name="Shape 25"/>
          <p:cNvSpPr/>
          <p:nvPr/>
        </p:nvSpPr>
        <p:spPr>
          <a:xfrm>
            <a:off x="9220173" y="4420330"/>
            <a:ext cx="4019577" cy="773906"/>
          </a:xfrm>
          <a:prstGeom prst="roundRect">
            <a:avLst>
              <a:gd name="adj" fmla="val 14769"/>
            </a:avLst>
          </a:prstGeom>
          <a:ln w="17318">
            <a:solidFill>
              <a:srgbClr val="DBE3F5"/>
            </a:solidFill>
            <a:prstDash val="solid"/>
          </a:ln>
        </p:spPr>
        <p:txBody>
          <a:bodyPr/>
          <a:lstStyle/>
          <a:p>
            <a:endParaRPr lang="en-US"/>
          </a:p>
        </p:txBody>
      </p:sp>
      <p:sp>
        <p:nvSpPr>
          <p:cNvPr id="28" name="Text 26"/>
          <p:cNvSpPr/>
          <p:nvPr/>
        </p:nvSpPr>
        <p:spPr>
          <a:xfrm>
            <a:off x="9386747" y="4647199"/>
            <a:ext cx="3686428"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16223D"/>
                </a:solidFill>
                <a:latin typeface="Be Vietnam Pro" pitchFamily="34" charset="0"/>
                <a:ea typeface="Be Vietnam Pro" pitchFamily="34" charset="-122"/>
                <a:cs typeface="Be Vietnam Pro" pitchFamily="34" charset="-120"/>
              </a:rPr>
              <a:t>DKT-Deep</a:t>
            </a:r>
            <a:endParaRPr lang="en-US" sz="1875" dirty="0"/>
          </a:p>
        </p:txBody>
      </p:sp>
      <p:sp>
        <p:nvSpPr>
          <p:cNvPr id="29" name="Shape 27"/>
          <p:cNvSpPr/>
          <p:nvPr/>
        </p:nvSpPr>
        <p:spPr>
          <a:xfrm>
            <a:off x="13392095" y="4420330"/>
            <a:ext cx="4019712" cy="773906"/>
          </a:xfrm>
          <a:prstGeom prst="roundRect">
            <a:avLst>
              <a:gd name="adj" fmla="val 14769"/>
            </a:avLst>
          </a:prstGeom>
          <a:ln w="17318">
            <a:solidFill>
              <a:srgbClr val="DBE3F5"/>
            </a:solidFill>
            <a:prstDash val="solid"/>
          </a:ln>
        </p:spPr>
        <p:txBody>
          <a:bodyPr/>
          <a:lstStyle/>
          <a:p>
            <a:endParaRPr lang="en-US"/>
          </a:p>
        </p:txBody>
      </p:sp>
      <p:sp>
        <p:nvSpPr>
          <p:cNvPr id="30" name="Text 28"/>
          <p:cNvSpPr/>
          <p:nvPr/>
        </p:nvSpPr>
        <p:spPr>
          <a:xfrm>
            <a:off x="13558668" y="4647199"/>
            <a:ext cx="3686567" cy="358270"/>
          </a:xfrm>
          <a:prstGeom prst="rect">
            <a:avLst/>
          </a:prstGeom>
          <a:noFill/>
          <a:ln/>
        </p:spPr>
        <p:txBody>
          <a:bodyPr wrap="square" lIns="25400" tIns="25400" rIns="25400" bIns="25400" rtlCol="0" anchor="t">
            <a:normAutofit/>
          </a:bodyPr>
          <a:lstStyle/>
          <a:p>
            <a:pPr marL="0" indent="0" algn="ctr">
              <a:buNone/>
            </a:pPr>
            <a:r>
              <a:rPr lang="en-US" sz="1875" b="1" dirty="0">
                <a:solidFill>
                  <a:srgbClr val="16223D"/>
                </a:solidFill>
                <a:latin typeface="Be Vietnam Pro" pitchFamily="34" charset="0"/>
                <a:ea typeface="Be Vietnam Pro" pitchFamily="34" charset="-122"/>
                <a:cs typeface="Be Vietnam Pro" pitchFamily="34" charset="-120"/>
              </a:rPr>
              <a:t>SAKT-Deep</a:t>
            </a:r>
            <a:endParaRPr lang="en-US" sz="1875" dirty="0"/>
          </a:p>
        </p:txBody>
      </p:sp>
      <p:sp>
        <p:nvSpPr>
          <p:cNvPr id="31" name="Shape 29"/>
          <p:cNvSpPr/>
          <p:nvPr/>
        </p:nvSpPr>
        <p:spPr>
          <a:xfrm>
            <a:off x="876192" y="8900057"/>
            <a:ext cx="16535616" cy="777424"/>
          </a:xfrm>
          <a:prstGeom prst="roundRect">
            <a:avLst>
              <a:gd name="adj" fmla="val 14702"/>
            </a:avLst>
          </a:prstGeom>
          <a:solidFill>
            <a:srgbClr val="F7F5EF"/>
          </a:solidFill>
          <a:ln/>
        </p:spPr>
        <p:txBody>
          <a:bodyPr/>
          <a:lstStyle/>
          <a:p>
            <a:endParaRPr lang="en-US"/>
          </a:p>
        </p:txBody>
      </p:sp>
      <p:sp>
        <p:nvSpPr>
          <p:cNvPr id="32" name="Text 30"/>
          <p:cNvSpPr/>
          <p:nvPr/>
        </p:nvSpPr>
        <p:spPr>
          <a:xfrm>
            <a:off x="1161942" y="9167542"/>
            <a:ext cx="719138" cy="280555"/>
          </a:xfrm>
          <a:prstGeom prst="rect">
            <a:avLst/>
          </a:prstGeom>
          <a:noFill/>
          <a:ln/>
        </p:spPr>
        <p:txBody>
          <a:bodyPr wrap="square" lIns="25400" tIns="25400" rIns="25400" bIns="25400" rtlCol="0" anchor="t">
            <a:normAutofit/>
          </a:bodyPr>
          <a:lstStyle/>
          <a:p>
            <a:pPr marL="0" indent="0" algn="l">
              <a:buNone/>
            </a:pPr>
            <a:r>
              <a:rPr lang="en-US" sz="1500" b="1" kern="0" spc="90" dirty="0">
                <a:solidFill>
                  <a:srgbClr val="9A6B2A"/>
                </a:solidFill>
                <a:latin typeface="Be Vietnam Pro" pitchFamily="34" charset="0"/>
                <a:ea typeface="Be Vietnam Pro" pitchFamily="34" charset="-122"/>
                <a:cs typeface="Be Vietnam Pro" pitchFamily="34" charset="-120"/>
              </a:rPr>
              <a:t>LƯU Ý</a:t>
            </a:r>
            <a:endParaRPr lang="en-US" sz="1500" dirty="0"/>
          </a:p>
        </p:txBody>
      </p:sp>
      <p:sp>
        <p:nvSpPr>
          <p:cNvPr id="33" name="Text 31"/>
          <p:cNvSpPr/>
          <p:nvPr/>
        </p:nvSpPr>
        <p:spPr>
          <a:xfrm>
            <a:off x="1976302" y="9128576"/>
            <a:ext cx="9099798" cy="358486"/>
          </a:xfrm>
          <a:prstGeom prst="rect">
            <a:avLst/>
          </a:prstGeom>
          <a:noFill/>
          <a:ln/>
        </p:spPr>
        <p:txBody>
          <a:bodyPr wrap="square" lIns="25400" tIns="25400" rIns="25400" bIns="25400" rtlCol="0" anchor="t">
            <a:normAutofit/>
          </a:bodyPr>
          <a:lstStyle/>
          <a:p>
            <a:pPr marL="0" indent="0" algn="l">
              <a:buNone/>
            </a:pPr>
            <a:r>
              <a:rPr lang="en-US" sz="1950" dirty="0">
                <a:solidFill>
                  <a:srgbClr val="33405F"/>
                </a:solidFill>
                <a:latin typeface="Be Vietnam Pro" pitchFamily="34" charset="0"/>
                <a:ea typeface="Be Vietnam Pro" pitchFamily="34" charset="-122"/>
                <a:cs typeface="Be Vietnam Pro" pitchFamily="34" charset="-120"/>
              </a:rPr>
              <a:t>Class imbalance </a:t>
            </a:r>
            <a:r>
              <a:rPr lang="en-US" sz="1950" b="1" dirty="0">
                <a:solidFill>
                  <a:srgbClr val="33405F"/>
                </a:solidFill>
                <a:latin typeface="Be Vietnam Pro" pitchFamily="34" charset="0"/>
                <a:ea typeface="Be Vietnam Pro" pitchFamily="34" charset="-122"/>
                <a:cs typeface="Be Vietnam Pro" pitchFamily="34" charset="-120"/>
              </a:rPr>
              <a:t>82,5% </a:t>
            </a:r>
            <a:r>
              <a:rPr lang="en-US" sz="1950" dirty="0">
                <a:solidFill>
                  <a:srgbClr val="33405F"/>
                </a:solidFill>
                <a:latin typeface="Be Vietnam Pro" pitchFamily="34" charset="0"/>
                <a:ea typeface="Be Vietnam Pro" pitchFamily="34" charset="-122"/>
                <a:cs typeface="Be Vietnam Pro" pitchFamily="34" charset="-120"/>
              </a:rPr>
              <a:t>→ ưu tiên </a:t>
            </a:r>
            <a:r>
              <a:rPr lang="en-US" sz="1950" b="1" dirty="0">
                <a:solidFill>
                  <a:srgbClr val="33405F"/>
                </a:solidFill>
                <a:latin typeface="Be Vietnam Pro" pitchFamily="34" charset="0"/>
                <a:ea typeface="Be Vietnam Pro" pitchFamily="34" charset="-122"/>
                <a:cs typeface="Be Vietnam Pro" pitchFamily="34" charset="-120"/>
              </a:rPr>
              <a:t>PR-AUC Gain </a:t>
            </a:r>
            <a:r>
              <a:rPr lang="en-US" sz="1950" dirty="0">
                <a:solidFill>
                  <a:srgbClr val="33405F"/>
                </a:solidFill>
                <a:latin typeface="Be Vietnam Pro" pitchFamily="34" charset="0"/>
                <a:ea typeface="Be Vietnam Pro" pitchFamily="34" charset="-122"/>
                <a:cs typeface="Be Vietnam Pro" pitchFamily="34" charset="-120"/>
              </a:rPr>
              <a:t>khi so sánh mô hình.</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157389"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KẾT QUẢ · TẬP TEST</a:t>
            </a:r>
            <a:endParaRPr lang="en-US" sz="1800" dirty="0"/>
          </a:p>
        </p:txBody>
      </p:sp>
      <p:sp>
        <p:nvSpPr>
          <p:cNvPr id="4" name="Text 2"/>
          <p:cNvSpPr/>
          <p:nvPr/>
        </p:nvSpPr>
        <p:spPr>
          <a:xfrm>
            <a:off x="16439013" y="704769"/>
            <a:ext cx="1048995"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12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Kết quả ablation</a:t>
            </a:r>
            <a:endParaRPr lang="en-US" sz="4350" dirty="0"/>
          </a:p>
        </p:txBody>
      </p:sp>
      <p:sp>
        <p:nvSpPr>
          <p:cNvPr id="6" name="Shape 4"/>
          <p:cNvSpPr/>
          <p:nvPr/>
        </p:nvSpPr>
        <p:spPr>
          <a:xfrm>
            <a:off x="876192" y="2311707"/>
            <a:ext cx="8598477" cy="571500"/>
          </a:xfrm>
          <a:prstGeom prst="rect">
            <a:avLst/>
          </a:prstGeom>
          <a:solidFill>
            <a:srgbClr val="1D50C6"/>
          </a:solidFill>
          <a:ln/>
        </p:spPr>
        <p:txBody>
          <a:bodyPr/>
          <a:lstStyle/>
          <a:p>
            <a:endParaRPr lang="en-US"/>
          </a:p>
        </p:txBody>
      </p:sp>
      <p:sp>
        <p:nvSpPr>
          <p:cNvPr id="7" name="Text 5"/>
          <p:cNvSpPr/>
          <p:nvPr/>
        </p:nvSpPr>
        <p:spPr>
          <a:xfrm>
            <a:off x="1028592" y="2454582"/>
            <a:ext cx="2300937" cy="323850"/>
          </a:xfrm>
          <a:prstGeom prst="rect">
            <a:avLst/>
          </a:prstGeom>
          <a:noFill/>
          <a:ln/>
        </p:spPr>
        <p:txBody>
          <a:bodyPr wrap="square" lIns="25400" tIns="25400" rIns="25400" bIns="25400" rtlCol="0" anchor="ctr">
            <a:normAutofit/>
          </a:bodyPr>
          <a:lstStyle/>
          <a:p>
            <a:pPr marL="0" indent="0" algn="l">
              <a:buNone/>
            </a:pPr>
            <a:r>
              <a:rPr lang="en-US" sz="1800" b="1" dirty="0">
                <a:solidFill>
                  <a:srgbClr val="FFFFFF"/>
                </a:solidFill>
                <a:latin typeface="Be Vietnam Pro" pitchFamily="34" charset="0"/>
                <a:ea typeface="Be Vietnam Pro" pitchFamily="34" charset="-122"/>
                <a:cs typeface="Be Vietnam Pro" pitchFamily="34" charset="-120"/>
              </a:rPr>
              <a:t>Model</a:t>
            </a:r>
            <a:endParaRPr lang="en-US" sz="1800" dirty="0"/>
          </a:p>
        </p:txBody>
      </p:sp>
      <p:sp>
        <p:nvSpPr>
          <p:cNvPr id="8" name="Text 6"/>
          <p:cNvSpPr/>
          <p:nvPr/>
        </p:nvSpPr>
        <p:spPr>
          <a:xfrm>
            <a:off x="3443828" y="2454582"/>
            <a:ext cx="1646526" cy="323850"/>
          </a:xfrm>
          <a:prstGeom prst="rect">
            <a:avLst/>
          </a:prstGeom>
          <a:noFill/>
          <a:ln/>
        </p:spPr>
        <p:txBody>
          <a:bodyPr wrap="square" lIns="25400" tIns="25400" rIns="25400" bIns="25400" rtlCol="0" anchor="ctr">
            <a:normAutofit/>
          </a:bodyPr>
          <a:lstStyle/>
          <a:p>
            <a:pPr marL="0" indent="0" algn="r">
              <a:buNone/>
            </a:pPr>
            <a:r>
              <a:rPr lang="en-US" sz="1800" b="1" dirty="0">
                <a:solidFill>
                  <a:srgbClr val="FFFFFF"/>
                </a:solidFill>
                <a:latin typeface="Be Vietnam Pro" pitchFamily="34" charset="0"/>
                <a:ea typeface="Be Vietnam Pro" pitchFamily="34" charset="-122"/>
                <a:cs typeface="Be Vietnam Pro" pitchFamily="34" charset="-120"/>
              </a:rPr>
              <a:t>ROC-AUC</a:t>
            </a:r>
            <a:endParaRPr lang="en-US" sz="1800" dirty="0"/>
          </a:p>
        </p:txBody>
      </p:sp>
      <p:sp>
        <p:nvSpPr>
          <p:cNvPr id="9" name="Text 7"/>
          <p:cNvSpPr/>
          <p:nvPr/>
        </p:nvSpPr>
        <p:spPr>
          <a:xfrm>
            <a:off x="5242754" y="2454582"/>
            <a:ext cx="1385400" cy="323850"/>
          </a:xfrm>
          <a:prstGeom prst="rect">
            <a:avLst/>
          </a:prstGeom>
          <a:noFill/>
          <a:ln/>
        </p:spPr>
        <p:txBody>
          <a:bodyPr wrap="square" lIns="25400" tIns="25400" rIns="25400" bIns="25400" rtlCol="0" anchor="ctr">
            <a:normAutofit/>
          </a:bodyPr>
          <a:lstStyle/>
          <a:p>
            <a:pPr marL="0" indent="0" algn="r">
              <a:buNone/>
            </a:pPr>
            <a:r>
              <a:rPr lang="en-US" sz="1800" b="1" dirty="0">
                <a:solidFill>
                  <a:srgbClr val="FFFFFF"/>
                </a:solidFill>
                <a:latin typeface="Be Vietnam Pro" pitchFamily="34" charset="0"/>
                <a:ea typeface="Be Vietnam Pro" pitchFamily="34" charset="-122"/>
                <a:cs typeface="Be Vietnam Pro" pitchFamily="34" charset="-120"/>
              </a:rPr>
              <a:t>PR-AUC</a:t>
            </a:r>
            <a:endParaRPr lang="en-US" sz="1800" dirty="0"/>
          </a:p>
        </p:txBody>
      </p:sp>
      <p:sp>
        <p:nvSpPr>
          <p:cNvPr id="10" name="Text 8"/>
          <p:cNvSpPr/>
          <p:nvPr/>
        </p:nvSpPr>
        <p:spPr>
          <a:xfrm>
            <a:off x="6780555" y="2454582"/>
            <a:ext cx="1047696" cy="323850"/>
          </a:xfrm>
          <a:prstGeom prst="rect">
            <a:avLst/>
          </a:prstGeom>
          <a:noFill/>
          <a:ln/>
        </p:spPr>
        <p:txBody>
          <a:bodyPr wrap="square" lIns="25400" tIns="25400" rIns="25400" bIns="25400" rtlCol="0" anchor="ctr">
            <a:normAutofit/>
          </a:bodyPr>
          <a:lstStyle/>
          <a:p>
            <a:pPr marL="0" indent="0" algn="r">
              <a:buNone/>
            </a:pPr>
            <a:r>
              <a:rPr lang="en-US" sz="1800" b="1" dirty="0">
                <a:solidFill>
                  <a:srgbClr val="FFFFFF"/>
                </a:solidFill>
                <a:latin typeface="Be Vietnam Pro" pitchFamily="34" charset="0"/>
                <a:ea typeface="Be Vietnam Pro" pitchFamily="34" charset="-122"/>
                <a:cs typeface="Be Vietnam Pro" pitchFamily="34" charset="-120"/>
              </a:rPr>
              <a:t>RMSE</a:t>
            </a:r>
            <a:endParaRPr lang="en-US" sz="1800" dirty="0"/>
          </a:p>
        </p:txBody>
      </p:sp>
      <p:sp>
        <p:nvSpPr>
          <p:cNvPr id="11" name="Text 9"/>
          <p:cNvSpPr/>
          <p:nvPr/>
        </p:nvSpPr>
        <p:spPr>
          <a:xfrm>
            <a:off x="8018751" y="2454582"/>
            <a:ext cx="1303518" cy="323850"/>
          </a:xfrm>
          <a:prstGeom prst="rect">
            <a:avLst/>
          </a:prstGeom>
          <a:noFill/>
          <a:ln/>
        </p:spPr>
        <p:txBody>
          <a:bodyPr wrap="square" lIns="25400" tIns="25400" rIns="25400" bIns="25400" rtlCol="0" anchor="ctr">
            <a:normAutofit/>
          </a:bodyPr>
          <a:lstStyle/>
          <a:p>
            <a:pPr marL="0" indent="0" algn="r">
              <a:buNone/>
            </a:pPr>
            <a:r>
              <a:rPr lang="en-US" sz="1800" b="1" dirty="0">
                <a:solidFill>
                  <a:srgbClr val="FFFFFF"/>
                </a:solidFill>
                <a:latin typeface="Be Vietnam Pro" pitchFamily="34" charset="0"/>
                <a:ea typeface="Be Vietnam Pro" pitchFamily="34" charset="-122"/>
                <a:cs typeface="Be Vietnam Pro" pitchFamily="34" charset="-120"/>
              </a:rPr>
              <a:t>Time(s)</a:t>
            </a:r>
            <a:endParaRPr lang="en-US" sz="1800" dirty="0"/>
          </a:p>
        </p:txBody>
      </p:sp>
      <p:sp>
        <p:nvSpPr>
          <p:cNvPr id="12" name="Shape 10"/>
          <p:cNvSpPr/>
          <p:nvPr/>
        </p:nvSpPr>
        <p:spPr>
          <a:xfrm>
            <a:off x="876192" y="3450377"/>
            <a:ext cx="8598477" cy="9525"/>
          </a:xfrm>
          <a:prstGeom prst="rect">
            <a:avLst/>
          </a:prstGeom>
          <a:solidFill>
            <a:srgbClr val="DBE3F5"/>
          </a:solidFill>
          <a:ln/>
        </p:spPr>
        <p:txBody>
          <a:bodyPr/>
          <a:lstStyle/>
          <a:p>
            <a:endParaRPr lang="en-US"/>
          </a:p>
        </p:txBody>
      </p:sp>
      <p:sp>
        <p:nvSpPr>
          <p:cNvPr id="13" name="Text 11"/>
          <p:cNvSpPr/>
          <p:nvPr/>
        </p:nvSpPr>
        <p:spPr>
          <a:xfrm>
            <a:off x="1028592" y="3026082"/>
            <a:ext cx="2300937" cy="328180"/>
          </a:xfrm>
          <a:prstGeom prst="rect">
            <a:avLst/>
          </a:prstGeom>
          <a:noFill/>
          <a:ln/>
        </p:spPr>
        <p:txBody>
          <a:bodyPr wrap="square" lIns="25400" tIns="25400" rIns="25400" bIns="25400" rtlCol="0" anchor="ctr">
            <a:normAutofit/>
          </a:bodyPr>
          <a:lstStyle/>
          <a:p>
            <a:pPr marL="0" indent="0" algn="l">
              <a:buNone/>
            </a:pPr>
            <a:r>
              <a:rPr lang="en-US" sz="1800" b="1" dirty="0">
                <a:solidFill>
                  <a:srgbClr val="5D6B88"/>
                </a:solidFill>
                <a:latin typeface="Be Vietnam Pro" pitchFamily="34" charset="0"/>
                <a:ea typeface="Be Vietnam Pro" pitchFamily="34" charset="-122"/>
                <a:cs typeface="Be Vietnam Pro" pitchFamily="34" charset="-120"/>
              </a:rPr>
              <a:t>Baseline</a:t>
            </a:r>
            <a:endParaRPr lang="en-US" sz="1800" dirty="0"/>
          </a:p>
        </p:txBody>
      </p:sp>
      <p:sp>
        <p:nvSpPr>
          <p:cNvPr id="14" name="Text 12"/>
          <p:cNvSpPr/>
          <p:nvPr/>
        </p:nvSpPr>
        <p:spPr>
          <a:xfrm>
            <a:off x="3443828" y="3026082"/>
            <a:ext cx="1646526"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5D6B88"/>
                </a:solidFill>
                <a:latin typeface="Be Vietnam Pro" pitchFamily="34" charset="0"/>
                <a:ea typeface="Be Vietnam Pro" pitchFamily="34" charset="-122"/>
                <a:cs typeface="Be Vietnam Pro" pitchFamily="34" charset="-120"/>
              </a:rPr>
              <a:t>0.500</a:t>
            </a:r>
            <a:endParaRPr lang="en-US" sz="1800" dirty="0"/>
          </a:p>
        </p:txBody>
      </p:sp>
      <p:sp>
        <p:nvSpPr>
          <p:cNvPr id="15" name="Text 13"/>
          <p:cNvSpPr/>
          <p:nvPr/>
        </p:nvSpPr>
        <p:spPr>
          <a:xfrm>
            <a:off x="5242754" y="3026082"/>
            <a:ext cx="1385400"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5D6B88"/>
                </a:solidFill>
                <a:latin typeface="Be Vietnam Pro" pitchFamily="34" charset="0"/>
                <a:ea typeface="Be Vietnam Pro" pitchFamily="34" charset="-122"/>
                <a:cs typeface="Be Vietnam Pro" pitchFamily="34" charset="-120"/>
              </a:rPr>
              <a:t>0.820</a:t>
            </a:r>
            <a:endParaRPr lang="en-US" sz="1800" dirty="0"/>
          </a:p>
        </p:txBody>
      </p:sp>
      <p:sp>
        <p:nvSpPr>
          <p:cNvPr id="16" name="Text 14"/>
          <p:cNvSpPr/>
          <p:nvPr/>
        </p:nvSpPr>
        <p:spPr>
          <a:xfrm>
            <a:off x="6780555" y="3026082"/>
            <a:ext cx="1047696"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5D6B88"/>
                </a:solidFill>
                <a:latin typeface="Be Vietnam Pro" pitchFamily="34" charset="0"/>
                <a:ea typeface="Be Vietnam Pro" pitchFamily="34" charset="-122"/>
                <a:cs typeface="Be Vietnam Pro" pitchFamily="34" charset="-120"/>
              </a:rPr>
              <a:t>0.384</a:t>
            </a:r>
            <a:endParaRPr lang="en-US" sz="1800" dirty="0"/>
          </a:p>
        </p:txBody>
      </p:sp>
      <p:sp>
        <p:nvSpPr>
          <p:cNvPr id="17" name="Text 15"/>
          <p:cNvSpPr/>
          <p:nvPr/>
        </p:nvSpPr>
        <p:spPr>
          <a:xfrm>
            <a:off x="8018751" y="3026082"/>
            <a:ext cx="1303518"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5D6B88"/>
                </a:solidFill>
                <a:latin typeface="Be Vietnam Pro" pitchFamily="34" charset="0"/>
                <a:ea typeface="Be Vietnam Pro" pitchFamily="34" charset="-122"/>
                <a:cs typeface="Be Vietnam Pro" pitchFamily="34" charset="-120"/>
              </a:rPr>
              <a:t>0</a:t>
            </a:r>
            <a:endParaRPr lang="en-US" sz="1800" dirty="0"/>
          </a:p>
        </p:txBody>
      </p:sp>
      <p:sp>
        <p:nvSpPr>
          <p:cNvPr id="18" name="Shape 16"/>
          <p:cNvSpPr/>
          <p:nvPr/>
        </p:nvSpPr>
        <p:spPr>
          <a:xfrm>
            <a:off x="876192" y="4030536"/>
            <a:ext cx="8598477" cy="9525"/>
          </a:xfrm>
          <a:prstGeom prst="rect">
            <a:avLst/>
          </a:prstGeom>
          <a:solidFill>
            <a:srgbClr val="DBE3F5"/>
          </a:solidFill>
          <a:ln/>
        </p:spPr>
        <p:txBody>
          <a:bodyPr/>
          <a:lstStyle/>
          <a:p>
            <a:endParaRPr lang="en-US"/>
          </a:p>
        </p:txBody>
      </p:sp>
      <p:sp>
        <p:nvSpPr>
          <p:cNvPr id="19" name="Text 17"/>
          <p:cNvSpPr/>
          <p:nvPr/>
        </p:nvSpPr>
        <p:spPr>
          <a:xfrm>
            <a:off x="1028592" y="3601911"/>
            <a:ext cx="2300937" cy="332509"/>
          </a:xfrm>
          <a:prstGeom prst="rect">
            <a:avLst/>
          </a:prstGeom>
          <a:noFill/>
          <a:ln/>
        </p:spPr>
        <p:txBody>
          <a:bodyPr wrap="square" lIns="25400" tIns="25400" rIns="25400" bIns="25400" rtlCol="0" anchor="ctr">
            <a:normAutofit/>
          </a:bodyPr>
          <a:lstStyle/>
          <a:p>
            <a:pPr marL="0" indent="0" algn="l">
              <a:buNone/>
            </a:pPr>
            <a:r>
              <a:rPr lang="en-US" sz="1800" b="1" dirty="0">
                <a:solidFill>
                  <a:srgbClr val="16223D"/>
                </a:solidFill>
                <a:latin typeface="Be Vietnam Pro" pitchFamily="34" charset="0"/>
                <a:ea typeface="Be Vietnam Pro" pitchFamily="34" charset="-122"/>
                <a:cs typeface="Be Vietnam Pro" pitchFamily="34" charset="-120"/>
              </a:rPr>
              <a:t>BKT</a:t>
            </a:r>
            <a:endParaRPr lang="en-US" sz="1800" dirty="0"/>
          </a:p>
        </p:txBody>
      </p:sp>
      <p:sp>
        <p:nvSpPr>
          <p:cNvPr id="20" name="Text 18"/>
          <p:cNvSpPr/>
          <p:nvPr/>
        </p:nvSpPr>
        <p:spPr>
          <a:xfrm>
            <a:off x="3443828" y="3601911"/>
            <a:ext cx="1646526" cy="332509"/>
          </a:xfrm>
          <a:prstGeom prst="rect">
            <a:avLst/>
          </a:prstGeom>
          <a:noFill/>
          <a:ln/>
        </p:spPr>
        <p:txBody>
          <a:bodyPr wrap="square" lIns="25400" tIns="25400" rIns="25400" bIns="25400" rtlCol="0" anchor="ctr">
            <a:normAutofit/>
          </a:bodyPr>
          <a:lstStyle/>
          <a:p>
            <a:pPr marL="0" indent="0" algn="r">
              <a:buNone/>
            </a:pPr>
            <a:r>
              <a:rPr lang="en-US" sz="1800" b="1" dirty="0">
                <a:solidFill>
                  <a:srgbClr val="1D50C6"/>
                </a:solidFill>
                <a:latin typeface="Be Vietnam Pro" pitchFamily="34" charset="0"/>
                <a:ea typeface="Be Vietnam Pro" pitchFamily="34" charset="-122"/>
                <a:cs typeface="Be Vietnam Pro" pitchFamily="34" charset="-120"/>
              </a:rPr>
              <a:t>0.677</a:t>
            </a:r>
            <a:endParaRPr lang="en-US" sz="1800" dirty="0"/>
          </a:p>
        </p:txBody>
      </p:sp>
      <p:sp>
        <p:nvSpPr>
          <p:cNvPr id="21" name="Text 19"/>
          <p:cNvSpPr/>
          <p:nvPr/>
        </p:nvSpPr>
        <p:spPr>
          <a:xfrm>
            <a:off x="5242754" y="3601911"/>
            <a:ext cx="1385400"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0.905</a:t>
            </a:r>
            <a:endParaRPr lang="en-US" sz="1800" dirty="0"/>
          </a:p>
        </p:txBody>
      </p:sp>
      <p:sp>
        <p:nvSpPr>
          <p:cNvPr id="22" name="Text 20"/>
          <p:cNvSpPr/>
          <p:nvPr/>
        </p:nvSpPr>
        <p:spPr>
          <a:xfrm>
            <a:off x="6780555" y="3601911"/>
            <a:ext cx="104769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0.374</a:t>
            </a:r>
            <a:endParaRPr lang="en-US" sz="1800" dirty="0"/>
          </a:p>
        </p:txBody>
      </p:sp>
      <p:sp>
        <p:nvSpPr>
          <p:cNvPr id="23" name="Text 21"/>
          <p:cNvSpPr/>
          <p:nvPr/>
        </p:nvSpPr>
        <p:spPr>
          <a:xfrm>
            <a:off x="8018751" y="3601911"/>
            <a:ext cx="1303518"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61.9</a:t>
            </a:r>
            <a:endParaRPr lang="en-US" sz="1800" dirty="0"/>
          </a:p>
        </p:txBody>
      </p:sp>
      <p:sp>
        <p:nvSpPr>
          <p:cNvPr id="24" name="Shape 22"/>
          <p:cNvSpPr/>
          <p:nvPr/>
        </p:nvSpPr>
        <p:spPr>
          <a:xfrm>
            <a:off x="876192" y="4610695"/>
            <a:ext cx="8598477" cy="9525"/>
          </a:xfrm>
          <a:prstGeom prst="rect">
            <a:avLst/>
          </a:prstGeom>
          <a:solidFill>
            <a:srgbClr val="DBE3F5"/>
          </a:solidFill>
          <a:ln/>
        </p:spPr>
        <p:txBody>
          <a:bodyPr/>
          <a:lstStyle/>
          <a:p>
            <a:endParaRPr lang="en-US"/>
          </a:p>
        </p:txBody>
      </p:sp>
      <p:sp>
        <p:nvSpPr>
          <p:cNvPr id="25" name="Text 23"/>
          <p:cNvSpPr/>
          <p:nvPr/>
        </p:nvSpPr>
        <p:spPr>
          <a:xfrm>
            <a:off x="1028592" y="4182070"/>
            <a:ext cx="2300937" cy="332509"/>
          </a:xfrm>
          <a:prstGeom prst="rect">
            <a:avLst/>
          </a:prstGeom>
          <a:noFill/>
          <a:ln/>
        </p:spPr>
        <p:txBody>
          <a:bodyPr wrap="square" lIns="25400" tIns="25400" rIns="25400" bIns="25400" rtlCol="0" anchor="ctr">
            <a:normAutofit/>
          </a:bodyPr>
          <a:lstStyle/>
          <a:p>
            <a:pPr marL="0" indent="0" algn="l">
              <a:buNone/>
            </a:pPr>
            <a:r>
              <a:rPr lang="en-US" sz="1800" b="1" dirty="0">
                <a:solidFill>
                  <a:srgbClr val="16223D"/>
                </a:solidFill>
                <a:latin typeface="Be Vietnam Pro" pitchFamily="34" charset="0"/>
                <a:ea typeface="Be Vietnam Pro" pitchFamily="34" charset="-122"/>
                <a:cs typeface="Be Vietnam Pro" pitchFamily="34" charset="-120"/>
              </a:rPr>
              <a:t>DKT-Binary</a:t>
            </a:r>
            <a:endParaRPr lang="en-US" sz="1800" dirty="0"/>
          </a:p>
        </p:txBody>
      </p:sp>
      <p:sp>
        <p:nvSpPr>
          <p:cNvPr id="26" name="Text 24"/>
          <p:cNvSpPr/>
          <p:nvPr/>
        </p:nvSpPr>
        <p:spPr>
          <a:xfrm>
            <a:off x="3443828" y="4182070"/>
            <a:ext cx="164652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0.666</a:t>
            </a:r>
            <a:endParaRPr lang="en-US" sz="1800" dirty="0"/>
          </a:p>
        </p:txBody>
      </p:sp>
      <p:sp>
        <p:nvSpPr>
          <p:cNvPr id="27" name="Text 25"/>
          <p:cNvSpPr/>
          <p:nvPr/>
        </p:nvSpPr>
        <p:spPr>
          <a:xfrm>
            <a:off x="5242754" y="4182070"/>
            <a:ext cx="1385400"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0.905</a:t>
            </a:r>
            <a:endParaRPr lang="en-US" sz="1800" dirty="0"/>
          </a:p>
        </p:txBody>
      </p:sp>
      <p:sp>
        <p:nvSpPr>
          <p:cNvPr id="28" name="Text 26"/>
          <p:cNvSpPr/>
          <p:nvPr/>
        </p:nvSpPr>
        <p:spPr>
          <a:xfrm>
            <a:off x="6780555" y="4182070"/>
            <a:ext cx="104769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0.375</a:t>
            </a:r>
            <a:endParaRPr lang="en-US" sz="1800" dirty="0"/>
          </a:p>
        </p:txBody>
      </p:sp>
      <p:sp>
        <p:nvSpPr>
          <p:cNvPr id="29" name="Text 27"/>
          <p:cNvSpPr/>
          <p:nvPr/>
        </p:nvSpPr>
        <p:spPr>
          <a:xfrm>
            <a:off x="8018751" y="4182070"/>
            <a:ext cx="1303518"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30.8</a:t>
            </a:r>
            <a:endParaRPr lang="en-US" sz="1800" dirty="0"/>
          </a:p>
        </p:txBody>
      </p:sp>
      <p:sp>
        <p:nvSpPr>
          <p:cNvPr id="30" name="Shape 28"/>
          <p:cNvSpPr/>
          <p:nvPr/>
        </p:nvSpPr>
        <p:spPr>
          <a:xfrm>
            <a:off x="876192" y="4619354"/>
            <a:ext cx="8598477" cy="597477"/>
          </a:xfrm>
          <a:prstGeom prst="rect">
            <a:avLst/>
          </a:prstGeom>
          <a:solidFill>
            <a:srgbClr val="EEF2FC"/>
          </a:solidFill>
          <a:ln/>
        </p:spPr>
        <p:txBody>
          <a:bodyPr/>
          <a:lstStyle/>
          <a:p>
            <a:endParaRPr lang="en-US"/>
          </a:p>
        </p:txBody>
      </p:sp>
      <p:sp>
        <p:nvSpPr>
          <p:cNvPr id="31" name="Shape 29"/>
          <p:cNvSpPr/>
          <p:nvPr/>
        </p:nvSpPr>
        <p:spPr>
          <a:xfrm>
            <a:off x="876192" y="5208173"/>
            <a:ext cx="8598477" cy="9525"/>
          </a:xfrm>
          <a:prstGeom prst="rect">
            <a:avLst/>
          </a:prstGeom>
          <a:solidFill>
            <a:srgbClr val="DBE3F5"/>
          </a:solidFill>
          <a:ln/>
        </p:spPr>
        <p:txBody>
          <a:bodyPr/>
          <a:lstStyle/>
          <a:p>
            <a:endParaRPr lang="en-US"/>
          </a:p>
        </p:txBody>
      </p:sp>
      <p:sp>
        <p:nvSpPr>
          <p:cNvPr id="32" name="Text 30"/>
          <p:cNvSpPr/>
          <p:nvPr/>
        </p:nvSpPr>
        <p:spPr>
          <a:xfrm>
            <a:off x="1028592" y="4762229"/>
            <a:ext cx="2300937" cy="349827"/>
          </a:xfrm>
          <a:prstGeom prst="rect">
            <a:avLst/>
          </a:prstGeom>
          <a:noFill/>
          <a:ln/>
        </p:spPr>
        <p:txBody>
          <a:bodyPr wrap="square" lIns="25400" tIns="25400" rIns="25400" bIns="25400" rtlCol="0" anchor="ctr">
            <a:normAutofit/>
          </a:bodyPr>
          <a:lstStyle/>
          <a:p>
            <a:pPr marL="0" indent="0" algn="l">
              <a:buNone/>
            </a:pPr>
            <a:r>
              <a:rPr lang="en-US" sz="1800" b="1" dirty="0">
                <a:solidFill>
                  <a:srgbClr val="0F2F7A"/>
                </a:solidFill>
                <a:latin typeface="Be Vietnam Pro" pitchFamily="34" charset="0"/>
                <a:ea typeface="Be Vietnam Pro" pitchFamily="34" charset="-122"/>
                <a:cs typeface="Be Vietnam Pro" pitchFamily="34" charset="-120"/>
              </a:rPr>
              <a:t>DKT-Quality★</a:t>
            </a:r>
            <a:endParaRPr lang="en-US" sz="1800" dirty="0"/>
          </a:p>
        </p:txBody>
      </p:sp>
      <p:sp>
        <p:nvSpPr>
          <p:cNvPr id="33" name="Text 31"/>
          <p:cNvSpPr/>
          <p:nvPr/>
        </p:nvSpPr>
        <p:spPr>
          <a:xfrm>
            <a:off x="3443828" y="4762229"/>
            <a:ext cx="1646526" cy="349827"/>
          </a:xfrm>
          <a:prstGeom prst="rect">
            <a:avLst/>
          </a:prstGeom>
          <a:noFill/>
          <a:ln/>
        </p:spPr>
        <p:txBody>
          <a:bodyPr wrap="square" lIns="25400" tIns="25400" rIns="25400" bIns="25400" rtlCol="0" anchor="ctr">
            <a:normAutofit/>
          </a:bodyPr>
          <a:lstStyle/>
          <a:p>
            <a:pPr marL="0" indent="0" algn="r">
              <a:buNone/>
            </a:pPr>
            <a:r>
              <a:rPr lang="en-US" sz="1800" b="1" dirty="0">
                <a:solidFill>
                  <a:srgbClr val="16223D"/>
                </a:solidFill>
                <a:latin typeface="Be Vietnam Pro" pitchFamily="34" charset="0"/>
                <a:ea typeface="Be Vietnam Pro" pitchFamily="34" charset="-122"/>
                <a:cs typeface="Be Vietnam Pro" pitchFamily="34" charset="-120"/>
              </a:rPr>
              <a:t>0.672</a:t>
            </a:r>
            <a:endParaRPr lang="en-US" sz="1800" dirty="0"/>
          </a:p>
        </p:txBody>
      </p:sp>
      <p:sp>
        <p:nvSpPr>
          <p:cNvPr id="34" name="Text 32"/>
          <p:cNvSpPr/>
          <p:nvPr/>
        </p:nvSpPr>
        <p:spPr>
          <a:xfrm>
            <a:off x="5242754" y="4762229"/>
            <a:ext cx="1385400" cy="349827"/>
          </a:xfrm>
          <a:prstGeom prst="rect">
            <a:avLst/>
          </a:prstGeom>
          <a:noFill/>
          <a:ln/>
        </p:spPr>
        <p:txBody>
          <a:bodyPr wrap="square" lIns="25400" tIns="25400" rIns="25400" bIns="25400" rtlCol="0" anchor="ctr">
            <a:normAutofit/>
          </a:bodyPr>
          <a:lstStyle/>
          <a:p>
            <a:pPr marL="0" indent="0" algn="r">
              <a:buNone/>
            </a:pPr>
            <a:r>
              <a:rPr lang="en-US" sz="1800" b="1" dirty="0">
                <a:solidFill>
                  <a:srgbClr val="1D50C6"/>
                </a:solidFill>
                <a:latin typeface="Be Vietnam Pro" pitchFamily="34" charset="0"/>
                <a:ea typeface="Be Vietnam Pro" pitchFamily="34" charset="-122"/>
                <a:cs typeface="Be Vietnam Pro" pitchFamily="34" charset="-120"/>
              </a:rPr>
              <a:t>0.907</a:t>
            </a:r>
            <a:endParaRPr lang="en-US" sz="1800" dirty="0"/>
          </a:p>
        </p:txBody>
      </p:sp>
      <p:sp>
        <p:nvSpPr>
          <p:cNvPr id="35" name="Text 33"/>
          <p:cNvSpPr/>
          <p:nvPr/>
        </p:nvSpPr>
        <p:spPr>
          <a:xfrm>
            <a:off x="6780555" y="4762229"/>
            <a:ext cx="1047696" cy="349827"/>
          </a:xfrm>
          <a:prstGeom prst="rect">
            <a:avLst/>
          </a:prstGeom>
          <a:noFill/>
          <a:ln/>
        </p:spPr>
        <p:txBody>
          <a:bodyPr wrap="square" lIns="25400" tIns="25400" rIns="25400" bIns="25400" rtlCol="0" anchor="ctr">
            <a:normAutofit/>
          </a:bodyPr>
          <a:lstStyle/>
          <a:p>
            <a:pPr marL="0" indent="0" algn="r">
              <a:buNone/>
            </a:pPr>
            <a:r>
              <a:rPr lang="en-US" sz="1800" b="1" dirty="0">
                <a:solidFill>
                  <a:srgbClr val="1D50C6"/>
                </a:solidFill>
                <a:latin typeface="Be Vietnam Pro" pitchFamily="34" charset="0"/>
                <a:ea typeface="Be Vietnam Pro" pitchFamily="34" charset="-122"/>
                <a:cs typeface="Be Vietnam Pro" pitchFamily="34" charset="-120"/>
              </a:rPr>
              <a:t>0.355</a:t>
            </a:r>
            <a:endParaRPr lang="en-US" sz="1800" dirty="0"/>
          </a:p>
        </p:txBody>
      </p:sp>
      <p:sp>
        <p:nvSpPr>
          <p:cNvPr id="36" name="Text 34"/>
          <p:cNvSpPr/>
          <p:nvPr/>
        </p:nvSpPr>
        <p:spPr>
          <a:xfrm>
            <a:off x="8018751" y="4762229"/>
            <a:ext cx="1303518" cy="349827"/>
          </a:xfrm>
          <a:prstGeom prst="rect">
            <a:avLst/>
          </a:prstGeom>
          <a:noFill/>
          <a:ln/>
        </p:spPr>
        <p:txBody>
          <a:bodyPr wrap="square" lIns="25400" tIns="25400" rIns="25400" bIns="25400" rtlCol="0" anchor="ctr">
            <a:normAutofit/>
          </a:bodyPr>
          <a:lstStyle/>
          <a:p>
            <a:pPr marL="0" indent="0" algn="r">
              <a:buNone/>
            </a:pPr>
            <a:r>
              <a:rPr lang="en-US" sz="1800" b="1" dirty="0">
                <a:solidFill>
                  <a:srgbClr val="16223D"/>
                </a:solidFill>
                <a:latin typeface="Be Vietnam Pro" pitchFamily="34" charset="0"/>
                <a:ea typeface="Be Vietnam Pro" pitchFamily="34" charset="-122"/>
                <a:cs typeface="Be Vietnam Pro" pitchFamily="34" charset="-120"/>
              </a:rPr>
              <a:t>20.9</a:t>
            </a:r>
            <a:endParaRPr lang="en-US" sz="1800" dirty="0"/>
          </a:p>
        </p:txBody>
      </p:sp>
      <p:sp>
        <p:nvSpPr>
          <p:cNvPr id="37" name="Shape 35"/>
          <p:cNvSpPr/>
          <p:nvPr/>
        </p:nvSpPr>
        <p:spPr>
          <a:xfrm>
            <a:off x="876192" y="6368796"/>
            <a:ext cx="8598477" cy="9525"/>
          </a:xfrm>
          <a:prstGeom prst="rect">
            <a:avLst/>
          </a:prstGeom>
          <a:solidFill>
            <a:srgbClr val="DBE3F5"/>
          </a:solidFill>
          <a:ln/>
        </p:spPr>
        <p:txBody>
          <a:bodyPr/>
          <a:lstStyle/>
          <a:p>
            <a:endParaRPr lang="en-US"/>
          </a:p>
        </p:txBody>
      </p:sp>
      <p:sp>
        <p:nvSpPr>
          <p:cNvPr id="38" name="Text 36"/>
          <p:cNvSpPr/>
          <p:nvPr/>
        </p:nvSpPr>
        <p:spPr>
          <a:xfrm>
            <a:off x="1028592" y="5359707"/>
            <a:ext cx="2300937" cy="332509"/>
          </a:xfrm>
          <a:prstGeom prst="rect">
            <a:avLst/>
          </a:prstGeom>
          <a:noFill/>
          <a:ln/>
        </p:spPr>
        <p:txBody>
          <a:bodyPr wrap="square" lIns="25400" tIns="25400" rIns="25400" bIns="25400" rtlCol="0" anchor="ctr">
            <a:normAutofit/>
          </a:bodyPr>
          <a:lstStyle/>
          <a:p>
            <a:pPr marL="0" indent="0" algn="l">
              <a:buNone/>
            </a:pPr>
            <a:r>
              <a:rPr lang="en-US" sz="1800" b="1" dirty="0">
                <a:solidFill>
                  <a:srgbClr val="16223D"/>
                </a:solidFill>
                <a:latin typeface="Be Vietnam Pro" pitchFamily="34" charset="0"/>
                <a:ea typeface="Be Vietnam Pro" pitchFamily="34" charset="-122"/>
                <a:cs typeface="Be Vietnam Pro" pitchFamily="34" charset="-120"/>
              </a:rPr>
              <a:t>SAKT-Binary</a:t>
            </a:r>
            <a:endParaRPr lang="en-US" sz="1800" dirty="0"/>
          </a:p>
        </p:txBody>
      </p:sp>
      <p:sp>
        <p:nvSpPr>
          <p:cNvPr id="39" name="Text 37"/>
          <p:cNvSpPr/>
          <p:nvPr/>
        </p:nvSpPr>
        <p:spPr>
          <a:xfrm>
            <a:off x="3443828" y="5359707"/>
            <a:ext cx="164652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0.668</a:t>
            </a:r>
            <a:endParaRPr lang="en-US" sz="1800" dirty="0"/>
          </a:p>
        </p:txBody>
      </p:sp>
      <p:sp>
        <p:nvSpPr>
          <p:cNvPr id="40" name="Text 38"/>
          <p:cNvSpPr/>
          <p:nvPr/>
        </p:nvSpPr>
        <p:spPr>
          <a:xfrm>
            <a:off x="5242754" y="5359707"/>
            <a:ext cx="1385400"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0.903</a:t>
            </a:r>
            <a:endParaRPr lang="en-US" sz="1800" dirty="0"/>
          </a:p>
        </p:txBody>
      </p:sp>
      <p:sp>
        <p:nvSpPr>
          <p:cNvPr id="41" name="Text 39"/>
          <p:cNvSpPr/>
          <p:nvPr/>
        </p:nvSpPr>
        <p:spPr>
          <a:xfrm>
            <a:off x="6780555" y="5359707"/>
            <a:ext cx="104769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0.373</a:t>
            </a:r>
            <a:endParaRPr lang="en-US" sz="1800" dirty="0"/>
          </a:p>
        </p:txBody>
      </p:sp>
      <p:sp>
        <p:nvSpPr>
          <p:cNvPr id="42" name="Text 40"/>
          <p:cNvSpPr/>
          <p:nvPr/>
        </p:nvSpPr>
        <p:spPr>
          <a:xfrm>
            <a:off x="8018751" y="5359707"/>
            <a:ext cx="1303518" cy="332509"/>
          </a:xfrm>
          <a:prstGeom prst="rect">
            <a:avLst/>
          </a:prstGeom>
          <a:noFill/>
          <a:ln/>
        </p:spPr>
        <p:txBody>
          <a:bodyPr wrap="square" lIns="25400" tIns="25400" rIns="25400" bIns="25400" rtlCol="0" anchor="ctr">
            <a:normAutofit/>
          </a:bodyPr>
          <a:lstStyle/>
          <a:p>
            <a:pPr marL="0" indent="0" algn="r">
              <a:buNone/>
            </a:pPr>
            <a:r>
              <a:rPr lang="en-US" sz="1800" b="1" dirty="0">
                <a:solidFill>
                  <a:srgbClr val="1D50C6"/>
                </a:solidFill>
                <a:latin typeface="Be Vietnam Pro" pitchFamily="34" charset="0"/>
                <a:ea typeface="Be Vietnam Pro" pitchFamily="34" charset="-122"/>
                <a:cs typeface="Be Vietnam Pro" pitchFamily="34" charset="-120"/>
              </a:rPr>
              <a:t>11.3</a:t>
            </a:r>
            <a:endParaRPr lang="en-US" sz="1800" dirty="0"/>
          </a:p>
        </p:txBody>
      </p:sp>
      <p:sp>
        <p:nvSpPr>
          <p:cNvPr id="43" name="Text 41"/>
          <p:cNvSpPr/>
          <p:nvPr/>
        </p:nvSpPr>
        <p:spPr>
          <a:xfrm>
            <a:off x="1028592" y="6520586"/>
            <a:ext cx="2300937" cy="328180"/>
          </a:xfrm>
          <a:prstGeom prst="rect">
            <a:avLst/>
          </a:prstGeom>
          <a:noFill/>
          <a:ln/>
        </p:spPr>
        <p:txBody>
          <a:bodyPr wrap="square" lIns="25400" tIns="25400" rIns="25400" bIns="25400" rtlCol="0" anchor="ctr">
            <a:normAutofit/>
          </a:bodyPr>
          <a:lstStyle/>
          <a:p>
            <a:pPr marL="0" indent="0" algn="l">
              <a:buNone/>
            </a:pPr>
            <a:r>
              <a:rPr lang="en-US" sz="1800" b="1" dirty="0">
                <a:solidFill>
                  <a:srgbClr val="16223D"/>
                </a:solidFill>
                <a:latin typeface="Be Vietnam Pro" pitchFamily="34" charset="0"/>
                <a:ea typeface="Be Vietnam Pro" pitchFamily="34" charset="-122"/>
                <a:cs typeface="Be Vietnam Pro" pitchFamily="34" charset="-120"/>
              </a:rPr>
              <a:t>DKT-Deep</a:t>
            </a:r>
            <a:endParaRPr lang="en-US" sz="1800" dirty="0"/>
          </a:p>
        </p:txBody>
      </p:sp>
      <p:sp>
        <p:nvSpPr>
          <p:cNvPr id="44" name="Text 42"/>
          <p:cNvSpPr/>
          <p:nvPr/>
        </p:nvSpPr>
        <p:spPr>
          <a:xfrm>
            <a:off x="3443828" y="6520586"/>
            <a:ext cx="1646526"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0.669</a:t>
            </a:r>
            <a:endParaRPr lang="en-US" sz="1800" dirty="0"/>
          </a:p>
        </p:txBody>
      </p:sp>
      <p:sp>
        <p:nvSpPr>
          <p:cNvPr id="45" name="Text 43"/>
          <p:cNvSpPr/>
          <p:nvPr/>
        </p:nvSpPr>
        <p:spPr>
          <a:xfrm>
            <a:off x="5242754" y="6520586"/>
            <a:ext cx="1385400"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0.906</a:t>
            </a:r>
            <a:endParaRPr lang="en-US" sz="1800" dirty="0"/>
          </a:p>
        </p:txBody>
      </p:sp>
      <p:sp>
        <p:nvSpPr>
          <p:cNvPr id="46" name="Text 44"/>
          <p:cNvSpPr/>
          <p:nvPr/>
        </p:nvSpPr>
        <p:spPr>
          <a:xfrm>
            <a:off x="6780555" y="6520586"/>
            <a:ext cx="1047696"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0.375</a:t>
            </a:r>
            <a:endParaRPr lang="en-US" sz="1800" dirty="0"/>
          </a:p>
        </p:txBody>
      </p:sp>
      <p:sp>
        <p:nvSpPr>
          <p:cNvPr id="47" name="Text 45"/>
          <p:cNvSpPr/>
          <p:nvPr/>
        </p:nvSpPr>
        <p:spPr>
          <a:xfrm>
            <a:off x="8018751" y="6520586"/>
            <a:ext cx="1303518" cy="328180"/>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116.4</a:t>
            </a:r>
            <a:endParaRPr lang="en-US" sz="1800" dirty="0"/>
          </a:p>
        </p:txBody>
      </p:sp>
      <p:sp>
        <p:nvSpPr>
          <p:cNvPr id="48" name="Text 46"/>
          <p:cNvSpPr/>
          <p:nvPr/>
        </p:nvSpPr>
        <p:spPr>
          <a:xfrm>
            <a:off x="876192" y="9426394"/>
            <a:ext cx="8856431" cy="289187"/>
          </a:xfrm>
          <a:prstGeom prst="rect">
            <a:avLst/>
          </a:prstGeom>
          <a:noFill/>
          <a:ln/>
        </p:spPr>
        <p:txBody>
          <a:bodyPr wrap="square" lIns="25400" tIns="25400" rIns="25400" bIns="25400" rtlCol="0" anchor="t">
            <a:normAutofit/>
          </a:bodyPr>
          <a:lstStyle/>
          <a:p>
            <a:pPr marL="0" indent="0" algn="l">
              <a:buNone/>
            </a:pPr>
            <a:r>
              <a:rPr lang="en-US" sz="1575" b="1" dirty="0">
                <a:solidFill>
                  <a:srgbClr val="1D50C6"/>
                </a:solidFill>
                <a:latin typeface="Be Vietnam Pro" pitchFamily="34" charset="0"/>
                <a:ea typeface="Be Vietnam Pro" pitchFamily="34" charset="-122"/>
                <a:cs typeface="Be Vietnam Pro" pitchFamily="34" charset="-120"/>
              </a:rPr>
              <a:t>Đậm xanh </a:t>
            </a:r>
            <a:r>
              <a:rPr lang="en-US" sz="1575" dirty="0">
                <a:solidFill>
                  <a:srgbClr val="5D6B88"/>
                </a:solidFill>
                <a:latin typeface="Be Vietnam Pro" pitchFamily="34" charset="0"/>
                <a:ea typeface="Be Vietnam Pro" pitchFamily="34" charset="-122"/>
                <a:cs typeface="Be Vietnam Pro" pitchFamily="34" charset="-120"/>
              </a:rPr>
              <a:t>= giá trị tốt nhất mỗi cột.</a:t>
            </a:r>
            <a:endParaRPr lang="en-US" sz="1575" dirty="0"/>
          </a:p>
        </p:txBody>
      </p:sp>
      <p:sp>
        <p:nvSpPr>
          <p:cNvPr id="49" name="Shape 47"/>
          <p:cNvSpPr/>
          <p:nvPr/>
        </p:nvSpPr>
        <p:spPr>
          <a:xfrm>
            <a:off x="9855668" y="2311707"/>
            <a:ext cx="7556139" cy="7365774"/>
          </a:xfrm>
          <a:prstGeom prst="roundRect">
            <a:avLst>
              <a:gd name="adj" fmla="val 1810"/>
            </a:avLst>
          </a:prstGeom>
          <a:solidFill>
            <a:srgbClr val="FFFFFF"/>
          </a:solidFill>
          <a:ln w="8659">
            <a:solidFill>
              <a:srgbClr val="DBE3F5"/>
            </a:solidFill>
            <a:prstDash val="solid"/>
          </a:ln>
        </p:spPr>
        <p:txBody>
          <a:bodyPr/>
          <a:lstStyle/>
          <a:p>
            <a:endParaRPr lang="en-US"/>
          </a:p>
        </p:txBody>
      </p:sp>
      <p:pic>
        <p:nvPicPr>
          <p:cNvPr id="50" name="Image 0" descr="preencoded.png"/>
          <p:cNvPicPr>
            <a:picLocks noChangeAspect="1"/>
          </p:cNvPicPr>
          <p:nvPr/>
        </p:nvPicPr>
        <p:blipFill>
          <a:blip r:embed="rId3"/>
          <a:srcRect/>
          <a:stretch/>
        </p:blipFill>
        <p:spPr>
          <a:xfrm>
            <a:off x="10073770" y="4625308"/>
            <a:ext cx="7119938" cy="2738438"/>
          </a:xfrm>
          <a:prstGeom prst="rect">
            <a:avLst/>
          </a:prstGeom>
        </p:spPr>
      </p:pic>
      <p:sp>
        <p:nvSpPr>
          <p:cNvPr id="51" name="Text 23"/>
          <p:cNvSpPr/>
          <p:nvPr/>
        </p:nvSpPr>
        <p:spPr>
          <a:xfrm>
            <a:off x="1028592" y="5939942"/>
            <a:ext cx="2300937" cy="332509"/>
          </a:xfrm>
          <a:prstGeom prst="rect">
            <a:avLst/>
          </a:prstGeom>
          <a:noFill/>
          <a:ln/>
        </p:spPr>
        <p:txBody>
          <a:bodyPr wrap="square" lIns="25400" tIns="25400" rIns="25400" bIns="25400" rtlCol="0" anchor="ctr">
            <a:normAutofit/>
          </a:bodyPr>
          <a:lstStyle/>
          <a:p>
            <a:pPr marL="0" indent="0" algn="l">
              <a:buNone/>
            </a:pPr>
            <a:r>
              <a:rPr lang="en-US" sz="1800" b="1" dirty="0">
                <a:solidFill>
                  <a:srgbClr val="16223D"/>
                </a:solidFill>
                <a:latin typeface="Be Vietnam Pro" pitchFamily="34" charset="0"/>
                <a:ea typeface="Be Vietnam Pro" pitchFamily="34" charset="-122"/>
                <a:cs typeface="Be Vietnam Pro" pitchFamily="34" charset="-120"/>
              </a:rPr>
              <a:t>SAKT-Quality★</a:t>
            </a:r>
            <a:endParaRPr lang="en-US" sz="1800" dirty="0"/>
          </a:p>
        </p:txBody>
      </p:sp>
      <p:sp>
        <p:nvSpPr>
          <p:cNvPr id="52" name="Text 24"/>
          <p:cNvSpPr/>
          <p:nvPr/>
        </p:nvSpPr>
        <p:spPr>
          <a:xfrm>
            <a:off x="3443828" y="5939942"/>
            <a:ext cx="164652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0.667</a:t>
            </a:r>
            <a:endParaRPr lang="en-US" sz="1800" dirty="0"/>
          </a:p>
        </p:txBody>
      </p:sp>
      <p:sp>
        <p:nvSpPr>
          <p:cNvPr id="53" name="Text 25"/>
          <p:cNvSpPr/>
          <p:nvPr/>
        </p:nvSpPr>
        <p:spPr>
          <a:xfrm>
            <a:off x="5242754" y="5939942"/>
            <a:ext cx="1385400"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0.904</a:t>
            </a:r>
            <a:endParaRPr lang="en-US" sz="1800" dirty="0"/>
          </a:p>
        </p:txBody>
      </p:sp>
      <p:sp>
        <p:nvSpPr>
          <p:cNvPr id="54" name="Text 26"/>
          <p:cNvSpPr/>
          <p:nvPr/>
        </p:nvSpPr>
        <p:spPr>
          <a:xfrm>
            <a:off x="6780555" y="5939942"/>
            <a:ext cx="104769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0.356</a:t>
            </a:r>
            <a:endParaRPr lang="en-US" sz="1800" dirty="0"/>
          </a:p>
        </p:txBody>
      </p:sp>
      <p:sp>
        <p:nvSpPr>
          <p:cNvPr id="55" name="Text 27"/>
          <p:cNvSpPr/>
          <p:nvPr/>
        </p:nvSpPr>
        <p:spPr>
          <a:xfrm>
            <a:off x="8018751" y="5939942"/>
            <a:ext cx="1303518"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12.0</a:t>
            </a:r>
            <a:endParaRPr lang="en-US" sz="1800" dirty="0"/>
          </a:p>
        </p:txBody>
      </p:sp>
      <p:sp>
        <p:nvSpPr>
          <p:cNvPr id="56" name="Shape 16"/>
          <p:cNvSpPr/>
          <p:nvPr/>
        </p:nvSpPr>
        <p:spPr>
          <a:xfrm>
            <a:off x="876192" y="5788152"/>
            <a:ext cx="8598477" cy="9525"/>
          </a:xfrm>
          <a:prstGeom prst="rect">
            <a:avLst/>
          </a:prstGeom>
          <a:solidFill>
            <a:srgbClr val="DBE3F5"/>
          </a:solidFill>
          <a:ln/>
        </p:spPr>
        <p:txBody>
          <a:bodyPr/>
          <a:lstStyle/>
          <a:p>
            <a:endParaRPr lang="en-US"/>
          </a:p>
        </p:txBody>
      </p:sp>
      <p:sp>
        <p:nvSpPr>
          <p:cNvPr id="57" name="Text 23"/>
          <p:cNvSpPr/>
          <p:nvPr/>
        </p:nvSpPr>
        <p:spPr>
          <a:xfrm>
            <a:off x="1028592" y="7101230"/>
            <a:ext cx="2300937" cy="332509"/>
          </a:xfrm>
          <a:prstGeom prst="rect">
            <a:avLst/>
          </a:prstGeom>
          <a:noFill/>
          <a:ln/>
        </p:spPr>
        <p:txBody>
          <a:bodyPr wrap="square" lIns="25400" tIns="25400" rIns="25400" bIns="25400" rtlCol="0" anchor="ctr">
            <a:normAutofit/>
          </a:bodyPr>
          <a:lstStyle/>
          <a:p>
            <a:pPr marL="0" indent="0" algn="l">
              <a:buNone/>
            </a:pPr>
            <a:r>
              <a:rPr lang="en-US" sz="1800" b="1" dirty="0">
                <a:solidFill>
                  <a:srgbClr val="16223D"/>
                </a:solidFill>
                <a:latin typeface="Be Vietnam Pro" pitchFamily="34" charset="0"/>
                <a:ea typeface="Be Vietnam Pro" pitchFamily="34" charset="-122"/>
                <a:cs typeface="Be Vietnam Pro" pitchFamily="34" charset="-120"/>
              </a:rPr>
              <a:t>SAKT-Deep</a:t>
            </a:r>
            <a:endParaRPr lang="en-US" sz="1800" dirty="0"/>
          </a:p>
        </p:txBody>
      </p:sp>
      <p:sp>
        <p:nvSpPr>
          <p:cNvPr id="58" name="Text 24"/>
          <p:cNvSpPr/>
          <p:nvPr/>
        </p:nvSpPr>
        <p:spPr>
          <a:xfrm>
            <a:off x="3443828" y="7101230"/>
            <a:ext cx="164652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0.670</a:t>
            </a:r>
            <a:endParaRPr lang="en-US" sz="1800" dirty="0"/>
          </a:p>
        </p:txBody>
      </p:sp>
      <p:sp>
        <p:nvSpPr>
          <p:cNvPr id="59" name="Text 25"/>
          <p:cNvSpPr/>
          <p:nvPr/>
        </p:nvSpPr>
        <p:spPr>
          <a:xfrm>
            <a:off x="5242754" y="7101230"/>
            <a:ext cx="1385400"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0.906</a:t>
            </a:r>
            <a:endParaRPr lang="en-US" sz="1800" dirty="0"/>
          </a:p>
        </p:txBody>
      </p:sp>
      <p:sp>
        <p:nvSpPr>
          <p:cNvPr id="60" name="Text 26"/>
          <p:cNvSpPr/>
          <p:nvPr/>
        </p:nvSpPr>
        <p:spPr>
          <a:xfrm>
            <a:off x="6780555" y="7101230"/>
            <a:ext cx="1047696"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0.373</a:t>
            </a:r>
            <a:endParaRPr lang="en-US" sz="1800" dirty="0"/>
          </a:p>
        </p:txBody>
      </p:sp>
      <p:sp>
        <p:nvSpPr>
          <p:cNvPr id="61" name="Text 27"/>
          <p:cNvSpPr/>
          <p:nvPr/>
        </p:nvSpPr>
        <p:spPr>
          <a:xfrm>
            <a:off x="8018751" y="7101230"/>
            <a:ext cx="1303518" cy="332509"/>
          </a:xfrm>
          <a:prstGeom prst="rect">
            <a:avLst/>
          </a:prstGeom>
          <a:noFill/>
          <a:ln/>
        </p:spPr>
        <p:txBody>
          <a:bodyPr wrap="square" lIns="25400" tIns="25400" rIns="25400" bIns="25400" rtlCol="0" anchor="ctr">
            <a:normAutofit/>
          </a:bodyPr>
          <a:lstStyle/>
          <a:p>
            <a:pPr marL="0" indent="0" algn="r">
              <a:buNone/>
            </a:pPr>
            <a:r>
              <a:rPr lang="en-US" sz="1800" dirty="0">
                <a:solidFill>
                  <a:srgbClr val="16223D"/>
                </a:solidFill>
                <a:latin typeface="Be Vietnam Pro" pitchFamily="34" charset="0"/>
                <a:ea typeface="Be Vietnam Pro" pitchFamily="34" charset="-122"/>
                <a:cs typeface="Be Vietnam Pro" pitchFamily="34" charset="-120"/>
              </a:rPr>
              <a:t>31.4</a:t>
            </a:r>
            <a:endParaRPr lang="en-US" sz="1800" dirty="0"/>
          </a:p>
        </p:txBody>
      </p:sp>
      <p:sp>
        <p:nvSpPr>
          <p:cNvPr id="62" name="Shape 16"/>
          <p:cNvSpPr/>
          <p:nvPr/>
        </p:nvSpPr>
        <p:spPr>
          <a:xfrm>
            <a:off x="876192" y="6949440"/>
            <a:ext cx="8598477" cy="9525"/>
          </a:xfrm>
          <a:prstGeom prst="rect">
            <a:avLst/>
          </a:prstGeom>
          <a:solidFill>
            <a:srgbClr val="DBE3F5"/>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1479947"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DIỄN GIẢI</a:t>
            </a:r>
            <a:endParaRPr lang="en-US" sz="1800" dirty="0"/>
          </a:p>
        </p:txBody>
      </p:sp>
      <p:sp>
        <p:nvSpPr>
          <p:cNvPr id="4" name="Text 2"/>
          <p:cNvSpPr/>
          <p:nvPr/>
        </p:nvSpPr>
        <p:spPr>
          <a:xfrm>
            <a:off x="16435901" y="704769"/>
            <a:ext cx="1052107"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13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Phân tích kết quả</a:t>
            </a:r>
            <a:endParaRPr lang="en-US" sz="4350" dirty="0"/>
          </a:p>
        </p:txBody>
      </p:sp>
      <p:sp>
        <p:nvSpPr>
          <p:cNvPr id="6" name="Shape 4"/>
          <p:cNvSpPr/>
          <p:nvPr/>
        </p:nvSpPr>
        <p:spPr>
          <a:xfrm>
            <a:off x="876192" y="2330648"/>
            <a:ext cx="8153481" cy="3559157"/>
          </a:xfrm>
          <a:prstGeom prst="roundRect">
            <a:avLst>
              <a:gd name="adj" fmla="val 3747"/>
            </a:avLst>
          </a:prstGeom>
          <a:ln w="17318">
            <a:solidFill>
              <a:srgbClr val="DBE3F5"/>
            </a:solidFill>
            <a:prstDash val="solid"/>
          </a:ln>
        </p:spPr>
        <p:txBody>
          <a:bodyPr/>
          <a:lstStyle/>
          <a:p>
            <a:endParaRPr lang="en-US"/>
          </a:p>
        </p:txBody>
      </p:sp>
      <p:sp>
        <p:nvSpPr>
          <p:cNvPr id="7" name="Text 5"/>
          <p:cNvSpPr/>
          <p:nvPr/>
        </p:nvSpPr>
        <p:spPr>
          <a:xfrm>
            <a:off x="1217279" y="3747898"/>
            <a:ext cx="8218437" cy="315191"/>
          </a:xfrm>
          <a:prstGeom prst="rect">
            <a:avLst/>
          </a:prstGeom>
          <a:noFill/>
          <a:ln/>
        </p:spPr>
        <p:txBody>
          <a:bodyPr wrap="square" lIns="25400" tIns="25400" rIns="25400" bIns="25400" rtlCol="0" anchor="t">
            <a:normAutofit/>
          </a:bodyPr>
          <a:lstStyle/>
          <a:p>
            <a:pPr marL="0" indent="0" algn="l">
              <a:buNone/>
            </a:pPr>
            <a:r>
              <a:rPr lang="en-US" sz="1725" b="1" dirty="0">
                <a:solidFill>
                  <a:srgbClr val="1D50C6"/>
                </a:solidFill>
                <a:latin typeface="Be Vietnam Pro" pitchFamily="34" charset="0"/>
                <a:ea typeface="Be Vietnam Pro" pitchFamily="34" charset="-122"/>
                <a:cs typeface="Be Vietnam Pro" pitchFamily="34" charset="-120"/>
              </a:rPr>
              <a:t>Mọi mô hình KT vượt baseline</a:t>
            </a:r>
            <a:endParaRPr lang="en-US" sz="1725" dirty="0"/>
          </a:p>
        </p:txBody>
      </p:sp>
      <p:sp>
        <p:nvSpPr>
          <p:cNvPr id="8" name="Text 6"/>
          <p:cNvSpPr/>
          <p:nvPr/>
        </p:nvSpPr>
        <p:spPr>
          <a:xfrm>
            <a:off x="1217279" y="4139180"/>
            <a:ext cx="8218437" cy="371475"/>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ROC-AUC ≈ 0.68 vs 0.50 · PR-AUC Gain ≈ </a:t>
            </a:r>
            <a:r>
              <a:rPr lang="en-US" sz="1875" b="1" dirty="0">
                <a:solidFill>
                  <a:srgbClr val="33405F"/>
                </a:solidFill>
                <a:latin typeface="Be Vietnam Pro" pitchFamily="34" charset="0"/>
                <a:ea typeface="Be Vietnam Pro" pitchFamily="34" charset="-122"/>
                <a:cs typeface="Be Vietnam Pro" pitchFamily="34" charset="-120"/>
              </a:rPr>
              <a:t>0.085</a:t>
            </a:r>
            <a:r>
              <a:rPr lang="en-US" sz="1875" dirty="0">
                <a:solidFill>
                  <a:srgbClr val="33405F"/>
                </a:solidFill>
                <a:latin typeface="Be Vietnam Pro" pitchFamily="34" charset="0"/>
                <a:ea typeface="Be Vietnam Pro" pitchFamily="34" charset="-122"/>
                <a:cs typeface="Be Vietnam Pro" pitchFamily="34" charset="-120"/>
              </a:rPr>
              <a:t>.</a:t>
            </a:r>
            <a:endParaRPr lang="en-US" sz="1875" dirty="0"/>
          </a:p>
        </p:txBody>
      </p:sp>
      <p:sp>
        <p:nvSpPr>
          <p:cNvPr id="9" name="Shape 7"/>
          <p:cNvSpPr/>
          <p:nvPr/>
        </p:nvSpPr>
        <p:spPr>
          <a:xfrm>
            <a:off x="9258191" y="2330648"/>
            <a:ext cx="8153616" cy="3559157"/>
          </a:xfrm>
          <a:prstGeom prst="roundRect">
            <a:avLst>
              <a:gd name="adj" fmla="val 3747"/>
            </a:avLst>
          </a:prstGeom>
          <a:ln w="17318">
            <a:solidFill>
              <a:srgbClr val="DBE3F5"/>
            </a:solidFill>
            <a:prstDash val="solid"/>
          </a:ln>
        </p:spPr>
        <p:txBody>
          <a:bodyPr/>
          <a:lstStyle/>
          <a:p>
            <a:endParaRPr lang="en-US"/>
          </a:p>
        </p:txBody>
      </p:sp>
      <p:sp>
        <p:nvSpPr>
          <p:cNvPr id="10" name="Text 8"/>
          <p:cNvSpPr/>
          <p:nvPr/>
        </p:nvSpPr>
        <p:spPr>
          <a:xfrm>
            <a:off x="9599279" y="3747898"/>
            <a:ext cx="8218586" cy="315191"/>
          </a:xfrm>
          <a:prstGeom prst="rect">
            <a:avLst/>
          </a:prstGeom>
          <a:noFill/>
          <a:ln/>
        </p:spPr>
        <p:txBody>
          <a:bodyPr wrap="square" lIns="25400" tIns="25400" rIns="25400" bIns="25400" rtlCol="0" anchor="t">
            <a:normAutofit/>
          </a:bodyPr>
          <a:lstStyle/>
          <a:p>
            <a:pPr marL="0" indent="0" algn="l">
              <a:buNone/>
            </a:pPr>
            <a:r>
              <a:rPr lang="en-US" sz="1725" b="1" dirty="0">
                <a:solidFill>
                  <a:srgbClr val="1D50C6"/>
                </a:solidFill>
                <a:latin typeface="Be Vietnam Pro" pitchFamily="34" charset="0"/>
                <a:ea typeface="Be Vietnam Pro" pitchFamily="34" charset="-122"/>
                <a:cs typeface="Be Vietnam Pro" pitchFamily="34" charset="-120"/>
              </a:rPr>
              <a:t>Quality label cải thiện DKT</a:t>
            </a:r>
            <a:endParaRPr lang="en-US" sz="1725" dirty="0"/>
          </a:p>
        </p:txBody>
      </p:sp>
      <p:sp>
        <p:nvSpPr>
          <p:cNvPr id="11" name="Text 9"/>
          <p:cNvSpPr/>
          <p:nvPr/>
        </p:nvSpPr>
        <p:spPr>
          <a:xfrm>
            <a:off x="9599279" y="4139180"/>
            <a:ext cx="8218586" cy="371475"/>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RMSE thấp nhất, PR-AUC cao nhất trong nhóm neural.</a:t>
            </a:r>
            <a:endParaRPr lang="en-US" sz="1875" dirty="0"/>
          </a:p>
        </p:txBody>
      </p:sp>
      <p:sp>
        <p:nvSpPr>
          <p:cNvPr id="12" name="Shape 10"/>
          <p:cNvSpPr/>
          <p:nvPr/>
        </p:nvSpPr>
        <p:spPr>
          <a:xfrm>
            <a:off x="876192" y="6118324"/>
            <a:ext cx="8153481" cy="3559157"/>
          </a:xfrm>
          <a:prstGeom prst="roundRect">
            <a:avLst>
              <a:gd name="adj" fmla="val 3747"/>
            </a:avLst>
          </a:prstGeom>
          <a:ln w="17318">
            <a:solidFill>
              <a:srgbClr val="DBE3F5"/>
            </a:solidFill>
            <a:prstDash val="solid"/>
          </a:ln>
        </p:spPr>
        <p:txBody>
          <a:bodyPr/>
          <a:lstStyle/>
          <a:p>
            <a:endParaRPr lang="en-US"/>
          </a:p>
        </p:txBody>
      </p:sp>
      <p:sp>
        <p:nvSpPr>
          <p:cNvPr id="13" name="Text 11"/>
          <p:cNvSpPr/>
          <p:nvPr/>
        </p:nvSpPr>
        <p:spPr>
          <a:xfrm>
            <a:off x="1217279" y="7368886"/>
            <a:ext cx="8218437" cy="315191"/>
          </a:xfrm>
          <a:prstGeom prst="rect">
            <a:avLst/>
          </a:prstGeom>
          <a:noFill/>
          <a:ln/>
        </p:spPr>
        <p:txBody>
          <a:bodyPr wrap="square" lIns="25400" tIns="25400" rIns="25400" bIns="25400" rtlCol="0" anchor="t">
            <a:normAutofit/>
          </a:bodyPr>
          <a:lstStyle/>
          <a:p>
            <a:pPr marL="0" indent="0" algn="l">
              <a:buNone/>
            </a:pPr>
            <a:r>
              <a:rPr lang="en-US" sz="1725" b="1" dirty="0">
                <a:solidFill>
                  <a:srgbClr val="1D50C6"/>
                </a:solidFill>
                <a:latin typeface="Be Vietnam Pro" pitchFamily="34" charset="0"/>
                <a:ea typeface="Be Vietnam Pro" pitchFamily="34" charset="-122"/>
                <a:cs typeface="Be Vietnam Pro" pitchFamily="34" charset="-120"/>
              </a:rPr>
              <a:t>BKT cao nhất — do simulation bias</a:t>
            </a:r>
            <a:endParaRPr lang="en-US" sz="1725" dirty="0"/>
          </a:p>
        </p:txBody>
      </p:sp>
      <p:sp>
        <p:nvSpPr>
          <p:cNvPr id="14" name="Text 12"/>
          <p:cNvSpPr/>
          <p:nvPr/>
        </p:nvSpPr>
        <p:spPr>
          <a:xfrm>
            <a:off x="1217279" y="7760169"/>
            <a:ext cx="7695446"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Dữ liệu IRT cùng dạng giả định BKT → </a:t>
            </a:r>
            <a:r>
              <a:rPr lang="en-US" sz="1875" b="1" dirty="0">
                <a:solidFill>
                  <a:srgbClr val="33405F"/>
                </a:solidFill>
                <a:latin typeface="Be Vietnam Pro" pitchFamily="34" charset="0"/>
                <a:ea typeface="Be Vietnam Pro" pitchFamily="34" charset="-122"/>
                <a:cs typeface="Be Vietnam Pro" pitchFamily="34" charset="-120"/>
              </a:rPr>
              <a:t>không phản ánh dữ liệu thật </a:t>
            </a:r>
            <a:r>
              <a:rPr lang="en-US" sz="1875" dirty="0">
                <a:solidFill>
                  <a:srgbClr val="33405F"/>
                </a:solidFill>
                <a:latin typeface="Be Vietnam Pro" pitchFamily="34" charset="0"/>
                <a:ea typeface="Be Vietnam Pro" pitchFamily="34" charset="-122"/>
                <a:cs typeface="Be Vietnam Pro" pitchFamily="34" charset="-120"/>
              </a:rPr>
              <a:t>.</a:t>
            </a:r>
            <a:endParaRPr lang="en-US" sz="1875" dirty="0"/>
          </a:p>
        </p:txBody>
      </p:sp>
      <p:sp>
        <p:nvSpPr>
          <p:cNvPr id="15" name="Shape 13"/>
          <p:cNvSpPr/>
          <p:nvPr/>
        </p:nvSpPr>
        <p:spPr>
          <a:xfrm>
            <a:off x="9258191" y="6118324"/>
            <a:ext cx="8153616" cy="3559157"/>
          </a:xfrm>
          <a:prstGeom prst="roundRect">
            <a:avLst>
              <a:gd name="adj" fmla="val 3747"/>
            </a:avLst>
          </a:prstGeom>
          <a:ln w="17318">
            <a:solidFill>
              <a:srgbClr val="DBE3F5"/>
            </a:solidFill>
            <a:prstDash val="solid"/>
          </a:ln>
        </p:spPr>
        <p:txBody>
          <a:bodyPr/>
          <a:lstStyle/>
          <a:p>
            <a:endParaRPr lang="en-US"/>
          </a:p>
        </p:txBody>
      </p:sp>
      <p:sp>
        <p:nvSpPr>
          <p:cNvPr id="16" name="Text 14"/>
          <p:cNvSpPr/>
          <p:nvPr/>
        </p:nvSpPr>
        <p:spPr>
          <a:xfrm>
            <a:off x="9599279" y="7535574"/>
            <a:ext cx="8218586" cy="315191"/>
          </a:xfrm>
          <a:prstGeom prst="rect">
            <a:avLst/>
          </a:prstGeom>
          <a:noFill/>
          <a:ln/>
        </p:spPr>
        <p:txBody>
          <a:bodyPr wrap="square" lIns="25400" tIns="25400" rIns="25400" bIns="25400" rtlCol="0" anchor="t">
            <a:normAutofit/>
          </a:bodyPr>
          <a:lstStyle/>
          <a:p>
            <a:pPr marL="0" indent="0" algn="l">
              <a:buNone/>
            </a:pPr>
            <a:r>
              <a:rPr lang="en-US" sz="1725" b="1" dirty="0">
                <a:solidFill>
                  <a:srgbClr val="1D50C6"/>
                </a:solidFill>
                <a:latin typeface="Be Vietnam Pro" pitchFamily="34" charset="0"/>
                <a:ea typeface="Be Vietnam Pro" pitchFamily="34" charset="-122"/>
                <a:cs typeface="Be Vietnam Pro" pitchFamily="34" charset="-120"/>
              </a:rPr>
              <a:t>Deep model chưa hiệu quả</a:t>
            </a:r>
            <a:endParaRPr lang="en-US" sz="1725" dirty="0"/>
          </a:p>
        </p:txBody>
      </p:sp>
      <p:sp>
        <p:nvSpPr>
          <p:cNvPr id="17" name="Text 15"/>
          <p:cNvSpPr/>
          <p:nvPr/>
        </p:nvSpPr>
        <p:spPr>
          <a:xfrm>
            <a:off x="9599279" y="7926856"/>
            <a:ext cx="8218586" cy="371475"/>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solidFill>
                  <a:srgbClr val="33405F"/>
                </a:solidFill>
                <a:latin typeface="Be Vietnam Pro" pitchFamily="34" charset="0"/>
                <a:ea typeface="Be Vietnam Pro" pitchFamily="34" charset="-122"/>
                <a:cs typeface="Be Vietnam Pro" pitchFamily="34" charset="-120"/>
              </a:rPr>
              <a:t>Bottleneck là </a:t>
            </a:r>
            <a:r>
              <a:rPr lang="en-US" sz="1875" b="1" dirty="0">
                <a:solidFill>
                  <a:srgbClr val="33405F"/>
                </a:solidFill>
                <a:latin typeface="Be Vietnam Pro" pitchFamily="34" charset="0"/>
                <a:ea typeface="Be Vietnam Pro" pitchFamily="34" charset="-122"/>
                <a:cs typeface="Be Vietnam Pro" pitchFamily="34" charset="-120"/>
              </a:rPr>
              <a:t>kích thước dữ liệu</a:t>
            </a:r>
            <a:r>
              <a:rPr lang="en-US" sz="1875" dirty="0">
                <a:solidFill>
                  <a:srgbClr val="33405F"/>
                </a:solidFill>
                <a:latin typeface="Be Vietnam Pro" pitchFamily="34" charset="0"/>
                <a:ea typeface="Be Vietnam Pro" pitchFamily="34" charset="-122"/>
                <a:cs typeface="Be Vietnam Pro" pitchFamily="34" charset="-120"/>
              </a:rPr>
              <a:t>, không phải kiến trúc.</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47201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LỰA CHỌN TRIỂN KHAI</a:t>
            </a:r>
            <a:endParaRPr lang="en-US" sz="1800" dirty="0"/>
          </a:p>
        </p:txBody>
      </p:sp>
      <p:sp>
        <p:nvSpPr>
          <p:cNvPr id="4" name="Text 2"/>
          <p:cNvSpPr/>
          <p:nvPr/>
        </p:nvSpPr>
        <p:spPr>
          <a:xfrm>
            <a:off x="16426295" y="704769"/>
            <a:ext cx="1061713"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14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Chọn mô hình cho production</a:t>
            </a:r>
            <a:endParaRPr lang="en-US" sz="4350" dirty="0"/>
          </a:p>
        </p:txBody>
      </p:sp>
      <p:sp>
        <p:nvSpPr>
          <p:cNvPr id="6" name="Shape 4"/>
          <p:cNvSpPr/>
          <p:nvPr/>
        </p:nvSpPr>
        <p:spPr>
          <a:xfrm>
            <a:off x="876192" y="2330648"/>
            <a:ext cx="7606335" cy="3095084"/>
          </a:xfrm>
          <a:prstGeom prst="roundRect">
            <a:avLst>
              <a:gd name="adj" fmla="val 4924"/>
            </a:avLst>
          </a:prstGeom>
          <a:solidFill>
            <a:srgbClr val="1D50C6"/>
          </a:solidFill>
          <a:ln/>
        </p:spPr>
        <p:txBody>
          <a:bodyPr/>
          <a:lstStyle/>
          <a:p>
            <a:endParaRPr lang="en-US"/>
          </a:p>
        </p:txBody>
      </p:sp>
      <p:sp>
        <p:nvSpPr>
          <p:cNvPr id="7" name="Text 5"/>
          <p:cNvSpPr/>
          <p:nvPr/>
        </p:nvSpPr>
        <p:spPr>
          <a:xfrm>
            <a:off x="1219038" y="2654417"/>
            <a:ext cx="7612707"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BCD0FF"/>
                </a:solidFill>
                <a:latin typeface="Be Vietnam Pro" pitchFamily="34" charset="0"/>
                <a:ea typeface="Be Vietnam Pro" pitchFamily="34" charset="-122"/>
                <a:cs typeface="Be Vietnam Pro" pitchFamily="34" charset="-120"/>
              </a:rPr>
              <a:t>MÔ HÌNH CHÍNH</a:t>
            </a:r>
            <a:endParaRPr lang="en-US" sz="1575" dirty="0"/>
          </a:p>
        </p:txBody>
      </p:sp>
      <p:sp>
        <p:nvSpPr>
          <p:cNvPr id="8" name="Text 6"/>
          <p:cNvSpPr/>
          <p:nvPr/>
        </p:nvSpPr>
        <p:spPr>
          <a:xfrm>
            <a:off x="1219038" y="2981704"/>
            <a:ext cx="7612707" cy="626918"/>
          </a:xfrm>
          <a:prstGeom prst="rect">
            <a:avLst/>
          </a:prstGeom>
          <a:noFill/>
          <a:ln/>
        </p:spPr>
        <p:txBody>
          <a:bodyPr wrap="square" lIns="25400" tIns="25400" rIns="25400" bIns="25400" rtlCol="0" anchor="t">
            <a:normAutofit/>
          </a:bodyPr>
          <a:lstStyle/>
          <a:p>
            <a:pPr marL="0" indent="0" algn="l">
              <a:buNone/>
            </a:pPr>
            <a:r>
              <a:rPr lang="en-US" sz="3450" b="1" dirty="0">
                <a:solidFill>
                  <a:srgbClr val="FFFFFF"/>
                </a:solidFill>
                <a:latin typeface="Be Vietnam Pro" pitchFamily="34" charset="0"/>
                <a:ea typeface="Be Vietnam Pro" pitchFamily="34" charset="-122"/>
                <a:cs typeface="Be Vietnam Pro" pitchFamily="34" charset="-120"/>
              </a:rPr>
              <a:t>DKT-Quality★</a:t>
            </a:r>
            <a:endParaRPr lang="en-US" sz="3450" dirty="0"/>
          </a:p>
        </p:txBody>
      </p:sp>
      <p:sp>
        <p:nvSpPr>
          <p:cNvPr id="9" name="Shape 7"/>
          <p:cNvSpPr/>
          <p:nvPr/>
        </p:nvSpPr>
        <p:spPr>
          <a:xfrm>
            <a:off x="1219038" y="3779964"/>
            <a:ext cx="6920643" cy="18942"/>
          </a:xfrm>
          <a:prstGeom prst="rect">
            <a:avLst/>
          </a:prstGeom>
          <a:solidFill>
            <a:srgbClr val="FFFFFF">
              <a:alpha val="25000"/>
            </a:srgbClr>
          </a:solidFill>
          <a:ln/>
        </p:spPr>
        <p:txBody>
          <a:bodyPr/>
          <a:lstStyle/>
          <a:p>
            <a:endParaRPr lang="en-US"/>
          </a:p>
        </p:txBody>
      </p:sp>
      <p:sp>
        <p:nvSpPr>
          <p:cNvPr id="10" name="Text 8"/>
          <p:cNvSpPr/>
          <p:nvPr/>
        </p:nvSpPr>
        <p:spPr>
          <a:xfrm>
            <a:off x="1219038" y="4008347"/>
            <a:ext cx="7128262" cy="67833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EAF0FF"/>
                </a:solidFill>
                <a:latin typeface="Be Vietnam Pro" pitchFamily="34" charset="0"/>
                <a:ea typeface="Be Vietnam Pro" pitchFamily="34" charset="-122"/>
                <a:cs typeface="Be Vietnam Pro" pitchFamily="34" charset="-120"/>
              </a:rPr>
              <a:t>Output </a:t>
            </a:r>
            <a:r>
              <a:rPr lang="en-US" sz="1800" b="1" dirty="0">
                <a:solidFill>
                  <a:srgbClr val="EAF0FF"/>
                </a:solidFill>
                <a:latin typeface="Be Vietnam Pro" pitchFamily="34" charset="0"/>
                <a:ea typeface="Be Vietnam Pro" pitchFamily="34" charset="-122"/>
                <a:cs typeface="Be Vietnam Pro" pitchFamily="34" charset="-120"/>
              </a:rPr>
              <a:t>(B, T, 17) </a:t>
            </a:r>
            <a:r>
              <a:rPr lang="en-US" sz="1800" dirty="0">
                <a:solidFill>
                  <a:srgbClr val="EAF0FF"/>
                </a:solidFill>
                <a:latin typeface="Be Vietnam Pro" pitchFamily="34" charset="0"/>
                <a:ea typeface="Be Vietnam Pro" pitchFamily="34" charset="-122"/>
                <a:cs typeface="Be Vietnam Pro" pitchFamily="34" charset="-120"/>
              </a:rPr>
              <a:t>→ dự đoán cả 17 KC trong 1 forward, phù hợp realtime.</a:t>
            </a:r>
            <a:endParaRPr lang="en-US" sz="1800" dirty="0"/>
          </a:p>
        </p:txBody>
      </p:sp>
      <p:sp>
        <p:nvSpPr>
          <p:cNvPr id="11" name="Text 9"/>
          <p:cNvSpPr/>
          <p:nvPr/>
        </p:nvSpPr>
        <p:spPr>
          <a:xfrm>
            <a:off x="1219038" y="4781847"/>
            <a:ext cx="7612707"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EAF0FF"/>
                </a:solidFill>
                <a:latin typeface="Be Vietnam Pro" pitchFamily="34" charset="0"/>
                <a:ea typeface="Be Vietnam Pro" pitchFamily="34" charset="-122"/>
                <a:cs typeface="Be Vietnam Pro" pitchFamily="34" charset="-120"/>
              </a:rPr>
              <a:t>PR-AUC &amp; RMSE tốt nhất nhóm neural; train nhanh </a:t>
            </a:r>
            <a:r>
              <a:rPr lang="en-US" sz="1800" b="1" dirty="0">
                <a:solidFill>
                  <a:srgbClr val="EAF0FF"/>
                </a:solidFill>
                <a:latin typeface="Be Vietnam Pro" pitchFamily="34" charset="0"/>
                <a:ea typeface="Be Vietnam Pro" pitchFamily="34" charset="-122"/>
                <a:cs typeface="Be Vietnam Pro" pitchFamily="34" charset="-120"/>
              </a:rPr>
              <a:t>≈ 21s</a:t>
            </a:r>
            <a:r>
              <a:rPr lang="en-US" sz="1800" dirty="0">
                <a:solidFill>
                  <a:srgbClr val="EAF0FF"/>
                </a:solidFill>
                <a:latin typeface="Be Vietnam Pro" pitchFamily="34" charset="0"/>
                <a:ea typeface="Be Vietnam Pro" pitchFamily="34" charset="-122"/>
                <a:cs typeface="Be Vietnam Pro" pitchFamily="34" charset="-120"/>
              </a:rPr>
              <a:t>.</a:t>
            </a:r>
            <a:endParaRPr lang="en-US" sz="1800" dirty="0"/>
          </a:p>
        </p:txBody>
      </p:sp>
      <p:sp>
        <p:nvSpPr>
          <p:cNvPr id="12" name="Shape 10"/>
          <p:cNvSpPr/>
          <p:nvPr/>
        </p:nvSpPr>
        <p:spPr>
          <a:xfrm>
            <a:off x="876192" y="5635174"/>
            <a:ext cx="7606335" cy="1203208"/>
          </a:xfrm>
          <a:prstGeom prst="roundRect">
            <a:avLst>
              <a:gd name="adj" fmla="val 11083"/>
            </a:avLst>
          </a:prstGeom>
          <a:ln w="17318">
            <a:solidFill>
              <a:srgbClr val="DBE3F5"/>
            </a:solidFill>
            <a:prstDash val="solid"/>
          </a:ln>
        </p:spPr>
        <p:txBody>
          <a:bodyPr/>
          <a:lstStyle/>
          <a:p>
            <a:endParaRPr lang="en-US"/>
          </a:p>
        </p:txBody>
      </p:sp>
      <p:sp>
        <p:nvSpPr>
          <p:cNvPr id="13" name="Text 11"/>
          <p:cNvSpPr/>
          <p:nvPr/>
        </p:nvSpPr>
        <p:spPr>
          <a:xfrm>
            <a:off x="1198202" y="5900088"/>
            <a:ext cx="7658546" cy="315191"/>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SAKT-Binary — phương án online</a:t>
            </a:r>
            <a:endParaRPr lang="en-US" sz="1725" dirty="0"/>
          </a:p>
        </p:txBody>
      </p:sp>
      <p:sp>
        <p:nvSpPr>
          <p:cNvPr id="14" name="Text 12"/>
          <p:cNvSpPr/>
          <p:nvPr/>
        </p:nvSpPr>
        <p:spPr>
          <a:xfrm>
            <a:off x="1198202" y="6253351"/>
            <a:ext cx="7658546"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Online update nhanh (</a:t>
            </a:r>
            <a:r>
              <a:rPr lang="en-US" sz="1800" b="1" dirty="0">
                <a:solidFill>
                  <a:srgbClr val="33405F"/>
                </a:solidFill>
                <a:latin typeface="Be Vietnam Pro" pitchFamily="34" charset="0"/>
                <a:ea typeface="Be Vietnam Pro" pitchFamily="34" charset="-122"/>
                <a:cs typeface="Be Vietnam Pro" pitchFamily="34" charset="-120"/>
              </a:rPr>
              <a:t>≈ 11s</a:t>
            </a:r>
            <a:r>
              <a:rPr lang="en-US" sz="1800" dirty="0">
                <a:solidFill>
                  <a:srgbClr val="33405F"/>
                </a:solidFill>
                <a:latin typeface="Be Vietnam Pro" pitchFamily="34" charset="0"/>
                <a:ea typeface="Be Vietnam Pro" pitchFamily="34" charset="-122"/>
                <a:cs typeface="Be Vietnam Pro" pitchFamily="34" charset="-120"/>
              </a:rPr>
              <a:t>) khi cần cập nhật liên tục.</a:t>
            </a:r>
            <a:endParaRPr lang="en-US" sz="1800" dirty="0"/>
          </a:p>
        </p:txBody>
      </p:sp>
      <p:sp>
        <p:nvSpPr>
          <p:cNvPr id="15" name="Shape 13"/>
          <p:cNvSpPr/>
          <p:nvPr/>
        </p:nvSpPr>
        <p:spPr>
          <a:xfrm>
            <a:off x="8863526" y="2330648"/>
            <a:ext cx="8548281" cy="7346832"/>
          </a:xfrm>
          <a:prstGeom prst="roundRect">
            <a:avLst>
              <a:gd name="adj" fmla="val 1815"/>
            </a:avLst>
          </a:prstGeom>
          <a:solidFill>
            <a:srgbClr val="FFFFFF"/>
          </a:solidFill>
          <a:ln w="8659">
            <a:solidFill>
              <a:srgbClr val="DBE3F5"/>
            </a:solidFill>
            <a:prstDash val="solid"/>
          </a:ln>
        </p:spPr>
        <p:txBody>
          <a:bodyPr/>
          <a:lstStyle/>
          <a:p>
            <a:endParaRPr lang="en-US"/>
          </a:p>
        </p:txBody>
      </p:sp>
      <p:sp>
        <p:nvSpPr>
          <p:cNvPr id="16" name="Text 14"/>
          <p:cNvSpPr/>
          <p:nvPr/>
        </p:nvSpPr>
        <p:spPr>
          <a:xfrm>
            <a:off x="8676023" y="2548749"/>
            <a:ext cx="8923288" cy="306532"/>
          </a:xfrm>
          <a:prstGeom prst="rect">
            <a:avLst/>
          </a:prstGeom>
          <a:noFill/>
          <a:ln/>
        </p:spPr>
        <p:txBody>
          <a:bodyPr wrap="square" lIns="25400" tIns="25400" rIns="25400" bIns="25400" rtlCol="0" anchor="t">
            <a:normAutofit/>
          </a:bodyPr>
          <a:lstStyle/>
          <a:p>
            <a:pPr marL="0" indent="0" algn="ctr">
              <a:buNone/>
            </a:pPr>
            <a:r>
              <a:rPr lang="en-US" sz="1575" b="1" dirty="0">
                <a:solidFill>
                  <a:srgbClr val="5D6B88"/>
                </a:solidFill>
                <a:latin typeface="Be Vietnam Pro" pitchFamily="34" charset="0"/>
                <a:ea typeface="Be Vietnam Pro" pitchFamily="34" charset="-122"/>
                <a:cs typeface="Be Vietnam Pro" pitchFamily="34" charset="-120"/>
              </a:rPr>
              <a:t>Per-KC AUC — BKT vs DKT-Quality★</a:t>
            </a:r>
            <a:endParaRPr lang="en-US" sz="1575" dirty="0"/>
          </a:p>
        </p:txBody>
      </p:sp>
      <p:pic>
        <p:nvPicPr>
          <p:cNvPr id="17" name="Image 0" descr="preencoded.png"/>
          <p:cNvPicPr>
            <a:picLocks noChangeAspect="1"/>
          </p:cNvPicPr>
          <p:nvPr/>
        </p:nvPicPr>
        <p:blipFill>
          <a:blip r:embed="rId3"/>
          <a:srcRect t="-62989" b="-62989"/>
          <a:stretch/>
        </p:blipFill>
        <p:spPr>
          <a:xfrm>
            <a:off x="9081627" y="2912431"/>
            <a:ext cx="8112080" cy="65469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1597670"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HỆ THỐNG</a:t>
            </a:r>
            <a:endParaRPr lang="en-US" sz="1800" dirty="0"/>
          </a:p>
        </p:txBody>
      </p:sp>
      <p:sp>
        <p:nvSpPr>
          <p:cNvPr id="4" name="Text 2"/>
          <p:cNvSpPr/>
          <p:nvPr/>
        </p:nvSpPr>
        <p:spPr>
          <a:xfrm>
            <a:off x="16435901" y="704769"/>
            <a:ext cx="1052107"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15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Kiến trúc hệ thống — 3 tầng</a:t>
            </a:r>
            <a:endParaRPr lang="en-US" sz="4350" dirty="0"/>
          </a:p>
        </p:txBody>
      </p:sp>
      <p:sp>
        <p:nvSpPr>
          <p:cNvPr id="6" name="Shape 4"/>
          <p:cNvSpPr/>
          <p:nvPr/>
        </p:nvSpPr>
        <p:spPr>
          <a:xfrm>
            <a:off x="876192" y="2311707"/>
            <a:ext cx="16535616" cy="2018380"/>
          </a:xfrm>
          <a:prstGeom prst="roundRect">
            <a:avLst>
              <a:gd name="adj" fmla="val 7551"/>
            </a:avLst>
          </a:prstGeom>
          <a:ln w="17318">
            <a:solidFill>
              <a:srgbClr val="DBE3F5"/>
            </a:solidFill>
            <a:prstDash val="solid"/>
          </a:ln>
        </p:spPr>
        <p:txBody>
          <a:bodyPr/>
          <a:lstStyle/>
          <a:p>
            <a:endParaRPr lang="en-US"/>
          </a:p>
        </p:txBody>
      </p:sp>
      <p:sp>
        <p:nvSpPr>
          <p:cNvPr id="7" name="Text 5"/>
          <p:cNvSpPr/>
          <p:nvPr/>
        </p:nvSpPr>
        <p:spPr>
          <a:xfrm>
            <a:off x="1236356" y="2988333"/>
            <a:ext cx="3143250"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1D50C6"/>
                </a:solidFill>
                <a:latin typeface="Be Vietnam Pro" pitchFamily="34" charset="0"/>
                <a:ea typeface="Be Vietnam Pro" pitchFamily="34" charset="-122"/>
                <a:cs typeface="Be Vietnam Pro" pitchFamily="34" charset="-120"/>
              </a:rPr>
              <a:t>TẦNG PHỤC VỤ</a:t>
            </a:r>
            <a:endParaRPr lang="en-US" sz="1575" dirty="0"/>
          </a:p>
        </p:txBody>
      </p:sp>
      <p:sp>
        <p:nvSpPr>
          <p:cNvPr id="8" name="Text 6"/>
          <p:cNvSpPr/>
          <p:nvPr/>
        </p:nvSpPr>
        <p:spPr>
          <a:xfrm>
            <a:off x="1236356" y="3315620"/>
            <a:ext cx="3143250" cy="375805"/>
          </a:xfrm>
          <a:prstGeom prst="rect">
            <a:avLst/>
          </a:prstGeom>
          <a:noFill/>
          <a:ln/>
        </p:spPr>
        <p:txBody>
          <a:bodyPr wrap="square" lIns="25400" tIns="25400" rIns="25400" bIns="25400" rtlCol="0" anchor="t">
            <a:normAutofit/>
          </a:bodyPr>
          <a:lstStyle/>
          <a:p>
            <a:pPr marL="0" indent="0" algn="l">
              <a:buNone/>
            </a:pPr>
            <a:r>
              <a:rPr lang="en-US" sz="2100" b="1" dirty="0">
                <a:solidFill>
                  <a:srgbClr val="16223D"/>
                </a:solidFill>
                <a:latin typeface="Be Vietnam Pro" pitchFamily="34" charset="0"/>
                <a:ea typeface="Be Vietnam Pro" pitchFamily="34" charset="-122"/>
                <a:cs typeface="Be Vietnam Pro" pitchFamily="34" charset="-120"/>
              </a:rPr>
              <a:t>Serving Layer</a:t>
            </a:r>
            <a:endParaRPr lang="en-US" sz="2100" dirty="0"/>
          </a:p>
        </p:txBody>
      </p:sp>
      <p:sp>
        <p:nvSpPr>
          <p:cNvPr id="9" name="Shape 7"/>
          <p:cNvSpPr/>
          <p:nvPr/>
        </p:nvSpPr>
        <p:spPr>
          <a:xfrm>
            <a:off x="4417625" y="3049082"/>
            <a:ext cx="2653605" cy="543629"/>
          </a:xfrm>
          <a:prstGeom prst="roundRect">
            <a:avLst>
              <a:gd name="adj" fmla="val 17521"/>
            </a:avLst>
          </a:prstGeom>
          <a:solidFill>
            <a:srgbClr val="EEF2FC"/>
          </a:solidFill>
          <a:ln/>
        </p:spPr>
        <p:txBody>
          <a:bodyPr/>
          <a:lstStyle/>
          <a:p>
            <a:endParaRPr lang="en-US"/>
          </a:p>
        </p:txBody>
      </p:sp>
      <p:sp>
        <p:nvSpPr>
          <p:cNvPr id="10" name="Text 8"/>
          <p:cNvSpPr/>
          <p:nvPr/>
        </p:nvSpPr>
        <p:spPr>
          <a:xfrm>
            <a:off x="4646225" y="3182432"/>
            <a:ext cx="2276014"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FastAPI · 9 endpoint</a:t>
            </a:r>
            <a:endParaRPr lang="en-US" sz="1725" dirty="0"/>
          </a:p>
        </p:txBody>
      </p:sp>
      <p:sp>
        <p:nvSpPr>
          <p:cNvPr id="11" name="Shape 9"/>
          <p:cNvSpPr/>
          <p:nvPr/>
        </p:nvSpPr>
        <p:spPr>
          <a:xfrm>
            <a:off x="7204499" y="3049082"/>
            <a:ext cx="2958026" cy="543629"/>
          </a:xfrm>
          <a:prstGeom prst="roundRect">
            <a:avLst>
              <a:gd name="adj" fmla="val 17521"/>
            </a:avLst>
          </a:prstGeom>
          <a:solidFill>
            <a:srgbClr val="EEF2FC"/>
          </a:solidFill>
          <a:ln/>
        </p:spPr>
        <p:txBody>
          <a:bodyPr/>
          <a:lstStyle/>
          <a:p>
            <a:endParaRPr lang="en-US"/>
          </a:p>
        </p:txBody>
      </p:sp>
      <p:sp>
        <p:nvSpPr>
          <p:cNvPr id="12" name="Text 10"/>
          <p:cNvSpPr/>
          <p:nvPr/>
        </p:nvSpPr>
        <p:spPr>
          <a:xfrm>
            <a:off x="7433099" y="3182432"/>
            <a:ext cx="2589567"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Streamlit (host iframe)</a:t>
            </a:r>
            <a:endParaRPr lang="en-US" sz="1725" dirty="0"/>
          </a:p>
        </p:txBody>
      </p:sp>
      <p:sp>
        <p:nvSpPr>
          <p:cNvPr id="13" name="Shape 11"/>
          <p:cNvSpPr/>
          <p:nvPr/>
        </p:nvSpPr>
        <p:spPr>
          <a:xfrm>
            <a:off x="10295794" y="3049082"/>
            <a:ext cx="1597196" cy="543629"/>
          </a:xfrm>
          <a:prstGeom prst="roundRect">
            <a:avLst>
              <a:gd name="adj" fmla="val 17521"/>
            </a:avLst>
          </a:prstGeom>
          <a:solidFill>
            <a:srgbClr val="EEF2FC"/>
          </a:solidFill>
          <a:ln/>
        </p:spPr>
        <p:txBody>
          <a:bodyPr/>
          <a:lstStyle/>
          <a:p>
            <a:endParaRPr lang="en-US"/>
          </a:p>
        </p:txBody>
      </p:sp>
      <p:sp>
        <p:nvSpPr>
          <p:cNvPr id="14" name="Text 12"/>
          <p:cNvSpPr/>
          <p:nvPr/>
        </p:nvSpPr>
        <p:spPr>
          <a:xfrm>
            <a:off x="10524394" y="3182432"/>
            <a:ext cx="1216196"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React SPA</a:t>
            </a:r>
            <a:endParaRPr lang="en-US" sz="1725" dirty="0"/>
          </a:p>
        </p:txBody>
      </p:sp>
      <p:sp>
        <p:nvSpPr>
          <p:cNvPr id="15" name="Text 13"/>
          <p:cNvSpPr/>
          <p:nvPr/>
        </p:nvSpPr>
        <p:spPr>
          <a:xfrm>
            <a:off x="49411" y="4501510"/>
            <a:ext cx="18189178" cy="152292"/>
          </a:xfrm>
          <a:prstGeom prst="rect">
            <a:avLst/>
          </a:prstGeom>
          <a:noFill/>
          <a:ln/>
        </p:spPr>
        <p:txBody>
          <a:bodyPr wrap="square" lIns="25400" tIns="25400" rIns="25400" bIns="25400" rtlCol="0" anchor="t">
            <a:normAutofit/>
          </a:bodyPr>
          <a:lstStyle/>
          <a:p>
            <a:pPr marL="0" indent="0" algn="ctr">
              <a:lnSpc>
                <a:spcPct val="50000"/>
              </a:lnSpc>
              <a:buNone/>
            </a:pPr>
            <a:r>
              <a:rPr lang="en-US" sz="2250" dirty="0">
                <a:solidFill>
                  <a:srgbClr val="1D50C6"/>
                </a:solidFill>
                <a:latin typeface="Be Vietnam Pro" pitchFamily="34" charset="0"/>
                <a:ea typeface="Be Vietnam Pro" pitchFamily="34" charset="-122"/>
                <a:cs typeface="Be Vietnam Pro" pitchFamily="34" charset="-120"/>
              </a:rPr>
              <a:t>↑↓</a:t>
            </a:r>
            <a:endParaRPr lang="en-US" sz="2250" dirty="0"/>
          </a:p>
        </p:txBody>
      </p:sp>
      <p:sp>
        <p:nvSpPr>
          <p:cNvPr id="16" name="Shape 14"/>
          <p:cNvSpPr/>
          <p:nvPr/>
        </p:nvSpPr>
        <p:spPr>
          <a:xfrm>
            <a:off x="876192" y="4787124"/>
            <a:ext cx="16535616" cy="1983744"/>
          </a:xfrm>
          <a:prstGeom prst="roundRect">
            <a:avLst>
              <a:gd name="adj" fmla="val 7682"/>
            </a:avLst>
          </a:prstGeom>
          <a:solidFill>
            <a:srgbClr val="1D50C6"/>
          </a:solidFill>
          <a:ln/>
        </p:spPr>
        <p:txBody>
          <a:bodyPr/>
          <a:lstStyle/>
          <a:p>
            <a:endParaRPr lang="en-US"/>
          </a:p>
        </p:txBody>
      </p:sp>
      <p:sp>
        <p:nvSpPr>
          <p:cNvPr id="17" name="Text 15"/>
          <p:cNvSpPr/>
          <p:nvPr/>
        </p:nvSpPr>
        <p:spPr>
          <a:xfrm>
            <a:off x="1219038" y="5446433"/>
            <a:ext cx="3143250"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BCD0FF"/>
                </a:solidFill>
                <a:latin typeface="Be Vietnam Pro" pitchFamily="34" charset="0"/>
                <a:ea typeface="Be Vietnam Pro" pitchFamily="34" charset="-122"/>
                <a:cs typeface="Be Vietnam Pro" pitchFamily="34" charset="-120"/>
              </a:rPr>
              <a:t>TẦNG KT / SCORING</a:t>
            </a:r>
            <a:endParaRPr lang="en-US" sz="1575" dirty="0"/>
          </a:p>
        </p:txBody>
      </p:sp>
      <p:sp>
        <p:nvSpPr>
          <p:cNvPr id="18" name="Text 16"/>
          <p:cNvSpPr/>
          <p:nvPr/>
        </p:nvSpPr>
        <p:spPr>
          <a:xfrm>
            <a:off x="1219038" y="5773719"/>
            <a:ext cx="3143250" cy="375805"/>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Be Vietnam Pro" pitchFamily="34" charset="0"/>
                <a:ea typeface="Be Vietnam Pro" pitchFamily="34" charset="-122"/>
                <a:cs typeface="Be Vietnam Pro" pitchFamily="34" charset="-120"/>
              </a:rPr>
              <a:t>Lõi xử lý</a:t>
            </a:r>
            <a:endParaRPr lang="en-US" sz="2100" dirty="0"/>
          </a:p>
        </p:txBody>
      </p:sp>
      <p:sp>
        <p:nvSpPr>
          <p:cNvPr id="19" name="Shape 17"/>
          <p:cNvSpPr/>
          <p:nvPr/>
        </p:nvSpPr>
        <p:spPr>
          <a:xfrm>
            <a:off x="4400306" y="5507182"/>
            <a:ext cx="3514508" cy="543629"/>
          </a:xfrm>
          <a:prstGeom prst="roundRect">
            <a:avLst>
              <a:gd name="adj" fmla="val 17521"/>
            </a:avLst>
          </a:prstGeom>
          <a:solidFill>
            <a:srgbClr val="FFFFFF">
              <a:alpha val="16000"/>
            </a:srgbClr>
          </a:solidFill>
          <a:ln/>
        </p:spPr>
        <p:txBody>
          <a:bodyPr/>
          <a:lstStyle/>
          <a:p>
            <a:endParaRPr lang="en-US"/>
          </a:p>
        </p:txBody>
      </p:sp>
      <p:sp>
        <p:nvSpPr>
          <p:cNvPr id="20" name="Text 18"/>
          <p:cNvSpPr/>
          <p:nvPr/>
        </p:nvSpPr>
        <p:spPr>
          <a:xfrm>
            <a:off x="4628906" y="5640532"/>
            <a:ext cx="3162744"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Be Vietnam Pro" pitchFamily="34" charset="0"/>
                <a:ea typeface="Be Vietnam Pro" pitchFamily="34" charset="-122"/>
                <a:cs typeface="Be Vietnam Pro" pitchFamily="34" charset="-120"/>
              </a:rPr>
              <a:t>kt_predictor (DKT-Quality)</a:t>
            </a:r>
            <a:endParaRPr lang="en-US" sz="1725" dirty="0"/>
          </a:p>
        </p:txBody>
      </p:sp>
      <p:sp>
        <p:nvSpPr>
          <p:cNvPr id="21" name="Shape 19"/>
          <p:cNvSpPr/>
          <p:nvPr/>
        </p:nvSpPr>
        <p:spPr>
          <a:xfrm>
            <a:off x="8048084" y="5507182"/>
            <a:ext cx="1974408" cy="543629"/>
          </a:xfrm>
          <a:prstGeom prst="roundRect">
            <a:avLst>
              <a:gd name="adj" fmla="val 17521"/>
            </a:avLst>
          </a:prstGeom>
          <a:solidFill>
            <a:srgbClr val="FFFFFF">
              <a:alpha val="16000"/>
            </a:srgbClr>
          </a:solidFill>
          <a:ln/>
        </p:spPr>
        <p:txBody>
          <a:bodyPr/>
          <a:lstStyle/>
          <a:p>
            <a:endParaRPr lang="en-US"/>
          </a:p>
        </p:txBody>
      </p:sp>
      <p:sp>
        <p:nvSpPr>
          <p:cNvPr id="22" name="Text 20"/>
          <p:cNvSpPr/>
          <p:nvPr/>
        </p:nvSpPr>
        <p:spPr>
          <a:xfrm>
            <a:off x="8276684" y="5640532"/>
            <a:ext cx="1593408"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Be Vietnam Pro" pitchFamily="34" charset="0"/>
                <a:ea typeface="Be Vietnam Pro" pitchFamily="34" charset="-122"/>
                <a:cs typeface="Be Vietnam Pro" pitchFamily="34" charset="-120"/>
              </a:rPr>
              <a:t>recommender</a:t>
            </a:r>
            <a:endParaRPr lang="en-US" sz="1725" dirty="0"/>
          </a:p>
        </p:txBody>
      </p:sp>
      <p:sp>
        <p:nvSpPr>
          <p:cNvPr id="23" name="Shape 21"/>
          <p:cNvSpPr/>
          <p:nvPr/>
        </p:nvSpPr>
        <p:spPr>
          <a:xfrm>
            <a:off x="10155760" y="5507182"/>
            <a:ext cx="2708942" cy="543629"/>
          </a:xfrm>
          <a:prstGeom prst="roundRect">
            <a:avLst>
              <a:gd name="adj" fmla="val 17521"/>
            </a:avLst>
          </a:prstGeom>
          <a:solidFill>
            <a:srgbClr val="FFFFFF">
              <a:alpha val="16000"/>
            </a:srgbClr>
          </a:solidFill>
          <a:ln/>
        </p:spPr>
        <p:txBody>
          <a:bodyPr/>
          <a:lstStyle/>
          <a:p>
            <a:endParaRPr lang="en-US"/>
          </a:p>
        </p:txBody>
      </p:sp>
      <p:sp>
        <p:nvSpPr>
          <p:cNvPr id="24" name="Text 22"/>
          <p:cNvSpPr/>
          <p:nvPr/>
        </p:nvSpPr>
        <p:spPr>
          <a:xfrm>
            <a:off x="10384360" y="5640532"/>
            <a:ext cx="2333011"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Be Vietnam Pro" pitchFamily="34" charset="0"/>
                <a:ea typeface="Be Vietnam Pro" pitchFamily="34" charset="-122"/>
                <a:cs typeface="Be Vietnam Pro" pitchFamily="34" charset="-120"/>
              </a:rPr>
              <a:t>competency_engine</a:t>
            </a:r>
            <a:endParaRPr lang="en-US" sz="1725" dirty="0"/>
          </a:p>
        </p:txBody>
      </p:sp>
      <p:sp>
        <p:nvSpPr>
          <p:cNvPr id="25" name="Text 23"/>
          <p:cNvSpPr/>
          <p:nvPr/>
        </p:nvSpPr>
        <p:spPr>
          <a:xfrm>
            <a:off x="49411" y="6942291"/>
            <a:ext cx="18189178" cy="152292"/>
          </a:xfrm>
          <a:prstGeom prst="rect">
            <a:avLst/>
          </a:prstGeom>
          <a:noFill/>
          <a:ln/>
        </p:spPr>
        <p:txBody>
          <a:bodyPr wrap="square" lIns="25400" tIns="25400" rIns="25400" bIns="25400" rtlCol="0" anchor="t">
            <a:normAutofit/>
          </a:bodyPr>
          <a:lstStyle/>
          <a:p>
            <a:pPr marL="0" indent="0" algn="ctr">
              <a:lnSpc>
                <a:spcPct val="50000"/>
              </a:lnSpc>
              <a:buNone/>
            </a:pPr>
            <a:r>
              <a:rPr lang="en-US" sz="2250" dirty="0">
                <a:solidFill>
                  <a:srgbClr val="1D50C6"/>
                </a:solidFill>
                <a:latin typeface="Be Vietnam Pro" pitchFamily="34" charset="0"/>
                <a:ea typeface="Be Vietnam Pro" pitchFamily="34" charset="-122"/>
                <a:cs typeface="Be Vietnam Pro" pitchFamily="34" charset="-120"/>
              </a:rPr>
              <a:t>↑↓</a:t>
            </a:r>
            <a:endParaRPr lang="en-US" sz="2250" dirty="0"/>
          </a:p>
        </p:txBody>
      </p:sp>
      <p:sp>
        <p:nvSpPr>
          <p:cNvPr id="26" name="Shape 24"/>
          <p:cNvSpPr/>
          <p:nvPr/>
        </p:nvSpPr>
        <p:spPr>
          <a:xfrm>
            <a:off x="876192" y="7227905"/>
            <a:ext cx="16535616" cy="2018380"/>
          </a:xfrm>
          <a:prstGeom prst="roundRect">
            <a:avLst>
              <a:gd name="adj" fmla="val 7551"/>
            </a:avLst>
          </a:prstGeom>
          <a:ln w="17318">
            <a:solidFill>
              <a:srgbClr val="DBE3F5"/>
            </a:solidFill>
            <a:prstDash val="solid"/>
          </a:ln>
        </p:spPr>
        <p:txBody>
          <a:bodyPr/>
          <a:lstStyle/>
          <a:p>
            <a:endParaRPr lang="en-US"/>
          </a:p>
        </p:txBody>
      </p:sp>
      <p:sp>
        <p:nvSpPr>
          <p:cNvPr id="27" name="Text 25"/>
          <p:cNvSpPr/>
          <p:nvPr/>
        </p:nvSpPr>
        <p:spPr>
          <a:xfrm>
            <a:off x="1236356" y="7904532"/>
            <a:ext cx="3143250"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1D50C6"/>
                </a:solidFill>
                <a:latin typeface="Be Vietnam Pro" pitchFamily="34" charset="0"/>
                <a:ea typeface="Be Vietnam Pro" pitchFamily="34" charset="-122"/>
                <a:cs typeface="Be Vietnam Pro" pitchFamily="34" charset="-120"/>
              </a:rPr>
              <a:t>TẦNG DỮ LIỆU</a:t>
            </a:r>
            <a:endParaRPr lang="en-US" sz="1575" dirty="0"/>
          </a:p>
        </p:txBody>
      </p:sp>
      <p:sp>
        <p:nvSpPr>
          <p:cNvPr id="28" name="Text 26"/>
          <p:cNvSpPr/>
          <p:nvPr/>
        </p:nvSpPr>
        <p:spPr>
          <a:xfrm>
            <a:off x="1236356" y="8231818"/>
            <a:ext cx="3143250" cy="375805"/>
          </a:xfrm>
          <a:prstGeom prst="rect">
            <a:avLst/>
          </a:prstGeom>
          <a:noFill/>
          <a:ln/>
        </p:spPr>
        <p:txBody>
          <a:bodyPr wrap="square" lIns="25400" tIns="25400" rIns="25400" bIns="25400" rtlCol="0" anchor="t">
            <a:normAutofit/>
          </a:bodyPr>
          <a:lstStyle/>
          <a:p>
            <a:pPr marL="0" indent="0" algn="l">
              <a:buNone/>
            </a:pPr>
            <a:r>
              <a:rPr lang="en-US" sz="2100" b="1" dirty="0">
                <a:solidFill>
                  <a:srgbClr val="16223D"/>
                </a:solidFill>
                <a:latin typeface="Be Vietnam Pro" pitchFamily="34" charset="0"/>
                <a:ea typeface="Be Vietnam Pro" pitchFamily="34" charset="-122"/>
                <a:cs typeface="Be Vietnam Pro" pitchFamily="34" charset="-120"/>
              </a:rPr>
              <a:t>Data Layer</a:t>
            </a:r>
            <a:endParaRPr lang="en-US" sz="2100" dirty="0"/>
          </a:p>
        </p:txBody>
      </p:sp>
      <p:sp>
        <p:nvSpPr>
          <p:cNvPr id="29" name="Shape 27"/>
          <p:cNvSpPr/>
          <p:nvPr/>
        </p:nvSpPr>
        <p:spPr>
          <a:xfrm>
            <a:off x="4417625" y="7965281"/>
            <a:ext cx="2035698" cy="543629"/>
          </a:xfrm>
          <a:prstGeom prst="roundRect">
            <a:avLst>
              <a:gd name="adj" fmla="val 17521"/>
            </a:avLst>
          </a:prstGeom>
          <a:solidFill>
            <a:srgbClr val="EEF2FC"/>
          </a:solidFill>
          <a:ln/>
        </p:spPr>
        <p:txBody>
          <a:bodyPr/>
          <a:lstStyle/>
          <a:p>
            <a:endParaRPr lang="en-US"/>
          </a:p>
        </p:txBody>
      </p:sp>
      <p:sp>
        <p:nvSpPr>
          <p:cNvPr id="30" name="Text 28"/>
          <p:cNvSpPr/>
          <p:nvPr/>
        </p:nvSpPr>
        <p:spPr>
          <a:xfrm>
            <a:off x="4646225" y="8098631"/>
            <a:ext cx="1654698"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Question bank</a:t>
            </a:r>
            <a:endParaRPr lang="en-US" sz="1725" dirty="0"/>
          </a:p>
        </p:txBody>
      </p:sp>
      <p:sp>
        <p:nvSpPr>
          <p:cNvPr id="31" name="Shape 29"/>
          <p:cNvSpPr/>
          <p:nvPr/>
        </p:nvSpPr>
        <p:spPr>
          <a:xfrm>
            <a:off x="6586592" y="7965281"/>
            <a:ext cx="1339047" cy="543629"/>
          </a:xfrm>
          <a:prstGeom prst="roundRect">
            <a:avLst>
              <a:gd name="adj" fmla="val 17521"/>
            </a:avLst>
          </a:prstGeom>
          <a:solidFill>
            <a:srgbClr val="EEF2FC"/>
          </a:solidFill>
          <a:ln/>
        </p:spPr>
        <p:txBody>
          <a:bodyPr/>
          <a:lstStyle/>
          <a:p>
            <a:endParaRPr lang="en-US"/>
          </a:p>
        </p:txBody>
      </p:sp>
      <p:sp>
        <p:nvSpPr>
          <p:cNvPr id="32" name="Text 30"/>
          <p:cNvSpPr/>
          <p:nvPr/>
        </p:nvSpPr>
        <p:spPr>
          <a:xfrm>
            <a:off x="6815192" y="8098631"/>
            <a:ext cx="958047"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Schema</a:t>
            </a:r>
            <a:endParaRPr lang="en-US" sz="1725" dirty="0"/>
          </a:p>
        </p:txBody>
      </p:sp>
      <p:sp>
        <p:nvSpPr>
          <p:cNvPr id="33" name="Shape 31"/>
          <p:cNvSpPr/>
          <p:nvPr/>
        </p:nvSpPr>
        <p:spPr>
          <a:xfrm>
            <a:off x="8058908" y="7965281"/>
            <a:ext cx="2214562" cy="543629"/>
          </a:xfrm>
          <a:prstGeom prst="roundRect">
            <a:avLst>
              <a:gd name="adj" fmla="val 17521"/>
            </a:avLst>
          </a:prstGeom>
          <a:solidFill>
            <a:srgbClr val="EEF2FC"/>
          </a:solidFill>
          <a:ln/>
        </p:spPr>
        <p:txBody>
          <a:bodyPr/>
          <a:lstStyle/>
          <a:p>
            <a:endParaRPr lang="en-US"/>
          </a:p>
        </p:txBody>
      </p:sp>
      <p:sp>
        <p:nvSpPr>
          <p:cNvPr id="34" name="Text 32"/>
          <p:cNvSpPr/>
          <p:nvPr/>
        </p:nvSpPr>
        <p:spPr>
          <a:xfrm>
            <a:off x="8287508" y="8098631"/>
            <a:ext cx="1833562"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Taxonomy 17 KC</a:t>
            </a:r>
            <a:endParaRPr lang="en-US" sz="1725" dirty="0"/>
          </a:p>
        </p:txBody>
      </p:sp>
      <p:sp>
        <p:nvSpPr>
          <p:cNvPr id="35" name="Text 33"/>
          <p:cNvSpPr/>
          <p:nvPr/>
        </p:nvSpPr>
        <p:spPr>
          <a:xfrm>
            <a:off x="49411" y="9417708"/>
            <a:ext cx="18189178" cy="297873"/>
          </a:xfrm>
          <a:prstGeom prst="rect">
            <a:avLst/>
          </a:prstGeom>
          <a:noFill/>
          <a:ln/>
        </p:spPr>
        <p:txBody>
          <a:bodyPr wrap="square" lIns="25400" tIns="25400" rIns="25400" bIns="25400" rtlCol="0" anchor="t">
            <a:normAutofit/>
          </a:bodyPr>
          <a:lstStyle/>
          <a:p>
            <a:pPr marL="0" indent="0" algn="ctr">
              <a:buNone/>
            </a:pPr>
            <a:r>
              <a:rPr lang="en-US" sz="1650" dirty="0">
                <a:solidFill>
                  <a:srgbClr val="5D6B88"/>
                </a:solidFill>
                <a:latin typeface="Be Vietnam Pro" pitchFamily="34" charset="0"/>
                <a:ea typeface="Be Vietnam Pro" pitchFamily="34" charset="-122"/>
                <a:cs typeface="Be Vietnam Pro" pitchFamily="34" charset="-120"/>
              </a:rPr>
              <a:t>Chuẩn hóa </a:t>
            </a:r>
            <a:r>
              <a:rPr lang="en-US" sz="1650" b="1" dirty="0">
                <a:solidFill>
                  <a:srgbClr val="0F2F7A"/>
                </a:solidFill>
                <a:latin typeface="Be Vietnam Pro" pitchFamily="34" charset="0"/>
                <a:ea typeface="Be Vietnam Pro" pitchFamily="34" charset="-122"/>
                <a:cs typeface="Be Vietnam Pro" pitchFamily="34" charset="-120"/>
              </a:rPr>
              <a:t>snake_case ↔ camelCase </a:t>
            </a:r>
            <a:r>
              <a:rPr lang="en-US" sz="1650" dirty="0">
                <a:solidFill>
                  <a:srgbClr val="5D6B88"/>
                </a:solidFill>
                <a:latin typeface="Be Vietnam Pro" pitchFamily="34" charset="0"/>
                <a:ea typeface="Be Vietnam Pro" pitchFamily="34" charset="-122"/>
                <a:cs typeface="Be Vietnam Pro" pitchFamily="34" charset="-120"/>
              </a:rPr>
              <a:t>tại boundary backend / frontend.</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163639"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GỢI Ý &amp; ĐỊNH TUYẾN</a:t>
            </a:r>
            <a:endParaRPr lang="en-US" sz="1800" dirty="0"/>
          </a:p>
        </p:txBody>
      </p:sp>
      <p:sp>
        <p:nvSpPr>
          <p:cNvPr id="4" name="Text 2"/>
          <p:cNvSpPr/>
          <p:nvPr/>
        </p:nvSpPr>
        <p:spPr>
          <a:xfrm>
            <a:off x="16431437" y="704769"/>
            <a:ext cx="105657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16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Engine gợi ý &amp; MST</a:t>
            </a:r>
            <a:endParaRPr lang="en-US" sz="4350" dirty="0"/>
          </a:p>
        </p:txBody>
      </p:sp>
      <p:sp>
        <p:nvSpPr>
          <p:cNvPr id="6" name="Shape 4"/>
          <p:cNvSpPr/>
          <p:nvPr/>
        </p:nvSpPr>
        <p:spPr>
          <a:xfrm>
            <a:off x="876192" y="2330648"/>
            <a:ext cx="6944861" cy="1710576"/>
          </a:xfrm>
          <a:prstGeom prst="roundRect">
            <a:avLst>
              <a:gd name="adj" fmla="val 7796"/>
            </a:avLst>
          </a:prstGeom>
          <a:solidFill>
            <a:srgbClr val="EEF2FC"/>
          </a:solidFill>
          <a:ln w="17318">
            <a:solidFill>
              <a:srgbClr val="1D50C6"/>
            </a:solidFill>
            <a:prstDash val="solid"/>
          </a:ln>
        </p:spPr>
        <p:txBody>
          <a:bodyPr/>
          <a:lstStyle/>
          <a:p>
            <a:endParaRPr lang="en-US"/>
          </a:p>
        </p:txBody>
      </p:sp>
      <p:sp>
        <p:nvSpPr>
          <p:cNvPr id="7" name="Text 5"/>
          <p:cNvSpPr/>
          <p:nvPr/>
        </p:nvSpPr>
        <p:spPr>
          <a:xfrm>
            <a:off x="1198202" y="2633717"/>
            <a:ext cx="6930926"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1D50C6"/>
                </a:solidFill>
                <a:latin typeface="Be Vietnam Pro" pitchFamily="34" charset="0"/>
                <a:ea typeface="Be Vietnam Pro" pitchFamily="34" charset="-122"/>
                <a:cs typeface="Be Vietnam Pro" pitchFamily="34" charset="-120"/>
              </a:rPr>
              <a:t>RECOMMENDER — ZPD</a:t>
            </a:r>
            <a:endParaRPr lang="en-US" sz="1575" dirty="0"/>
          </a:p>
        </p:txBody>
      </p:sp>
      <p:sp>
        <p:nvSpPr>
          <p:cNvPr id="8" name="Text 6"/>
          <p:cNvSpPr/>
          <p:nvPr/>
        </p:nvSpPr>
        <p:spPr>
          <a:xfrm>
            <a:off x="1198202" y="3018099"/>
            <a:ext cx="6489867" cy="758158"/>
          </a:xfrm>
          <a:prstGeom prst="rect">
            <a:avLst/>
          </a:prstGeom>
          <a:noFill/>
          <a:ln/>
        </p:spPr>
        <p:txBody>
          <a:bodyPr wrap="square" lIns="25400" tIns="25400" rIns="25400" bIns="25400" rtlCol="0" anchor="t">
            <a:normAutofit/>
          </a:bodyPr>
          <a:lstStyle/>
          <a:p>
            <a:pPr marL="0" indent="0" algn="l">
              <a:lnSpc>
                <a:spcPct val="140000"/>
              </a:lnSpc>
              <a:buNone/>
            </a:pPr>
            <a:r>
              <a:rPr lang="en-US" sz="2025" b="1" dirty="0">
                <a:solidFill>
                  <a:srgbClr val="0F2F7A"/>
                </a:solidFill>
                <a:latin typeface="Be Vietnam Pro" pitchFamily="34" charset="0"/>
                <a:ea typeface="Be Vietnam Pro" pitchFamily="34" charset="-122"/>
                <a:cs typeface="Be Vietnam Pro" pitchFamily="34" charset="-120"/>
              </a:rPr>
              <a:t>score = 0.65·weakness + 0.30·diff_fit + 0.05·coverage</a:t>
            </a:r>
            <a:endParaRPr lang="en-US" sz="2025" dirty="0"/>
          </a:p>
        </p:txBody>
      </p:sp>
      <p:sp>
        <p:nvSpPr>
          <p:cNvPr id="9" name="Shape 7"/>
          <p:cNvSpPr/>
          <p:nvPr/>
        </p:nvSpPr>
        <p:spPr>
          <a:xfrm>
            <a:off x="876192" y="4231725"/>
            <a:ext cx="6944861" cy="1334988"/>
          </a:xfrm>
          <a:prstGeom prst="roundRect">
            <a:avLst>
              <a:gd name="adj" fmla="val 9989"/>
            </a:avLst>
          </a:prstGeom>
          <a:ln w="17318">
            <a:solidFill>
              <a:srgbClr val="DBE3F5"/>
            </a:solidFill>
            <a:prstDash val="solid"/>
          </a:ln>
        </p:spPr>
        <p:txBody>
          <a:bodyPr/>
          <a:lstStyle/>
          <a:p>
            <a:endParaRPr lang="en-US"/>
          </a:p>
        </p:txBody>
      </p:sp>
      <p:sp>
        <p:nvSpPr>
          <p:cNvPr id="10" name="Text 8"/>
          <p:cNvSpPr/>
          <p:nvPr/>
        </p:nvSpPr>
        <p:spPr>
          <a:xfrm>
            <a:off x="1050679" y="4477562"/>
            <a:ext cx="3245495" cy="592282"/>
          </a:xfrm>
          <a:prstGeom prst="rect">
            <a:avLst/>
          </a:prstGeom>
          <a:noFill/>
          <a:ln/>
        </p:spPr>
        <p:txBody>
          <a:bodyPr wrap="square" lIns="25400" tIns="25400" rIns="25400" bIns="25400" rtlCol="0" anchor="t">
            <a:normAutofit/>
          </a:bodyPr>
          <a:lstStyle/>
          <a:p>
            <a:pPr marL="0" indent="0" algn="ctr">
              <a:buNone/>
            </a:pPr>
            <a:r>
              <a:rPr lang="en-US" sz="3450" b="1" dirty="0">
                <a:solidFill>
                  <a:srgbClr val="1D50C6"/>
                </a:solidFill>
                <a:latin typeface="Be Vietnam Pro" pitchFamily="34" charset="0"/>
                <a:ea typeface="Be Vietnam Pro" pitchFamily="34" charset="-122"/>
                <a:cs typeface="Be Vietnam Pro" pitchFamily="34" charset="-120"/>
              </a:rPr>
              <a:t>0.40</a:t>
            </a:r>
            <a:endParaRPr lang="en-US" sz="3450" dirty="0"/>
          </a:p>
        </p:txBody>
      </p:sp>
      <p:sp>
        <p:nvSpPr>
          <p:cNvPr id="11" name="Text 9"/>
          <p:cNvSpPr/>
          <p:nvPr/>
        </p:nvSpPr>
        <p:spPr>
          <a:xfrm>
            <a:off x="1050679" y="5069762"/>
            <a:ext cx="3245495" cy="289214"/>
          </a:xfrm>
          <a:prstGeom prst="rect">
            <a:avLst/>
          </a:prstGeom>
          <a:noFill/>
          <a:ln/>
        </p:spPr>
        <p:txBody>
          <a:bodyPr wrap="square" lIns="25400" tIns="25400" rIns="25400" bIns="25400" rtlCol="0" anchor="t">
            <a:normAutofit/>
          </a:bodyPr>
          <a:lstStyle/>
          <a:p>
            <a:pPr marL="0" indent="0" algn="ctr">
              <a:buNone/>
            </a:pPr>
            <a:r>
              <a:rPr lang="en-US" sz="1575" b="1" dirty="0">
                <a:solidFill>
                  <a:srgbClr val="5D6B88"/>
                </a:solidFill>
                <a:latin typeface="Be Vietnam Pro" pitchFamily="34" charset="0"/>
                <a:ea typeface="Be Vietnam Pro" pitchFamily="34" charset="-122"/>
                <a:cs typeface="Be Vietnam Pro" pitchFamily="34" charset="-120"/>
              </a:rPr>
              <a:t>Ngưỡng KC yếu</a:t>
            </a:r>
            <a:endParaRPr lang="en-US" sz="1575" dirty="0"/>
          </a:p>
        </p:txBody>
      </p:sp>
      <p:sp>
        <p:nvSpPr>
          <p:cNvPr id="12" name="Shape 10"/>
          <p:cNvSpPr/>
          <p:nvPr/>
        </p:nvSpPr>
        <p:spPr>
          <a:xfrm>
            <a:off x="4339151" y="4594459"/>
            <a:ext cx="18942" cy="609519"/>
          </a:xfrm>
          <a:prstGeom prst="rect">
            <a:avLst/>
          </a:prstGeom>
          <a:solidFill>
            <a:srgbClr val="DBE3F5"/>
          </a:solidFill>
          <a:ln/>
        </p:spPr>
        <p:txBody>
          <a:bodyPr/>
          <a:lstStyle/>
          <a:p>
            <a:endParaRPr lang="en-US"/>
          </a:p>
        </p:txBody>
      </p:sp>
      <p:sp>
        <p:nvSpPr>
          <p:cNvPr id="13" name="Text 11"/>
          <p:cNvSpPr/>
          <p:nvPr/>
        </p:nvSpPr>
        <p:spPr>
          <a:xfrm>
            <a:off x="4401071" y="4477562"/>
            <a:ext cx="3245495" cy="592282"/>
          </a:xfrm>
          <a:prstGeom prst="rect">
            <a:avLst/>
          </a:prstGeom>
          <a:noFill/>
          <a:ln/>
        </p:spPr>
        <p:txBody>
          <a:bodyPr wrap="square" lIns="25400" tIns="25400" rIns="25400" bIns="25400" rtlCol="0" anchor="t">
            <a:normAutofit/>
          </a:bodyPr>
          <a:lstStyle/>
          <a:p>
            <a:pPr marL="0" indent="0" algn="ctr">
              <a:buNone/>
            </a:pPr>
            <a:r>
              <a:rPr lang="en-US" sz="3450" b="1" dirty="0">
                <a:solidFill>
                  <a:srgbClr val="1D50C6"/>
                </a:solidFill>
                <a:latin typeface="Be Vietnam Pro" pitchFamily="34" charset="0"/>
                <a:ea typeface="Be Vietnam Pro" pitchFamily="34" charset="-122"/>
                <a:cs typeface="Be Vietnam Pro" pitchFamily="34" charset="-120"/>
              </a:rPr>
              <a:t>0.70</a:t>
            </a:r>
            <a:endParaRPr lang="en-US" sz="3450" dirty="0"/>
          </a:p>
        </p:txBody>
      </p:sp>
      <p:sp>
        <p:nvSpPr>
          <p:cNvPr id="14" name="Text 12"/>
          <p:cNvSpPr/>
          <p:nvPr/>
        </p:nvSpPr>
        <p:spPr>
          <a:xfrm>
            <a:off x="4401071" y="5069762"/>
            <a:ext cx="3245495" cy="289214"/>
          </a:xfrm>
          <a:prstGeom prst="rect">
            <a:avLst/>
          </a:prstGeom>
          <a:noFill/>
          <a:ln/>
        </p:spPr>
        <p:txBody>
          <a:bodyPr wrap="square" lIns="25400" tIns="25400" rIns="25400" bIns="25400" rtlCol="0" anchor="t">
            <a:normAutofit/>
          </a:bodyPr>
          <a:lstStyle/>
          <a:p>
            <a:pPr marL="0" indent="0" algn="ctr">
              <a:buNone/>
            </a:pPr>
            <a:r>
              <a:rPr lang="en-US" sz="1575" b="1" dirty="0">
                <a:solidFill>
                  <a:srgbClr val="5D6B88"/>
                </a:solidFill>
                <a:latin typeface="Be Vietnam Pro" pitchFamily="34" charset="0"/>
                <a:ea typeface="Be Vietnam Pro" pitchFamily="34" charset="-122"/>
                <a:cs typeface="Be Vietnam Pro" pitchFamily="34" charset="-120"/>
              </a:rPr>
              <a:t>Ngưỡng KC mạnh</a:t>
            </a:r>
            <a:endParaRPr lang="en-US" sz="1575" dirty="0"/>
          </a:p>
        </p:txBody>
      </p:sp>
      <p:sp>
        <p:nvSpPr>
          <p:cNvPr id="15" name="Text 13"/>
          <p:cNvSpPr/>
          <p:nvPr/>
        </p:nvSpPr>
        <p:spPr>
          <a:xfrm>
            <a:off x="876192" y="5757213"/>
            <a:ext cx="7153207" cy="67833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Cập nhật vector theo từng trục KC; điểm cuối dùng chung pipeline </a:t>
            </a:r>
            <a:r>
              <a:rPr lang="en-US" sz="1800" b="1" dirty="0">
                <a:solidFill>
                  <a:srgbClr val="33405F"/>
                </a:solidFill>
                <a:latin typeface="Be Vietnam Pro" pitchFamily="34" charset="0"/>
                <a:ea typeface="Be Vietnam Pro" pitchFamily="34" charset="-122"/>
                <a:cs typeface="Be Vietnam Pro" pitchFamily="34" charset="-120"/>
              </a:rPr>
              <a:t>KT-EMA</a:t>
            </a:r>
            <a:r>
              <a:rPr lang="en-US" sz="1800" dirty="0">
                <a:solidFill>
                  <a:srgbClr val="33405F"/>
                </a:solidFill>
                <a:latin typeface="Be Vietnam Pro" pitchFamily="34" charset="0"/>
                <a:ea typeface="Be Vietnam Pro" pitchFamily="34" charset="-122"/>
                <a:cs typeface="Be Vietnam Pro" pitchFamily="34" charset="-120"/>
              </a:rPr>
              <a:t>.</a:t>
            </a:r>
            <a:endParaRPr lang="en-US" sz="1800" dirty="0"/>
          </a:p>
        </p:txBody>
      </p:sp>
      <p:sp>
        <p:nvSpPr>
          <p:cNvPr id="16" name="Text 14"/>
          <p:cNvSpPr/>
          <p:nvPr/>
        </p:nvSpPr>
        <p:spPr>
          <a:xfrm>
            <a:off x="8163899" y="2330648"/>
            <a:ext cx="10172700"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1D50C6"/>
                </a:solidFill>
                <a:latin typeface="Be Vietnam Pro" pitchFamily="34" charset="0"/>
                <a:ea typeface="Be Vietnam Pro" pitchFamily="34" charset="-122"/>
                <a:cs typeface="Be Vietnam Pro" pitchFamily="34" charset="-120"/>
              </a:rPr>
              <a:t>MST — 2 GIAI ĐOẠN</a:t>
            </a:r>
            <a:endParaRPr lang="en-US" sz="1575" dirty="0"/>
          </a:p>
        </p:txBody>
      </p:sp>
      <p:sp>
        <p:nvSpPr>
          <p:cNvPr id="17" name="Shape 15"/>
          <p:cNvSpPr/>
          <p:nvPr/>
        </p:nvSpPr>
        <p:spPr>
          <a:xfrm>
            <a:off x="8163899" y="2753185"/>
            <a:ext cx="9247909" cy="1141106"/>
          </a:xfrm>
          <a:prstGeom prst="roundRect">
            <a:avLst>
              <a:gd name="adj" fmla="val 11686"/>
            </a:avLst>
          </a:prstGeom>
          <a:solidFill>
            <a:srgbClr val="1D50C6"/>
          </a:solidFill>
          <a:ln/>
        </p:spPr>
        <p:txBody>
          <a:bodyPr/>
          <a:lstStyle/>
          <a:p>
            <a:endParaRPr lang="en-US"/>
          </a:p>
        </p:txBody>
      </p:sp>
      <p:sp>
        <p:nvSpPr>
          <p:cNvPr id="18" name="Text 16"/>
          <p:cNvSpPr/>
          <p:nvPr/>
        </p:nvSpPr>
        <p:spPr>
          <a:xfrm>
            <a:off x="8449649" y="3000781"/>
            <a:ext cx="9544050"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BCD0FF"/>
                </a:solidFill>
                <a:latin typeface="Be Vietnam Pro" pitchFamily="34" charset="0"/>
                <a:ea typeface="Be Vietnam Pro" pitchFamily="34" charset="-122"/>
                <a:cs typeface="Be Vietnam Pro" pitchFamily="34" charset="-120"/>
              </a:rPr>
              <a:t>STAGE 1</a:t>
            </a:r>
            <a:endParaRPr lang="en-US" sz="1650" dirty="0"/>
          </a:p>
        </p:txBody>
      </p:sp>
      <p:sp>
        <p:nvSpPr>
          <p:cNvPr id="19" name="Text 17"/>
          <p:cNvSpPr/>
          <p:nvPr/>
        </p:nvSpPr>
        <p:spPr>
          <a:xfrm>
            <a:off x="8449649" y="3317650"/>
            <a:ext cx="9544050" cy="367145"/>
          </a:xfrm>
          <a:prstGeom prst="rect">
            <a:avLst/>
          </a:prstGeom>
          <a:noFill/>
          <a:ln/>
        </p:spPr>
        <p:txBody>
          <a:bodyPr wrap="square" lIns="25400" tIns="25400" rIns="25400" bIns="25400" rtlCol="0" anchor="t">
            <a:normAutofit/>
          </a:bodyPr>
          <a:lstStyle/>
          <a:p>
            <a:pPr marL="0" indent="0" algn="l">
              <a:buNone/>
            </a:pPr>
            <a:r>
              <a:rPr lang="en-US" sz="2025" b="1" dirty="0">
                <a:solidFill>
                  <a:srgbClr val="FFFFFF"/>
                </a:solidFill>
                <a:latin typeface="Be Vietnam Pro" pitchFamily="34" charset="0"/>
                <a:ea typeface="Be Vietnam Pro" pitchFamily="34" charset="-122"/>
                <a:cs typeface="Be Vietnam Pro" pitchFamily="34" charset="-120"/>
              </a:rPr>
              <a:t>Định vị năng lực ban đầu</a:t>
            </a:r>
            <a:endParaRPr lang="en-US" sz="2025" dirty="0"/>
          </a:p>
        </p:txBody>
      </p:sp>
      <p:sp>
        <p:nvSpPr>
          <p:cNvPr id="20" name="Text 18"/>
          <p:cNvSpPr/>
          <p:nvPr/>
        </p:nvSpPr>
        <p:spPr>
          <a:xfrm>
            <a:off x="7701503" y="4027559"/>
            <a:ext cx="10172700" cy="401782"/>
          </a:xfrm>
          <a:prstGeom prst="rect">
            <a:avLst/>
          </a:prstGeom>
          <a:noFill/>
          <a:ln/>
        </p:spPr>
        <p:txBody>
          <a:bodyPr wrap="square" lIns="25400" tIns="25400" rIns="25400" bIns="25400" rtlCol="0" anchor="t">
            <a:normAutofit/>
          </a:bodyPr>
          <a:lstStyle/>
          <a:p>
            <a:pPr marL="0" indent="0" algn="ctr">
              <a:buNone/>
            </a:pPr>
            <a:r>
              <a:rPr lang="en-US" sz="2250" dirty="0">
                <a:solidFill>
                  <a:srgbClr val="1D50C6"/>
                </a:solidFill>
                <a:latin typeface="Be Vietnam Pro" pitchFamily="34" charset="0"/>
                <a:ea typeface="Be Vietnam Pro" pitchFamily="34" charset="-122"/>
                <a:cs typeface="Be Vietnam Pro" pitchFamily="34" charset="-120"/>
              </a:rPr>
              <a:t>↓</a:t>
            </a:r>
            <a:endParaRPr lang="en-US" sz="2250" dirty="0"/>
          </a:p>
        </p:txBody>
      </p:sp>
      <p:sp>
        <p:nvSpPr>
          <p:cNvPr id="21" name="Shape 19"/>
          <p:cNvSpPr/>
          <p:nvPr/>
        </p:nvSpPr>
        <p:spPr>
          <a:xfrm>
            <a:off x="8163899" y="4524510"/>
            <a:ext cx="3006463" cy="654573"/>
          </a:xfrm>
          <a:prstGeom prst="roundRect">
            <a:avLst>
              <a:gd name="adj" fmla="val 17462"/>
            </a:avLst>
          </a:prstGeom>
          <a:ln w="17318">
            <a:solidFill>
              <a:srgbClr val="DBE3F5"/>
            </a:solidFill>
            <a:prstDash val="solid"/>
          </a:ln>
        </p:spPr>
        <p:txBody>
          <a:bodyPr/>
          <a:lstStyle/>
          <a:p>
            <a:endParaRPr lang="en-US"/>
          </a:p>
        </p:txBody>
      </p:sp>
      <p:sp>
        <p:nvSpPr>
          <p:cNvPr id="22" name="Text 20"/>
          <p:cNvSpPr/>
          <p:nvPr/>
        </p:nvSpPr>
        <p:spPr>
          <a:xfrm>
            <a:off x="8307570" y="4713278"/>
            <a:ext cx="2719121" cy="315137"/>
          </a:xfrm>
          <a:prstGeom prst="rect">
            <a:avLst/>
          </a:prstGeom>
          <a:noFill/>
          <a:ln/>
        </p:spPr>
        <p:txBody>
          <a:bodyPr wrap="square" lIns="25400" tIns="25400" rIns="25400" bIns="25400" rtlCol="0" anchor="t">
            <a:normAutofit/>
          </a:bodyPr>
          <a:lstStyle/>
          <a:p>
            <a:pPr marL="0" indent="0" algn="ctr">
              <a:buNone/>
            </a:pPr>
            <a:r>
              <a:rPr lang="en-US" sz="1725" b="1" dirty="0">
                <a:solidFill>
                  <a:srgbClr val="5D6B88"/>
                </a:solidFill>
                <a:latin typeface="Be Vietnam Pro" pitchFamily="34" charset="0"/>
                <a:ea typeface="Be Vietnam Pro" pitchFamily="34" charset="-122"/>
                <a:cs typeface="Be Vietnam Pro" pitchFamily="34" charset="-120"/>
              </a:rPr>
              <a:t>WEAK</a:t>
            </a:r>
            <a:endParaRPr lang="en-US" sz="1725" dirty="0"/>
          </a:p>
        </p:txBody>
      </p:sp>
      <p:sp>
        <p:nvSpPr>
          <p:cNvPr id="23" name="Shape 21"/>
          <p:cNvSpPr/>
          <p:nvPr/>
        </p:nvSpPr>
        <p:spPr>
          <a:xfrm>
            <a:off x="11284554" y="4524510"/>
            <a:ext cx="3006599" cy="654573"/>
          </a:xfrm>
          <a:prstGeom prst="roundRect">
            <a:avLst>
              <a:gd name="adj" fmla="val 17462"/>
            </a:avLst>
          </a:prstGeom>
          <a:ln w="17318">
            <a:solidFill>
              <a:srgbClr val="DBE3F5"/>
            </a:solidFill>
            <a:prstDash val="solid"/>
          </a:ln>
        </p:spPr>
        <p:txBody>
          <a:bodyPr/>
          <a:lstStyle/>
          <a:p>
            <a:endParaRPr lang="en-US"/>
          </a:p>
        </p:txBody>
      </p:sp>
      <p:sp>
        <p:nvSpPr>
          <p:cNvPr id="24" name="Text 22"/>
          <p:cNvSpPr/>
          <p:nvPr/>
        </p:nvSpPr>
        <p:spPr>
          <a:xfrm>
            <a:off x="11428223" y="4713278"/>
            <a:ext cx="2719260" cy="315137"/>
          </a:xfrm>
          <a:prstGeom prst="rect">
            <a:avLst/>
          </a:prstGeom>
          <a:noFill/>
          <a:ln/>
        </p:spPr>
        <p:txBody>
          <a:bodyPr wrap="square" lIns="25400" tIns="25400" rIns="25400" bIns="25400" rtlCol="0" anchor="t">
            <a:normAutofit/>
          </a:bodyPr>
          <a:lstStyle/>
          <a:p>
            <a:pPr marL="0" indent="0" algn="ctr">
              <a:buNone/>
            </a:pPr>
            <a:r>
              <a:rPr lang="en-US" sz="1725" b="1" dirty="0">
                <a:solidFill>
                  <a:srgbClr val="5D6B88"/>
                </a:solidFill>
                <a:latin typeface="Be Vietnam Pro" pitchFamily="34" charset="0"/>
                <a:ea typeface="Be Vietnam Pro" pitchFamily="34" charset="-122"/>
                <a:cs typeface="Be Vietnam Pro" pitchFamily="34" charset="-120"/>
              </a:rPr>
              <a:t>MID</a:t>
            </a:r>
            <a:endParaRPr lang="en-US" sz="1725" dirty="0"/>
          </a:p>
        </p:txBody>
      </p:sp>
      <p:sp>
        <p:nvSpPr>
          <p:cNvPr id="25" name="Shape 23"/>
          <p:cNvSpPr/>
          <p:nvPr/>
        </p:nvSpPr>
        <p:spPr>
          <a:xfrm>
            <a:off x="14405344" y="4524510"/>
            <a:ext cx="3006463" cy="654573"/>
          </a:xfrm>
          <a:prstGeom prst="roundRect">
            <a:avLst>
              <a:gd name="adj" fmla="val 17462"/>
            </a:avLst>
          </a:prstGeom>
          <a:ln w="17318">
            <a:solidFill>
              <a:srgbClr val="DBE3F5"/>
            </a:solidFill>
            <a:prstDash val="solid"/>
          </a:ln>
        </p:spPr>
        <p:txBody>
          <a:bodyPr/>
          <a:lstStyle/>
          <a:p>
            <a:endParaRPr lang="en-US"/>
          </a:p>
        </p:txBody>
      </p:sp>
      <p:sp>
        <p:nvSpPr>
          <p:cNvPr id="26" name="Text 24"/>
          <p:cNvSpPr/>
          <p:nvPr/>
        </p:nvSpPr>
        <p:spPr>
          <a:xfrm>
            <a:off x="14549015" y="4713278"/>
            <a:ext cx="2719121" cy="315137"/>
          </a:xfrm>
          <a:prstGeom prst="rect">
            <a:avLst/>
          </a:prstGeom>
          <a:noFill/>
          <a:ln/>
        </p:spPr>
        <p:txBody>
          <a:bodyPr wrap="square" lIns="25400" tIns="25400" rIns="25400" bIns="25400" rtlCol="0" anchor="t">
            <a:normAutofit/>
          </a:bodyPr>
          <a:lstStyle/>
          <a:p>
            <a:pPr marL="0" indent="0" algn="ctr">
              <a:buNone/>
            </a:pPr>
            <a:r>
              <a:rPr lang="en-US" sz="1725" b="1" dirty="0">
                <a:solidFill>
                  <a:srgbClr val="5D6B88"/>
                </a:solidFill>
                <a:latin typeface="Be Vietnam Pro" pitchFamily="34" charset="0"/>
                <a:ea typeface="Be Vietnam Pro" pitchFamily="34" charset="-122"/>
                <a:cs typeface="Be Vietnam Pro" pitchFamily="34" charset="-120"/>
              </a:rPr>
              <a:t>STRONG</a:t>
            </a:r>
            <a:endParaRPr lang="en-US" sz="1725" dirty="0"/>
          </a:p>
        </p:txBody>
      </p:sp>
      <p:sp>
        <p:nvSpPr>
          <p:cNvPr id="27" name="Text 25"/>
          <p:cNvSpPr/>
          <p:nvPr/>
        </p:nvSpPr>
        <p:spPr>
          <a:xfrm>
            <a:off x="7701503" y="5312352"/>
            <a:ext cx="10172700" cy="401782"/>
          </a:xfrm>
          <a:prstGeom prst="rect">
            <a:avLst/>
          </a:prstGeom>
          <a:noFill/>
          <a:ln/>
        </p:spPr>
        <p:txBody>
          <a:bodyPr wrap="square" lIns="25400" tIns="25400" rIns="25400" bIns="25400" rtlCol="0" anchor="t">
            <a:normAutofit/>
          </a:bodyPr>
          <a:lstStyle/>
          <a:p>
            <a:pPr marL="0" indent="0" algn="ctr">
              <a:buNone/>
            </a:pPr>
            <a:r>
              <a:rPr lang="en-US" sz="2250" dirty="0">
                <a:solidFill>
                  <a:srgbClr val="1D50C6"/>
                </a:solidFill>
                <a:latin typeface="Be Vietnam Pro" pitchFamily="34" charset="0"/>
                <a:ea typeface="Be Vietnam Pro" pitchFamily="34" charset="-122"/>
                <a:cs typeface="Be Vietnam Pro" pitchFamily="34" charset="-120"/>
              </a:rPr>
              <a:t>↓</a:t>
            </a:r>
            <a:endParaRPr lang="en-US" sz="2250" dirty="0"/>
          </a:p>
        </p:txBody>
      </p:sp>
      <p:sp>
        <p:nvSpPr>
          <p:cNvPr id="28" name="Shape 26"/>
          <p:cNvSpPr/>
          <p:nvPr/>
        </p:nvSpPr>
        <p:spPr>
          <a:xfrm>
            <a:off x="8163899" y="5809303"/>
            <a:ext cx="9247909" cy="1175742"/>
          </a:xfrm>
          <a:prstGeom prst="roundRect">
            <a:avLst>
              <a:gd name="adj" fmla="val 11342"/>
            </a:avLst>
          </a:prstGeom>
          <a:solidFill>
            <a:srgbClr val="EEF2FC"/>
          </a:solidFill>
          <a:ln w="17318">
            <a:solidFill>
              <a:srgbClr val="1D50C6"/>
            </a:solidFill>
            <a:prstDash val="solid"/>
          </a:ln>
        </p:spPr>
        <p:txBody>
          <a:bodyPr/>
          <a:lstStyle/>
          <a:p>
            <a:endParaRPr lang="en-US"/>
          </a:p>
        </p:txBody>
      </p:sp>
      <p:sp>
        <p:nvSpPr>
          <p:cNvPr id="29" name="Text 27"/>
          <p:cNvSpPr/>
          <p:nvPr/>
        </p:nvSpPr>
        <p:spPr>
          <a:xfrm>
            <a:off x="8466967" y="6074217"/>
            <a:ext cx="9505950" cy="297873"/>
          </a:xfrm>
          <a:prstGeom prst="rect">
            <a:avLst/>
          </a:prstGeom>
          <a:noFill/>
          <a:ln/>
        </p:spPr>
        <p:txBody>
          <a:bodyPr wrap="square" lIns="25400" tIns="25400" rIns="25400" bIns="25400" rtlCol="0" anchor="t">
            <a:normAutofit/>
          </a:bodyPr>
          <a:lstStyle/>
          <a:p>
            <a:pPr marL="0" indent="0" algn="l">
              <a:buNone/>
            </a:pPr>
            <a:r>
              <a:rPr lang="en-US" sz="1650" b="1" dirty="0">
                <a:solidFill>
                  <a:srgbClr val="1D50C6"/>
                </a:solidFill>
                <a:latin typeface="Be Vietnam Pro" pitchFamily="34" charset="0"/>
                <a:ea typeface="Be Vietnam Pro" pitchFamily="34" charset="-122"/>
                <a:cs typeface="Be Vietnam Pro" pitchFamily="34" charset="-120"/>
              </a:rPr>
              <a:t>STAGE 2</a:t>
            </a:r>
            <a:endParaRPr lang="en-US" sz="1650" dirty="0"/>
          </a:p>
        </p:txBody>
      </p:sp>
      <p:sp>
        <p:nvSpPr>
          <p:cNvPr id="30" name="Text 28"/>
          <p:cNvSpPr/>
          <p:nvPr/>
        </p:nvSpPr>
        <p:spPr>
          <a:xfrm>
            <a:off x="8466967" y="6391085"/>
            <a:ext cx="9505950" cy="367145"/>
          </a:xfrm>
          <a:prstGeom prst="rect">
            <a:avLst/>
          </a:prstGeom>
          <a:noFill/>
          <a:ln/>
        </p:spPr>
        <p:txBody>
          <a:bodyPr wrap="square" lIns="25400" tIns="25400" rIns="25400" bIns="25400" rtlCol="0" anchor="t">
            <a:normAutofit/>
          </a:bodyPr>
          <a:lstStyle/>
          <a:p>
            <a:pPr marL="0" indent="0" algn="l">
              <a:buNone/>
            </a:pPr>
            <a:r>
              <a:rPr lang="en-US" sz="2025" b="1" dirty="0">
                <a:solidFill>
                  <a:srgbClr val="0F2F7A"/>
                </a:solidFill>
                <a:latin typeface="Be Vietnam Pro" pitchFamily="34" charset="0"/>
                <a:ea typeface="Be Vietnam Pro" pitchFamily="34" charset="-122"/>
                <a:cs typeface="Be Vietnam Pro" pitchFamily="34" charset="-120"/>
              </a:rPr>
              <a:t>Thích nghi — ưu tiên KC yếu</a:t>
            </a:r>
            <a:endParaRPr lang="en-US" sz="20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615630"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ĐÁNH GIÁ CÂU TRẢ LỜI</a:t>
            </a:r>
            <a:endParaRPr lang="en-US" sz="1800" dirty="0"/>
          </a:p>
        </p:txBody>
      </p:sp>
      <p:sp>
        <p:nvSpPr>
          <p:cNvPr id="4" name="Text 2"/>
          <p:cNvSpPr/>
          <p:nvPr/>
        </p:nvSpPr>
        <p:spPr>
          <a:xfrm>
            <a:off x="16453625" y="704769"/>
            <a:ext cx="1034383"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17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Hệ thống chấm điểm</a:t>
            </a:r>
            <a:endParaRPr lang="en-US" sz="4350" dirty="0"/>
          </a:p>
        </p:txBody>
      </p:sp>
      <p:sp>
        <p:nvSpPr>
          <p:cNvPr id="6" name="Shape 4"/>
          <p:cNvSpPr/>
          <p:nvPr/>
        </p:nvSpPr>
        <p:spPr>
          <a:xfrm>
            <a:off x="876192" y="2330648"/>
            <a:ext cx="5359436" cy="6413680"/>
          </a:xfrm>
          <a:prstGeom prst="roundRect">
            <a:avLst>
              <a:gd name="adj" fmla="val 2844"/>
            </a:avLst>
          </a:prstGeom>
          <a:ln w="17318">
            <a:solidFill>
              <a:srgbClr val="DBE3F5"/>
            </a:solidFill>
            <a:prstDash val="solid"/>
          </a:ln>
        </p:spPr>
        <p:txBody>
          <a:bodyPr/>
          <a:lstStyle/>
          <a:p>
            <a:endParaRPr lang="en-US"/>
          </a:p>
        </p:txBody>
      </p:sp>
      <p:sp>
        <p:nvSpPr>
          <p:cNvPr id="7" name="Text 5"/>
          <p:cNvSpPr/>
          <p:nvPr/>
        </p:nvSpPr>
        <p:spPr>
          <a:xfrm>
            <a:off x="1198202" y="2671735"/>
            <a:ext cx="5186958" cy="289214"/>
          </a:xfrm>
          <a:prstGeom prst="rect">
            <a:avLst/>
          </a:prstGeom>
          <a:noFill/>
          <a:ln/>
        </p:spPr>
        <p:txBody>
          <a:bodyPr wrap="square" lIns="25400" tIns="25400" rIns="25400" bIns="25400" rtlCol="0" anchor="t">
            <a:normAutofit/>
          </a:bodyPr>
          <a:lstStyle/>
          <a:p>
            <a:pPr marL="0" indent="0" algn="l">
              <a:buNone/>
            </a:pPr>
            <a:r>
              <a:rPr lang="en-US" sz="1575" b="1" dirty="0">
                <a:solidFill>
                  <a:srgbClr val="1D50C6"/>
                </a:solidFill>
                <a:latin typeface="Be Vietnam Pro" pitchFamily="34" charset="0"/>
                <a:ea typeface="Be Vietnam Pro" pitchFamily="34" charset="-122"/>
                <a:cs typeface="Be Vietnam Pro" pitchFamily="34" charset="-120"/>
              </a:rPr>
              <a:t>Câu khách quan</a:t>
            </a:r>
            <a:endParaRPr lang="en-US" sz="1575" dirty="0"/>
          </a:p>
        </p:txBody>
      </p:sp>
      <p:sp>
        <p:nvSpPr>
          <p:cNvPr id="8" name="Text 6"/>
          <p:cNvSpPr/>
          <p:nvPr/>
        </p:nvSpPr>
        <p:spPr>
          <a:xfrm>
            <a:off x="1198202" y="2960868"/>
            <a:ext cx="5186958" cy="280555"/>
          </a:xfrm>
          <a:prstGeom prst="rect">
            <a:avLst/>
          </a:prstGeom>
          <a:noFill/>
          <a:ln/>
        </p:spPr>
        <p:txBody>
          <a:bodyPr wrap="square" lIns="25400" tIns="25400" rIns="25400" bIns="25400" rtlCol="0" anchor="t">
            <a:normAutofit/>
          </a:bodyPr>
          <a:lstStyle/>
          <a:p>
            <a:pPr marL="0" indent="0" algn="l">
              <a:buNone/>
            </a:pPr>
            <a:r>
              <a:rPr lang="en-US" sz="1500" dirty="0">
                <a:solidFill>
                  <a:srgbClr val="5D6B88"/>
                </a:solidFill>
                <a:latin typeface="Be Vietnam Pro" pitchFamily="34" charset="0"/>
                <a:ea typeface="Be Vietnam Pro" pitchFamily="34" charset="-122"/>
                <a:cs typeface="Be Vietnam Pro" pitchFamily="34" charset="-120"/>
              </a:rPr>
              <a:t>MC · TF · Fill</a:t>
            </a:r>
            <a:endParaRPr lang="en-US" sz="1500" dirty="0"/>
          </a:p>
        </p:txBody>
      </p:sp>
      <p:sp>
        <p:nvSpPr>
          <p:cNvPr id="9" name="Shape 7"/>
          <p:cNvSpPr/>
          <p:nvPr/>
        </p:nvSpPr>
        <p:spPr>
          <a:xfrm>
            <a:off x="1198202" y="3412764"/>
            <a:ext cx="4715416" cy="18942"/>
          </a:xfrm>
          <a:prstGeom prst="rect">
            <a:avLst/>
          </a:prstGeom>
          <a:solidFill>
            <a:srgbClr val="DBE3F5"/>
          </a:solidFill>
          <a:ln/>
        </p:spPr>
        <p:txBody>
          <a:bodyPr/>
          <a:lstStyle/>
          <a:p>
            <a:endParaRPr lang="en-US"/>
          </a:p>
        </p:txBody>
      </p:sp>
      <p:sp>
        <p:nvSpPr>
          <p:cNvPr id="10" name="Text 8"/>
          <p:cNvSpPr/>
          <p:nvPr/>
        </p:nvSpPr>
        <p:spPr>
          <a:xfrm>
            <a:off x="1198202" y="3641148"/>
            <a:ext cx="5186958" cy="401782"/>
          </a:xfrm>
          <a:prstGeom prst="rect">
            <a:avLst/>
          </a:prstGeom>
          <a:noFill/>
          <a:ln/>
        </p:spPr>
        <p:txBody>
          <a:bodyPr wrap="square" lIns="25400" tIns="25400" rIns="25400" bIns="25400" rtlCol="0" anchor="t">
            <a:normAutofit/>
          </a:bodyPr>
          <a:lstStyle/>
          <a:p>
            <a:pPr marL="0" indent="0" algn="l">
              <a:buNone/>
            </a:pPr>
            <a:r>
              <a:rPr lang="en-US" sz="2250" b="1" dirty="0">
                <a:solidFill>
                  <a:srgbClr val="0F2F7A"/>
                </a:solidFill>
                <a:latin typeface="Be Vietnam Pro" pitchFamily="34" charset="0"/>
                <a:ea typeface="Be Vietnam Pro" pitchFamily="34" charset="-122"/>
                <a:cs typeface="Be Vietnam Pro" pitchFamily="34" charset="-120"/>
              </a:rPr>
              <a:t>Chấm tất định</a:t>
            </a:r>
            <a:endParaRPr lang="en-US" sz="2250" dirty="0"/>
          </a:p>
        </p:txBody>
      </p:sp>
      <p:sp>
        <p:nvSpPr>
          <p:cNvPr id="11" name="Text 9"/>
          <p:cNvSpPr/>
          <p:nvPr/>
        </p:nvSpPr>
        <p:spPr>
          <a:xfrm>
            <a:off x="1198202" y="4119021"/>
            <a:ext cx="5186958"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Không cần LLM, cho kết quả tức thì.</a:t>
            </a:r>
            <a:endParaRPr lang="en-US" sz="1800" dirty="0"/>
          </a:p>
        </p:txBody>
      </p:sp>
      <p:sp>
        <p:nvSpPr>
          <p:cNvPr id="12" name="Shape 10"/>
          <p:cNvSpPr/>
          <p:nvPr/>
        </p:nvSpPr>
        <p:spPr>
          <a:xfrm>
            <a:off x="6464147" y="2330648"/>
            <a:ext cx="5359571" cy="6413680"/>
          </a:xfrm>
          <a:prstGeom prst="roundRect">
            <a:avLst>
              <a:gd name="adj" fmla="val 2844"/>
            </a:avLst>
          </a:prstGeom>
          <a:solidFill>
            <a:srgbClr val="EEF2FC"/>
          </a:solidFill>
          <a:ln w="17318">
            <a:solidFill>
              <a:srgbClr val="1D50C6"/>
            </a:solidFill>
            <a:prstDash val="solid"/>
          </a:ln>
        </p:spPr>
        <p:txBody>
          <a:bodyPr/>
          <a:lstStyle/>
          <a:p>
            <a:endParaRPr lang="en-US"/>
          </a:p>
        </p:txBody>
      </p:sp>
      <p:sp>
        <p:nvSpPr>
          <p:cNvPr id="13" name="Text 11"/>
          <p:cNvSpPr/>
          <p:nvPr/>
        </p:nvSpPr>
        <p:spPr>
          <a:xfrm>
            <a:off x="6786156" y="2671735"/>
            <a:ext cx="5187107" cy="289214"/>
          </a:xfrm>
          <a:prstGeom prst="rect">
            <a:avLst/>
          </a:prstGeom>
          <a:noFill/>
          <a:ln/>
        </p:spPr>
        <p:txBody>
          <a:bodyPr wrap="square" lIns="25400" tIns="25400" rIns="25400" bIns="25400" rtlCol="0" anchor="t">
            <a:normAutofit/>
          </a:bodyPr>
          <a:lstStyle/>
          <a:p>
            <a:pPr marL="0" indent="0" algn="l">
              <a:buNone/>
            </a:pPr>
            <a:r>
              <a:rPr lang="en-US" sz="1575" b="1" dirty="0">
                <a:solidFill>
                  <a:srgbClr val="1D50C6"/>
                </a:solidFill>
                <a:latin typeface="Be Vietnam Pro" pitchFamily="34" charset="0"/>
                <a:ea typeface="Be Vietnam Pro" pitchFamily="34" charset="-122"/>
                <a:cs typeface="Be Vietnam Pro" pitchFamily="34" charset="-120"/>
              </a:rPr>
              <a:t>Câu tự luận / coding</a:t>
            </a:r>
            <a:endParaRPr lang="en-US" sz="1575" dirty="0"/>
          </a:p>
        </p:txBody>
      </p:sp>
      <p:sp>
        <p:nvSpPr>
          <p:cNvPr id="14" name="Text 12"/>
          <p:cNvSpPr/>
          <p:nvPr/>
        </p:nvSpPr>
        <p:spPr>
          <a:xfrm>
            <a:off x="6786156" y="2960868"/>
            <a:ext cx="5187107" cy="280555"/>
          </a:xfrm>
          <a:prstGeom prst="rect">
            <a:avLst/>
          </a:prstGeom>
          <a:noFill/>
          <a:ln/>
        </p:spPr>
        <p:txBody>
          <a:bodyPr wrap="square" lIns="25400" tIns="25400" rIns="25400" bIns="25400" rtlCol="0" anchor="t">
            <a:normAutofit/>
          </a:bodyPr>
          <a:lstStyle/>
          <a:p>
            <a:pPr marL="0" indent="0" algn="l">
              <a:buNone/>
            </a:pPr>
            <a:r>
              <a:rPr lang="en-US" sz="1500" dirty="0">
                <a:solidFill>
                  <a:srgbClr val="5D6B88"/>
                </a:solidFill>
                <a:latin typeface="Be Vietnam Pro" pitchFamily="34" charset="0"/>
                <a:ea typeface="Be Vietnam Pro" pitchFamily="34" charset="-122"/>
                <a:cs typeface="Be Vietnam Pro" pitchFamily="34" charset="-120"/>
              </a:rPr>
              <a:t>Theory · Coding</a:t>
            </a:r>
            <a:endParaRPr lang="en-US" sz="1500" dirty="0"/>
          </a:p>
        </p:txBody>
      </p:sp>
      <p:sp>
        <p:nvSpPr>
          <p:cNvPr id="15" name="Shape 13"/>
          <p:cNvSpPr/>
          <p:nvPr/>
        </p:nvSpPr>
        <p:spPr>
          <a:xfrm>
            <a:off x="6786156" y="3412764"/>
            <a:ext cx="4715551" cy="18942"/>
          </a:xfrm>
          <a:prstGeom prst="rect">
            <a:avLst/>
          </a:prstGeom>
          <a:solidFill>
            <a:srgbClr val="DBE3F5"/>
          </a:solidFill>
          <a:ln/>
        </p:spPr>
        <p:txBody>
          <a:bodyPr/>
          <a:lstStyle/>
          <a:p>
            <a:endParaRPr lang="en-US"/>
          </a:p>
        </p:txBody>
      </p:sp>
      <p:sp>
        <p:nvSpPr>
          <p:cNvPr id="16" name="Text 14"/>
          <p:cNvSpPr/>
          <p:nvPr/>
        </p:nvSpPr>
        <p:spPr>
          <a:xfrm>
            <a:off x="6786156" y="3641148"/>
            <a:ext cx="5187107" cy="401782"/>
          </a:xfrm>
          <a:prstGeom prst="rect">
            <a:avLst/>
          </a:prstGeom>
          <a:noFill/>
          <a:ln/>
        </p:spPr>
        <p:txBody>
          <a:bodyPr wrap="square" lIns="25400" tIns="25400" rIns="25400" bIns="25400" rtlCol="0" anchor="t">
            <a:normAutofit/>
          </a:bodyPr>
          <a:lstStyle/>
          <a:p>
            <a:pPr marL="0" indent="0" algn="l">
              <a:buNone/>
            </a:pPr>
            <a:r>
              <a:rPr lang="en-US" sz="2250" b="1" dirty="0">
                <a:solidFill>
                  <a:srgbClr val="0F2F7A"/>
                </a:solidFill>
                <a:latin typeface="Be Vietnam Pro" pitchFamily="34" charset="0"/>
                <a:ea typeface="Be Vietnam Pro" pitchFamily="34" charset="-122"/>
                <a:cs typeface="Be Vietnam Pro" pitchFamily="34" charset="-120"/>
              </a:rPr>
              <a:t>Gemini 3.5 Flash</a:t>
            </a:r>
            <a:endParaRPr lang="en-US" sz="2250" dirty="0"/>
          </a:p>
        </p:txBody>
      </p:sp>
      <p:sp>
        <p:nvSpPr>
          <p:cNvPr id="17" name="Text 15"/>
          <p:cNvSpPr/>
          <p:nvPr/>
        </p:nvSpPr>
        <p:spPr>
          <a:xfrm>
            <a:off x="6786156" y="4119021"/>
            <a:ext cx="5187107"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Chấm theo </a:t>
            </a:r>
            <a:r>
              <a:rPr lang="en-US" sz="1800" b="1" dirty="0">
                <a:solidFill>
                  <a:srgbClr val="33405F"/>
                </a:solidFill>
                <a:latin typeface="Be Vietnam Pro" pitchFamily="34" charset="0"/>
                <a:ea typeface="Be Vietnam Pro" pitchFamily="34" charset="-122"/>
                <a:cs typeface="Be Vietnam Pro" pitchFamily="34" charset="-120"/>
              </a:rPr>
              <a:t>rubric + evaluation_points</a:t>
            </a:r>
            <a:r>
              <a:rPr lang="en-US" sz="1800" dirty="0">
                <a:solidFill>
                  <a:srgbClr val="33405F"/>
                </a:solidFill>
                <a:latin typeface="Be Vietnam Pro" pitchFamily="34" charset="0"/>
                <a:ea typeface="Be Vietnam Pro" pitchFamily="34" charset="-122"/>
                <a:cs typeface="Be Vietnam Pro" pitchFamily="34" charset="-120"/>
              </a:rPr>
              <a:t>.</a:t>
            </a:r>
            <a:endParaRPr lang="en-US" sz="1800" dirty="0"/>
          </a:p>
        </p:txBody>
      </p:sp>
      <p:sp>
        <p:nvSpPr>
          <p:cNvPr id="18" name="Shape 16"/>
          <p:cNvSpPr/>
          <p:nvPr/>
        </p:nvSpPr>
        <p:spPr>
          <a:xfrm>
            <a:off x="12052236" y="2330648"/>
            <a:ext cx="5359571" cy="6413680"/>
          </a:xfrm>
          <a:prstGeom prst="roundRect">
            <a:avLst>
              <a:gd name="adj" fmla="val 2844"/>
            </a:avLst>
          </a:prstGeom>
          <a:ln w="17318">
            <a:solidFill>
              <a:srgbClr val="DBE3F5"/>
            </a:solidFill>
            <a:prstDash val="solid"/>
          </a:ln>
        </p:spPr>
        <p:txBody>
          <a:bodyPr/>
          <a:lstStyle/>
          <a:p>
            <a:endParaRPr lang="en-US"/>
          </a:p>
        </p:txBody>
      </p:sp>
      <p:sp>
        <p:nvSpPr>
          <p:cNvPr id="19" name="Text 17"/>
          <p:cNvSpPr/>
          <p:nvPr/>
        </p:nvSpPr>
        <p:spPr>
          <a:xfrm>
            <a:off x="12374246" y="2671735"/>
            <a:ext cx="5187107" cy="289214"/>
          </a:xfrm>
          <a:prstGeom prst="rect">
            <a:avLst/>
          </a:prstGeom>
          <a:noFill/>
          <a:ln/>
        </p:spPr>
        <p:txBody>
          <a:bodyPr wrap="square" lIns="25400" tIns="25400" rIns="25400" bIns="25400" rtlCol="0" anchor="t">
            <a:normAutofit/>
          </a:bodyPr>
          <a:lstStyle/>
          <a:p>
            <a:pPr marL="0" indent="0" algn="l">
              <a:buNone/>
            </a:pPr>
            <a:r>
              <a:rPr lang="en-US" sz="1575" b="1" dirty="0">
                <a:solidFill>
                  <a:srgbClr val="1D50C6"/>
                </a:solidFill>
                <a:latin typeface="Be Vietnam Pro" pitchFamily="34" charset="0"/>
                <a:ea typeface="Be Vietnam Pro" pitchFamily="34" charset="-122"/>
                <a:cs typeface="Be Vietnam Pro" pitchFamily="34" charset="-120"/>
              </a:rPr>
              <a:t>Khi LLM lỗi</a:t>
            </a:r>
            <a:endParaRPr lang="en-US" sz="1575" dirty="0"/>
          </a:p>
        </p:txBody>
      </p:sp>
      <p:sp>
        <p:nvSpPr>
          <p:cNvPr id="20" name="Text 18"/>
          <p:cNvSpPr/>
          <p:nvPr/>
        </p:nvSpPr>
        <p:spPr>
          <a:xfrm>
            <a:off x="12374246" y="2960868"/>
            <a:ext cx="5187107" cy="280555"/>
          </a:xfrm>
          <a:prstGeom prst="rect">
            <a:avLst/>
          </a:prstGeom>
          <a:noFill/>
          <a:ln/>
        </p:spPr>
        <p:txBody>
          <a:bodyPr wrap="square" lIns="25400" tIns="25400" rIns="25400" bIns="25400" rtlCol="0" anchor="t">
            <a:normAutofit/>
          </a:bodyPr>
          <a:lstStyle/>
          <a:p>
            <a:pPr marL="0" indent="0" algn="l">
              <a:buNone/>
            </a:pPr>
            <a:r>
              <a:rPr lang="en-US" sz="1500" dirty="0">
                <a:solidFill>
                  <a:srgbClr val="5D6B88"/>
                </a:solidFill>
                <a:latin typeface="Be Vietnam Pro" pitchFamily="34" charset="0"/>
                <a:ea typeface="Be Vietnam Pro" pitchFamily="34" charset="-122"/>
                <a:cs typeface="Be Vietnam Pro" pitchFamily="34" charset="-120"/>
              </a:rPr>
              <a:t>Dự phòng</a:t>
            </a:r>
            <a:endParaRPr lang="en-US" sz="1500" dirty="0"/>
          </a:p>
        </p:txBody>
      </p:sp>
      <p:sp>
        <p:nvSpPr>
          <p:cNvPr id="21" name="Shape 19"/>
          <p:cNvSpPr/>
          <p:nvPr/>
        </p:nvSpPr>
        <p:spPr>
          <a:xfrm>
            <a:off x="12374246" y="3412764"/>
            <a:ext cx="4715551" cy="18942"/>
          </a:xfrm>
          <a:prstGeom prst="rect">
            <a:avLst/>
          </a:prstGeom>
          <a:solidFill>
            <a:srgbClr val="DBE3F5"/>
          </a:solidFill>
          <a:ln/>
        </p:spPr>
        <p:txBody>
          <a:bodyPr/>
          <a:lstStyle/>
          <a:p>
            <a:endParaRPr lang="en-US"/>
          </a:p>
        </p:txBody>
      </p:sp>
      <p:sp>
        <p:nvSpPr>
          <p:cNvPr id="22" name="Text 20"/>
          <p:cNvSpPr/>
          <p:nvPr/>
        </p:nvSpPr>
        <p:spPr>
          <a:xfrm>
            <a:off x="12374246" y="3641148"/>
            <a:ext cx="5187107" cy="401782"/>
          </a:xfrm>
          <a:prstGeom prst="rect">
            <a:avLst/>
          </a:prstGeom>
          <a:noFill/>
          <a:ln/>
        </p:spPr>
        <p:txBody>
          <a:bodyPr wrap="square" lIns="25400" tIns="25400" rIns="25400" bIns="25400" rtlCol="0" anchor="t">
            <a:normAutofit/>
          </a:bodyPr>
          <a:lstStyle/>
          <a:p>
            <a:pPr marL="0" indent="0" algn="l">
              <a:buNone/>
            </a:pPr>
            <a:r>
              <a:rPr lang="en-US" sz="2250" b="1" dirty="0">
                <a:solidFill>
                  <a:srgbClr val="0F2F7A"/>
                </a:solidFill>
                <a:latin typeface="Be Vietnam Pro" pitchFamily="34" charset="0"/>
                <a:ea typeface="Be Vietnam Pro" pitchFamily="34" charset="-122"/>
                <a:cs typeface="Be Vietnam Pro" pitchFamily="34" charset="-120"/>
              </a:rPr>
              <a:t>Local rubric</a:t>
            </a:r>
            <a:endParaRPr lang="en-US" sz="2250" dirty="0"/>
          </a:p>
        </p:txBody>
      </p:sp>
      <p:sp>
        <p:nvSpPr>
          <p:cNvPr id="23" name="Text 21"/>
          <p:cNvSpPr/>
          <p:nvPr/>
        </p:nvSpPr>
        <p:spPr>
          <a:xfrm>
            <a:off x="12374246" y="4119021"/>
            <a:ext cx="4857018" cy="67833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Eval_point </a:t>
            </a:r>
            <a:r>
              <a:rPr lang="en-US" sz="1800" b="1" dirty="0">
                <a:solidFill>
                  <a:srgbClr val="33405F"/>
                </a:solidFill>
                <a:latin typeface="Be Vietnam Pro" pitchFamily="34" charset="0"/>
                <a:ea typeface="Be Vietnam Pro" pitchFamily="34" charset="-122"/>
                <a:cs typeface="Be Vietnam Pro" pitchFamily="34" charset="-120"/>
              </a:rPr>
              <a:t>đạt </a:t>
            </a:r>
            <a:r>
              <a:rPr lang="en-US" sz="1800" dirty="0">
                <a:solidFill>
                  <a:srgbClr val="33405F"/>
                </a:solidFill>
                <a:latin typeface="Be Vietnam Pro" pitchFamily="34" charset="0"/>
                <a:ea typeface="Be Vietnam Pro" pitchFamily="34" charset="-122"/>
                <a:cs typeface="Be Vietnam Pro" pitchFamily="34" charset="-120"/>
              </a:rPr>
              <a:t>khi ≥ 50% từ khóa xuất hiện.</a:t>
            </a:r>
            <a:endParaRPr lang="en-US" sz="1800" dirty="0"/>
          </a:p>
        </p:txBody>
      </p:sp>
      <p:sp>
        <p:nvSpPr>
          <p:cNvPr id="24" name="Shape 22"/>
          <p:cNvSpPr/>
          <p:nvPr/>
        </p:nvSpPr>
        <p:spPr>
          <a:xfrm>
            <a:off x="876192" y="8972847"/>
            <a:ext cx="16535616" cy="704634"/>
          </a:xfrm>
          <a:prstGeom prst="roundRect">
            <a:avLst>
              <a:gd name="adj" fmla="val 16221"/>
            </a:avLst>
          </a:prstGeom>
          <a:solidFill>
            <a:srgbClr val="F7F5EF"/>
          </a:solidFill>
          <a:ln/>
        </p:spPr>
        <p:txBody>
          <a:bodyPr/>
          <a:lstStyle/>
          <a:p>
            <a:endParaRPr lang="en-US"/>
          </a:p>
        </p:txBody>
      </p:sp>
      <p:sp>
        <p:nvSpPr>
          <p:cNvPr id="25" name="Text 23"/>
          <p:cNvSpPr/>
          <p:nvPr/>
        </p:nvSpPr>
        <p:spPr>
          <a:xfrm>
            <a:off x="1161942" y="9182397"/>
            <a:ext cx="16460185" cy="323634"/>
          </a:xfrm>
          <a:prstGeom prst="rect">
            <a:avLst/>
          </a:prstGeom>
          <a:noFill/>
          <a:ln/>
        </p:spPr>
        <p:txBody>
          <a:bodyPr wrap="square" lIns="25400" tIns="25400" rIns="25400" bIns="25400" rtlCol="0" anchor="t">
            <a:normAutofit/>
          </a:bodyPr>
          <a:lstStyle/>
          <a:p>
            <a:pPr marL="0" indent="0" algn="l">
              <a:buNone/>
            </a:pPr>
            <a:r>
              <a:rPr lang="en-US" sz="1800" dirty="0">
                <a:solidFill>
                  <a:srgbClr val="33405F"/>
                </a:solidFill>
                <a:highlight>
                  <a:srgbClr val="F7F5EF"/>
                </a:highlight>
                <a:latin typeface="Be Vietnam Pro" pitchFamily="34" charset="0"/>
                <a:ea typeface="Be Vietnam Pro" pitchFamily="34" charset="-122"/>
                <a:cs typeface="Be Vietnam Pro" pitchFamily="34" charset="-120"/>
              </a:rPr>
              <a:t>Lỗi LLM được trả kèm </a:t>
            </a:r>
            <a:r>
              <a:rPr lang="en-US" sz="1800" b="1" dirty="0">
                <a:solidFill>
                  <a:srgbClr val="0F2F7A"/>
                </a:solidFill>
                <a:latin typeface="Be Vietnam Pro" pitchFamily="34" charset="0"/>
                <a:ea typeface="Be Vietnam Pro" pitchFamily="34" charset="-122"/>
                <a:cs typeface="Be Vietnam Pro" pitchFamily="34" charset="-120"/>
              </a:rPr>
              <a:t>gemini_error </a:t>
            </a:r>
            <a:r>
              <a:rPr lang="en-US" sz="1800" dirty="0">
                <a:solidFill>
                  <a:srgbClr val="33405F"/>
                </a:solidFill>
                <a:highlight>
                  <a:srgbClr val="F7F5EF"/>
                </a:highlight>
                <a:latin typeface="Be Vietnam Pro" pitchFamily="34" charset="0"/>
                <a:ea typeface="Be Vietnam Pro" pitchFamily="34" charset="-122"/>
                <a:cs typeface="Be Vietnam Pro" pitchFamily="34" charset="-120"/>
              </a:rPr>
              <a:t>để phục vụ chẩn đoán.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384947"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TRÌNH BÀY TRỰC TIẾP</a:t>
            </a:r>
            <a:endParaRPr lang="en-US" sz="1800" dirty="0"/>
          </a:p>
        </p:txBody>
      </p:sp>
      <p:sp>
        <p:nvSpPr>
          <p:cNvPr id="4" name="Text 2"/>
          <p:cNvSpPr/>
          <p:nvPr/>
        </p:nvSpPr>
        <p:spPr>
          <a:xfrm>
            <a:off x="16439960" y="704769"/>
            <a:ext cx="1048048"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18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Demo ứng dụng web</a:t>
            </a:r>
            <a:endParaRPr lang="en-US" sz="4350" dirty="0"/>
          </a:p>
        </p:txBody>
      </p:sp>
      <p:sp>
        <p:nvSpPr>
          <p:cNvPr id="6" name="Shape 4"/>
          <p:cNvSpPr/>
          <p:nvPr/>
        </p:nvSpPr>
        <p:spPr>
          <a:xfrm>
            <a:off x="876192" y="2330648"/>
            <a:ext cx="1738177" cy="543629"/>
          </a:xfrm>
          <a:prstGeom prst="roundRect">
            <a:avLst>
              <a:gd name="adj" fmla="val 17521"/>
            </a:avLst>
          </a:prstGeom>
          <a:solidFill>
            <a:srgbClr val="1D50C6"/>
          </a:solidFill>
          <a:ln/>
        </p:spPr>
        <p:txBody>
          <a:bodyPr/>
          <a:lstStyle/>
          <a:p>
            <a:endParaRPr lang="en-US"/>
          </a:p>
        </p:txBody>
      </p:sp>
      <p:sp>
        <p:nvSpPr>
          <p:cNvPr id="7" name="Text 5"/>
          <p:cNvSpPr/>
          <p:nvPr/>
        </p:nvSpPr>
        <p:spPr>
          <a:xfrm>
            <a:off x="1085742" y="2463998"/>
            <a:ext cx="1395277"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Be Vietnam Pro" pitchFamily="34" charset="0"/>
                <a:ea typeface="Be Vietnam Pro" pitchFamily="34" charset="-122"/>
                <a:cs typeface="Be Vietnam Pro" pitchFamily="34" charset="-120"/>
              </a:rPr>
              <a:t>Onboarding</a:t>
            </a:r>
            <a:endParaRPr lang="en-US" sz="1725" dirty="0"/>
          </a:p>
        </p:txBody>
      </p:sp>
      <p:sp>
        <p:nvSpPr>
          <p:cNvPr id="8" name="Text 6"/>
          <p:cNvSpPr/>
          <p:nvPr/>
        </p:nvSpPr>
        <p:spPr>
          <a:xfrm>
            <a:off x="2728560" y="2442270"/>
            <a:ext cx="323931" cy="358486"/>
          </a:xfrm>
          <a:prstGeom prst="rect">
            <a:avLst/>
          </a:prstGeom>
          <a:noFill/>
          <a:ln/>
        </p:spPr>
        <p:txBody>
          <a:bodyPr wrap="square" lIns="25400" tIns="25400" rIns="25400" bIns="25400" rtlCol="0" anchor="t">
            <a:normAutofit/>
          </a:bodyPr>
          <a:lstStyle/>
          <a:p>
            <a:pPr marL="0" indent="0" algn="l">
              <a:buNone/>
            </a:pPr>
            <a:r>
              <a:rPr lang="en-US" sz="1950" dirty="0">
                <a:solidFill>
                  <a:srgbClr val="1D50C6"/>
                </a:solidFill>
                <a:latin typeface="Be Vietnam Pro" pitchFamily="34" charset="0"/>
                <a:ea typeface="Be Vietnam Pro" pitchFamily="34" charset="-122"/>
                <a:cs typeface="Be Vietnam Pro" pitchFamily="34" charset="-120"/>
              </a:rPr>
              <a:t>→</a:t>
            </a:r>
            <a:endParaRPr lang="en-US" sz="1950" dirty="0"/>
          </a:p>
        </p:txBody>
      </p:sp>
      <p:sp>
        <p:nvSpPr>
          <p:cNvPr id="9" name="Shape 7"/>
          <p:cNvSpPr/>
          <p:nvPr/>
        </p:nvSpPr>
        <p:spPr>
          <a:xfrm>
            <a:off x="3090483" y="2330648"/>
            <a:ext cx="2361226" cy="543629"/>
          </a:xfrm>
          <a:prstGeom prst="roundRect">
            <a:avLst>
              <a:gd name="adj" fmla="val 17521"/>
            </a:avLst>
          </a:prstGeom>
          <a:solidFill>
            <a:srgbClr val="1D50C6"/>
          </a:solidFill>
          <a:ln/>
        </p:spPr>
        <p:txBody>
          <a:bodyPr/>
          <a:lstStyle/>
          <a:p>
            <a:endParaRPr lang="en-US"/>
          </a:p>
        </p:txBody>
      </p:sp>
      <p:sp>
        <p:nvSpPr>
          <p:cNvPr id="10" name="Text 8"/>
          <p:cNvSpPr/>
          <p:nvPr/>
        </p:nvSpPr>
        <p:spPr>
          <a:xfrm>
            <a:off x="3300033" y="2463998"/>
            <a:ext cx="2018326"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Be Vietnam Pro" pitchFamily="34" charset="0"/>
                <a:ea typeface="Be Vietnam Pro" pitchFamily="34" charset="-122"/>
                <a:cs typeface="Be Vietnam Pro" pitchFamily="34" charset="-120"/>
              </a:rPr>
              <a:t>Diagnostic (MST)</a:t>
            </a:r>
            <a:endParaRPr lang="en-US" sz="1725" dirty="0"/>
          </a:p>
        </p:txBody>
      </p:sp>
      <p:sp>
        <p:nvSpPr>
          <p:cNvPr id="11" name="Text 9"/>
          <p:cNvSpPr/>
          <p:nvPr/>
        </p:nvSpPr>
        <p:spPr>
          <a:xfrm>
            <a:off x="5565901" y="2442270"/>
            <a:ext cx="323931" cy="358486"/>
          </a:xfrm>
          <a:prstGeom prst="rect">
            <a:avLst/>
          </a:prstGeom>
          <a:noFill/>
          <a:ln/>
        </p:spPr>
        <p:txBody>
          <a:bodyPr wrap="square" lIns="25400" tIns="25400" rIns="25400" bIns="25400" rtlCol="0" anchor="t">
            <a:normAutofit/>
          </a:bodyPr>
          <a:lstStyle/>
          <a:p>
            <a:pPr marL="0" indent="0" algn="l">
              <a:buNone/>
            </a:pPr>
            <a:r>
              <a:rPr lang="en-US" sz="1950" dirty="0">
                <a:solidFill>
                  <a:srgbClr val="1D50C6"/>
                </a:solidFill>
                <a:latin typeface="Be Vietnam Pro" pitchFamily="34" charset="0"/>
                <a:ea typeface="Be Vietnam Pro" pitchFamily="34" charset="-122"/>
                <a:cs typeface="Be Vietnam Pro" pitchFamily="34" charset="-120"/>
              </a:rPr>
              <a:t>→</a:t>
            </a:r>
            <a:endParaRPr lang="en-US" sz="1950" dirty="0"/>
          </a:p>
        </p:txBody>
      </p:sp>
      <p:sp>
        <p:nvSpPr>
          <p:cNvPr id="12" name="Shape 10"/>
          <p:cNvSpPr/>
          <p:nvPr/>
        </p:nvSpPr>
        <p:spPr>
          <a:xfrm>
            <a:off x="5927824" y="2330648"/>
            <a:ext cx="1661328" cy="543629"/>
          </a:xfrm>
          <a:prstGeom prst="roundRect">
            <a:avLst>
              <a:gd name="adj" fmla="val 17521"/>
            </a:avLst>
          </a:prstGeom>
          <a:solidFill>
            <a:srgbClr val="1D50C6"/>
          </a:solidFill>
          <a:ln/>
        </p:spPr>
        <p:txBody>
          <a:bodyPr/>
          <a:lstStyle/>
          <a:p>
            <a:endParaRPr lang="en-US"/>
          </a:p>
        </p:txBody>
      </p:sp>
      <p:sp>
        <p:nvSpPr>
          <p:cNvPr id="13" name="Text 11"/>
          <p:cNvSpPr/>
          <p:nvPr/>
        </p:nvSpPr>
        <p:spPr>
          <a:xfrm>
            <a:off x="6137374" y="2463998"/>
            <a:ext cx="1318428"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Be Vietnam Pro" pitchFamily="34" charset="0"/>
                <a:ea typeface="Be Vietnam Pro" pitchFamily="34" charset="-122"/>
                <a:cs typeface="Be Vietnam Pro" pitchFamily="34" charset="-120"/>
              </a:rPr>
              <a:t>Chấm điểm</a:t>
            </a:r>
            <a:endParaRPr lang="en-US" sz="1725" dirty="0"/>
          </a:p>
        </p:txBody>
      </p:sp>
      <p:sp>
        <p:nvSpPr>
          <p:cNvPr id="14" name="Text 12"/>
          <p:cNvSpPr/>
          <p:nvPr/>
        </p:nvSpPr>
        <p:spPr>
          <a:xfrm>
            <a:off x="7703344" y="2442270"/>
            <a:ext cx="323931" cy="358486"/>
          </a:xfrm>
          <a:prstGeom prst="rect">
            <a:avLst/>
          </a:prstGeom>
          <a:noFill/>
          <a:ln/>
        </p:spPr>
        <p:txBody>
          <a:bodyPr wrap="square" lIns="25400" tIns="25400" rIns="25400" bIns="25400" rtlCol="0" anchor="t">
            <a:normAutofit/>
          </a:bodyPr>
          <a:lstStyle/>
          <a:p>
            <a:pPr marL="0" indent="0" algn="l">
              <a:buNone/>
            </a:pPr>
            <a:r>
              <a:rPr lang="en-US" sz="1950" dirty="0">
                <a:solidFill>
                  <a:srgbClr val="1D50C6"/>
                </a:solidFill>
                <a:latin typeface="Be Vietnam Pro" pitchFamily="34" charset="0"/>
                <a:ea typeface="Be Vietnam Pro" pitchFamily="34" charset="-122"/>
                <a:cs typeface="Be Vietnam Pro" pitchFamily="34" charset="-120"/>
              </a:rPr>
              <a:t>→</a:t>
            </a:r>
            <a:endParaRPr lang="en-US" sz="1950" dirty="0"/>
          </a:p>
        </p:txBody>
      </p:sp>
      <p:sp>
        <p:nvSpPr>
          <p:cNvPr id="15" name="Shape 13"/>
          <p:cNvSpPr/>
          <p:nvPr/>
        </p:nvSpPr>
        <p:spPr>
          <a:xfrm>
            <a:off x="876192" y="2988469"/>
            <a:ext cx="2216457" cy="543629"/>
          </a:xfrm>
          <a:prstGeom prst="roundRect">
            <a:avLst>
              <a:gd name="adj" fmla="val 17521"/>
            </a:avLst>
          </a:prstGeom>
          <a:solidFill>
            <a:srgbClr val="1D50C6"/>
          </a:solidFill>
          <a:ln/>
        </p:spPr>
        <p:txBody>
          <a:bodyPr/>
          <a:lstStyle/>
          <a:p>
            <a:endParaRPr lang="en-US"/>
          </a:p>
        </p:txBody>
      </p:sp>
      <p:sp>
        <p:nvSpPr>
          <p:cNvPr id="16" name="Text 14"/>
          <p:cNvSpPr/>
          <p:nvPr/>
        </p:nvSpPr>
        <p:spPr>
          <a:xfrm>
            <a:off x="1085742" y="3121819"/>
            <a:ext cx="1873557" cy="315029"/>
          </a:xfrm>
          <a:prstGeom prst="rect">
            <a:avLst/>
          </a:prstGeom>
          <a:noFill/>
          <a:ln/>
        </p:spPr>
        <p:txBody>
          <a:bodyPr wrap="square" lIns="25400" tIns="25400" rIns="25400" bIns="25400" rtlCol="0" anchor="t">
            <a:normAutofit/>
          </a:bodyPr>
          <a:lstStyle/>
          <a:p>
            <a:pPr marL="0" indent="0" algn="l">
              <a:buNone/>
            </a:pPr>
            <a:r>
              <a:rPr lang="en-US" sz="1725" b="1" dirty="0">
                <a:solidFill>
                  <a:srgbClr val="FFFFFF"/>
                </a:solidFill>
                <a:latin typeface="Be Vietnam Pro" pitchFamily="34" charset="0"/>
                <a:ea typeface="Be Vietnam Pro" pitchFamily="34" charset="-122"/>
                <a:cs typeface="Be Vietnam Pro" pitchFamily="34" charset="-120"/>
              </a:rPr>
              <a:t>Cập nhật vector</a:t>
            </a:r>
            <a:endParaRPr lang="en-US" sz="1725" dirty="0"/>
          </a:p>
        </p:txBody>
      </p:sp>
      <p:sp>
        <p:nvSpPr>
          <p:cNvPr id="17" name="Shape 15"/>
          <p:cNvSpPr/>
          <p:nvPr/>
        </p:nvSpPr>
        <p:spPr>
          <a:xfrm>
            <a:off x="876192" y="3741539"/>
            <a:ext cx="7275666" cy="1222285"/>
          </a:xfrm>
          <a:prstGeom prst="roundRect">
            <a:avLst>
              <a:gd name="adj" fmla="val 10910"/>
            </a:avLst>
          </a:prstGeom>
          <a:ln w="17318">
            <a:solidFill>
              <a:srgbClr val="DBE3F5"/>
            </a:solidFill>
            <a:prstDash val="solid"/>
          </a:ln>
        </p:spPr>
        <p:txBody>
          <a:bodyPr/>
          <a:lstStyle/>
          <a:p>
            <a:endParaRPr lang="en-US"/>
          </a:p>
        </p:txBody>
      </p:sp>
      <p:sp>
        <p:nvSpPr>
          <p:cNvPr id="18" name="Text 16"/>
          <p:cNvSpPr/>
          <p:nvPr/>
        </p:nvSpPr>
        <p:spPr>
          <a:xfrm>
            <a:off x="1179260" y="4006453"/>
            <a:ext cx="7336482" cy="315191"/>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Dashboard</a:t>
            </a:r>
            <a:endParaRPr lang="en-US" sz="1725" dirty="0"/>
          </a:p>
        </p:txBody>
      </p:sp>
      <p:sp>
        <p:nvSpPr>
          <p:cNvPr id="19" name="Text 17"/>
          <p:cNvSpPr/>
          <p:nvPr/>
        </p:nvSpPr>
        <p:spPr>
          <a:xfrm>
            <a:off x="1179260" y="4378794"/>
            <a:ext cx="7336482" cy="358216"/>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Radar </a:t>
            </a:r>
            <a:r>
              <a:rPr lang="en-US" sz="1800" b="1" dirty="0">
                <a:solidFill>
                  <a:srgbClr val="33405F"/>
                </a:solidFill>
                <a:latin typeface="Be Vietnam Pro" pitchFamily="34" charset="0"/>
                <a:ea typeface="Be Vietnam Pro" pitchFamily="34" charset="-122"/>
                <a:cs typeface="Be Vietnam Pro" pitchFamily="34" charset="-120"/>
              </a:rPr>
              <a:t>current vs target </a:t>
            </a:r>
            <a:r>
              <a:rPr lang="en-US" sz="1800" dirty="0">
                <a:solidFill>
                  <a:srgbClr val="33405F"/>
                </a:solidFill>
                <a:latin typeface="Be Vietnam Pro" pitchFamily="34" charset="0"/>
                <a:ea typeface="Be Vietnam Pro" pitchFamily="34" charset="-122"/>
                <a:cs typeface="Be Vietnam Pro" pitchFamily="34" charset="-120"/>
              </a:rPr>
              <a:t>+ bảng </a:t>
            </a:r>
            <a:r>
              <a:rPr lang="en-US" sz="1800" b="1" dirty="0">
                <a:solidFill>
                  <a:srgbClr val="33405F"/>
                </a:solidFill>
                <a:latin typeface="Be Vietnam Pro" pitchFamily="34" charset="0"/>
                <a:ea typeface="Be Vietnam Pro" pitchFamily="34" charset="-122"/>
                <a:cs typeface="Be Vietnam Pro" pitchFamily="34" charset="-120"/>
              </a:rPr>
              <a:t>Top Gaps</a:t>
            </a:r>
            <a:r>
              <a:rPr lang="en-US" sz="1800" dirty="0">
                <a:solidFill>
                  <a:srgbClr val="33405F"/>
                </a:solidFill>
                <a:latin typeface="Be Vietnam Pro" pitchFamily="34" charset="0"/>
                <a:ea typeface="Be Vietnam Pro" pitchFamily="34" charset="-122"/>
                <a:cs typeface="Be Vietnam Pro" pitchFamily="34" charset="-120"/>
              </a:rPr>
              <a:t>.</a:t>
            </a:r>
            <a:endParaRPr lang="en-US" sz="1800" dirty="0"/>
          </a:p>
        </p:txBody>
      </p:sp>
      <p:sp>
        <p:nvSpPr>
          <p:cNvPr id="20" name="Shape 18"/>
          <p:cNvSpPr/>
          <p:nvPr/>
        </p:nvSpPr>
        <p:spPr>
          <a:xfrm>
            <a:off x="876192" y="5173266"/>
            <a:ext cx="7275666" cy="1542400"/>
          </a:xfrm>
          <a:prstGeom prst="roundRect">
            <a:avLst>
              <a:gd name="adj" fmla="val 8646"/>
            </a:avLst>
          </a:prstGeom>
          <a:ln w="17318">
            <a:solidFill>
              <a:srgbClr val="DBE3F5"/>
            </a:solidFill>
            <a:prstDash val="solid"/>
          </a:ln>
        </p:spPr>
        <p:txBody>
          <a:bodyPr/>
          <a:lstStyle/>
          <a:p>
            <a:endParaRPr lang="en-US"/>
          </a:p>
        </p:txBody>
      </p:sp>
      <p:sp>
        <p:nvSpPr>
          <p:cNvPr id="21" name="Text 19"/>
          <p:cNvSpPr/>
          <p:nvPr/>
        </p:nvSpPr>
        <p:spPr>
          <a:xfrm>
            <a:off x="1179260" y="5438180"/>
            <a:ext cx="7336482" cy="315191"/>
          </a:xfrm>
          <a:prstGeom prst="rect">
            <a:avLst/>
          </a:prstGeom>
          <a:noFill/>
          <a:ln/>
        </p:spPr>
        <p:txBody>
          <a:bodyPr wrap="square" lIns="25400" tIns="25400" rIns="25400" bIns="25400" rtlCol="0" anchor="t">
            <a:normAutofit/>
          </a:bodyPr>
          <a:lstStyle/>
          <a:p>
            <a:pPr marL="0" indent="0" algn="l">
              <a:buNone/>
            </a:pPr>
            <a:r>
              <a:rPr lang="en-US" sz="1725" b="1" dirty="0">
                <a:solidFill>
                  <a:srgbClr val="0F2F7A"/>
                </a:solidFill>
                <a:latin typeface="Be Vietnam Pro" pitchFamily="34" charset="0"/>
                <a:ea typeface="Be Vietnam Pro" pitchFamily="34" charset="-122"/>
                <a:cs typeface="Be Vietnam Pro" pitchFamily="34" charset="-120"/>
              </a:rPr>
              <a:t>KT Model</a:t>
            </a:r>
            <a:endParaRPr lang="en-US" sz="1725" dirty="0"/>
          </a:p>
        </p:txBody>
      </p:sp>
      <p:sp>
        <p:nvSpPr>
          <p:cNvPr id="22" name="Text 20"/>
          <p:cNvSpPr/>
          <p:nvPr/>
        </p:nvSpPr>
        <p:spPr>
          <a:xfrm>
            <a:off x="1179260" y="5810520"/>
            <a:ext cx="6869615" cy="678331"/>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33405F"/>
                </a:solidFill>
                <a:latin typeface="Be Vietnam Pro" pitchFamily="34" charset="0"/>
                <a:ea typeface="Be Vietnam Pro" pitchFamily="34" charset="-122"/>
                <a:cs typeface="Be Vietnam Pro" pitchFamily="34" charset="-120"/>
              </a:rPr>
              <a:t>Pipeline </a:t>
            </a:r>
            <a:r>
              <a:rPr lang="en-US" sz="1800" b="1" dirty="0">
                <a:solidFill>
                  <a:srgbClr val="33405F"/>
                </a:solidFill>
                <a:latin typeface="Be Vietnam Pro" pitchFamily="34" charset="0"/>
                <a:ea typeface="Be Vietnam Pro" pitchFamily="34" charset="-122"/>
                <a:cs typeface="Be Vietnam Pro" pitchFamily="34" charset="-120"/>
              </a:rPr>
              <a:t>EMA → DKT → Blend </a:t>
            </a:r>
            <a:r>
              <a:rPr lang="en-US" sz="1800" dirty="0">
                <a:solidFill>
                  <a:srgbClr val="33405F"/>
                </a:solidFill>
                <a:latin typeface="Be Vietnam Pro" pitchFamily="34" charset="0"/>
                <a:ea typeface="Be Vietnam Pro" pitchFamily="34" charset="-122"/>
                <a:cs typeface="Be Vietnam Pro" pitchFamily="34" charset="-120"/>
              </a:rPr>
              <a:t>; radar đồng bộ với Dashboard.</a:t>
            </a:r>
            <a:endParaRPr lang="en-US" sz="1800" dirty="0"/>
          </a:p>
        </p:txBody>
      </p:sp>
      <p:sp>
        <p:nvSpPr>
          <p:cNvPr id="23" name="Shape 21"/>
          <p:cNvSpPr/>
          <p:nvPr/>
        </p:nvSpPr>
        <p:spPr>
          <a:xfrm>
            <a:off x="8532857" y="2330648"/>
            <a:ext cx="8878950" cy="7346832"/>
          </a:xfrm>
          <a:prstGeom prst="roundRect">
            <a:avLst>
              <a:gd name="adj" fmla="val 1815"/>
            </a:avLst>
          </a:prstGeom>
          <a:solidFill>
            <a:srgbClr val="EEF2FC"/>
          </a:solidFill>
          <a:ln w="17318">
            <a:solidFill>
              <a:srgbClr val="1D50C6"/>
            </a:solidFill>
            <a:prstDash val="dash"/>
          </a:ln>
        </p:spPr>
        <p:txBody>
          <a:bodyPr/>
          <a:lstStyle/>
          <a:p>
            <a:endParaRPr lang="en-US"/>
          </a:p>
        </p:txBody>
      </p:sp>
      <p:sp>
        <p:nvSpPr>
          <p:cNvPr id="24" name="Text 22"/>
          <p:cNvSpPr/>
          <p:nvPr/>
        </p:nvSpPr>
        <p:spPr>
          <a:xfrm>
            <a:off x="11909902" y="5647351"/>
            <a:ext cx="2337197" cy="375805"/>
          </a:xfrm>
          <a:prstGeom prst="rect">
            <a:avLst/>
          </a:prstGeom>
          <a:noFill/>
          <a:ln/>
        </p:spPr>
        <p:txBody>
          <a:bodyPr wrap="square" lIns="25400" tIns="25400" rIns="25400" bIns="25400" rtlCol="0" anchor="t">
            <a:normAutofit/>
          </a:bodyPr>
          <a:lstStyle/>
          <a:p>
            <a:pPr marL="0" indent="0" algn="l">
              <a:buNone/>
            </a:pPr>
            <a:r>
              <a:rPr lang="en-US" sz="1950" b="1" dirty="0">
                <a:solidFill>
                  <a:srgbClr val="0F2F7A"/>
                </a:solidFill>
                <a:latin typeface="Be Vietnam Pro" pitchFamily="34" charset="0"/>
                <a:ea typeface="Be Vietnam Pro" pitchFamily="34" charset="-122"/>
                <a:cs typeface="Be Vietnam Pro" pitchFamily="34" charset="-120"/>
              </a:rPr>
              <a:t>▶ Demo trực tiếp</a:t>
            </a:r>
            <a:endParaRPr lang="en-US" sz="1950" dirty="0"/>
          </a:p>
        </p:txBody>
      </p:sp>
      <p:sp>
        <p:nvSpPr>
          <p:cNvPr id="25" name="Text 23"/>
          <p:cNvSpPr/>
          <p:nvPr/>
        </p:nvSpPr>
        <p:spPr>
          <a:xfrm>
            <a:off x="11666637" y="6118324"/>
            <a:ext cx="2872383" cy="280555"/>
          </a:xfrm>
          <a:prstGeom prst="rect">
            <a:avLst/>
          </a:prstGeom>
          <a:noFill/>
          <a:ln/>
        </p:spPr>
        <p:txBody>
          <a:bodyPr wrap="square" lIns="25400" tIns="25400" rIns="25400" bIns="25400" rtlCol="0" anchor="t">
            <a:normAutofit/>
          </a:bodyPr>
          <a:lstStyle/>
          <a:p>
            <a:pPr marL="0" indent="0" algn="l">
              <a:buNone/>
            </a:pPr>
            <a:r>
              <a:rPr lang="en-US" sz="1500" b="1" kern="0" spc="30" dirty="0">
                <a:solidFill>
                  <a:srgbClr val="5D6B88"/>
                </a:solidFill>
                <a:latin typeface="Be Vietnam Pro" pitchFamily="34" charset="0"/>
                <a:ea typeface="Be Vietnam Pro" pitchFamily="34" charset="-122"/>
                <a:cs typeface="Be Vietnam Pro" pitchFamily="34" charset="-120"/>
              </a:rPr>
              <a:t>ảnh chụp / video dự phòng</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6192" y="1161942"/>
            <a:ext cx="16535616" cy="17318"/>
          </a:xfrm>
          <a:prstGeom prst="rect">
            <a:avLst/>
          </a:prstGeom>
          <a:solidFill>
            <a:srgbClr val="DBE3F5"/>
          </a:solidFill>
          <a:ln/>
        </p:spPr>
        <p:txBody>
          <a:bodyPr/>
          <a:lstStyle/>
          <a:p>
            <a:endParaRPr lang="en-US"/>
          </a:p>
        </p:txBody>
      </p:sp>
      <p:sp>
        <p:nvSpPr>
          <p:cNvPr id="3" name="Text 1"/>
          <p:cNvSpPr/>
          <p:nvPr/>
        </p:nvSpPr>
        <p:spPr>
          <a:xfrm>
            <a:off x="876192" y="704769"/>
            <a:ext cx="3197126"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1D50C6"/>
                </a:solidFill>
                <a:latin typeface="Be Vietnam Pro" pitchFamily="34" charset="0"/>
                <a:ea typeface="Be Vietnam Pro" pitchFamily="34" charset="-122"/>
                <a:cs typeface="Be Vietnam Pro" pitchFamily="34" charset="-120"/>
              </a:rPr>
              <a:t>ĐÁNH GIÁ TỔNG KẾT</a:t>
            </a:r>
            <a:endParaRPr lang="en-US" sz="1800" dirty="0"/>
          </a:p>
        </p:txBody>
      </p:sp>
      <p:sp>
        <p:nvSpPr>
          <p:cNvPr id="4" name="Text 2"/>
          <p:cNvSpPr/>
          <p:nvPr/>
        </p:nvSpPr>
        <p:spPr>
          <a:xfrm>
            <a:off x="16431437" y="704769"/>
            <a:ext cx="1056571" cy="323850"/>
          </a:xfrm>
          <a:prstGeom prst="rect">
            <a:avLst/>
          </a:prstGeom>
          <a:noFill/>
          <a:ln/>
        </p:spPr>
        <p:txBody>
          <a:bodyPr wrap="square" lIns="25400" tIns="25400" rIns="25400" bIns="25400" rtlCol="0" anchor="t">
            <a:normAutofit/>
          </a:bodyPr>
          <a:lstStyle/>
          <a:p>
            <a:pPr marL="0" indent="0" algn="l">
              <a:buNone/>
            </a:pPr>
            <a:r>
              <a:rPr lang="en-US" sz="1800" b="1" kern="0" spc="216" dirty="0">
                <a:solidFill>
                  <a:srgbClr val="AAB4CC"/>
                </a:solidFill>
                <a:latin typeface="Be Vietnam Pro" pitchFamily="34" charset="0"/>
                <a:ea typeface="Be Vietnam Pro" pitchFamily="34" charset="-122"/>
                <a:cs typeface="Be Vietnam Pro" pitchFamily="34" charset="-120"/>
              </a:rPr>
              <a:t>19 / 20</a:t>
            </a:r>
            <a:endParaRPr lang="en-US" sz="1800" dirty="0"/>
          </a:p>
        </p:txBody>
      </p:sp>
      <p:sp>
        <p:nvSpPr>
          <p:cNvPr id="5" name="Text 3"/>
          <p:cNvSpPr/>
          <p:nvPr/>
        </p:nvSpPr>
        <p:spPr>
          <a:xfrm>
            <a:off x="876192" y="1445933"/>
            <a:ext cx="18189178"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16223D"/>
                </a:solidFill>
                <a:latin typeface="Be Vietnam Pro" pitchFamily="34" charset="0"/>
                <a:ea typeface="Be Vietnam Pro" pitchFamily="34" charset="-122"/>
                <a:cs typeface="Be Vietnam Pro" pitchFamily="34" charset="-120"/>
              </a:rPr>
              <a:t>Đóng góp &amp; Hạn chế</a:t>
            </a:r>
            <a:endParaRPr lang="en-US" sz="4350" dirty="0"/>
          </a:p>
        </p:txBody>
      </p:sp>
      <p:sp>
        <p:nvSpPr>
          <p:cNvPr id="6" name="Shape 4"/>
          <p:cNvSpPr/>
          <p:nvPr/>
        </p:nvSpPr>
        <p:spPr>
          <a:xfrm>
            <a:off x="876192" y="2330648"/>
            <a:ext cx="8105856" cy="7346832"/>
          </a:xfrm>
          <a:prstGeom prst="roundRect">
            <a:avLst>
              <a:gd name="adj" fmla="val 2074"/>
            </a:avLst>
          </a:prstGeom>
          <a:solidFill>
            <a:srgbClr val="EEF2FC"/>
          </a:solidFill>
          <a:ln/>
        </p:spPr>
        <p:txBody>
          <a:bodyPr/>
          <a:lstStyle/>
          <a:p>
            <a:endParaRPr lang="en-US"/>
          </a:p>
        </p:txBody>
      </p:sp>
      <p:sp>
        <p:nvSpPr>
          <p:cNvPr id="7" name="Text 5"/>
          <p:cNvSpPr/>
          <p:nvPr/>
        </p:nvSpPr>
        <p:spPr>
          <a:xfrm>
            <a:off x="1238115" y="2673494"/>
            <a:ext cx="8120211" cy="341168"/>
          </a:xfrm>
          <a:prstGeom prst="rect">
            <a:avLst/>
          </a:prstGeom>
          <a:noFill/>
          <a:ln/>
        </p:spPr>
        <p:txBody>
          <a:bodyPr wrap="square" lIns="25400" tIns="25400" rIns="25400" bIns="25400" rtlCol="0" anchor="t">
            <a:normAutofit/>
          </a:bodyPr>
          <a:lstStyle/>
          <a:p>
            <a:pPr marL="0" indent="0" algn="l">
              <a:buNone/>
            </a:pPr>
            <a:r>
              <a:rPr lang="en-US" sz="1875" b="1" kern="0" spc="75" dirty="0">
                <a:solidFill>
                  <a:srgbClr val="0F2F7A"/>
                </a:solidFill>
                <a:latin typeface="Be Vietnam Pro" pitchFamily="34" charset="0"/>
                <a:ea typeface="Be Vietnam Pro" pitchFamily="34" charset="-122"/>
                <a:cs typeface="Be Vietnam Pro" pitchFamily="34" charset="-120"/>
              </a:rPr>
              <a:t>ĐÓNG GÓP</a:t>
            </a:r>
            <a:endParaRPr lang="en-US" sz="1875" dirty="0"/>
          </a:p>
        </p:txBody>
      </p:sp>
      <p:sp>
        <p:nvSpPr>
          <p:cNvPr id="8" name="Shape 6"/>
          <p:cNvSpPr/>
          <p:nvPr/>
        </p:nvSpPr>
        <p:spPr>
          <a:xfrm>
            <a:off x="1238115" y="3205081"/>
            <a:ext cx="323769" cy="323769"/>
          </a:xfrm>
          <a:prstGeom prst="roundRect">
            <a:avLst>
              <a:gd name="adj" fmla="val 23535"/>
            </a:avLst>
          </a:prstGeom>
          <a:solidFill>
            <a:srgbClr val="1D50C6"/>
          </a:solidFill>
          <a:ln/>
        </p:spPr>
        <p:txBody>
          <a:bodyPr/>
          <a:lstStyle/>
          <a:p>
            <a:endParaRPr lang="en-US"/>
          </a:p>
        </p:txBody>
      </p:sp>
      <p:sp>
        <p:nvSpPr>
          <p:cNvPr id="9" name="Text 7"/>
          <p:cNvSpPr/>
          <p:nvPr/>
        </p:nvSpPr>
        <p:spPr>
          <a:xfrm>
            <a:off x="1200015" y="3205081"/>
            <a:ext cx="399969" cy="361869"/>
          </a:xfrm>
          <a:prstGeom prst="rect">
            <a:avLst/>
          </a:prstGeom>
          <a:noFill/>
          <a:ln/>
        </p:spPr>
        <p:txBody>
          <a:bodyPr wrap="square" lIns="25400" tIns="25400" rIns="25400" bIns="25400" rtlCol="0" anchor="ctr">
            <a:normAutofit/>
          </a:bodyPr>
          <a:lstStyle/>
          <a:p>
            <a:pPr marL="0" indent="0" algn="ctr">
              <a:buNone/>
            </a:pPr>
            <a:r>
              <a:rPr lang="en-US" sz="1425" b="1" dirty="0">
                <a:solidFill>
                  <a:srgbClr val="FFFFFF"/>
                </a:solidFill>
                <a:latin typeface="Be Vietnam Pro" pitchFamily="34" charset="0"/>
                <a:ea typeface="Be Vietnam Pro" pitchFamily="34" charset="-122"/>
                <a:cs typeface="Be Vietnam Pro" pitchFamily="34" charset="-120"/>
              </a:rPr>
              <a:t>1</a:t>
            </a:r>
            <a:endParaRPr lang="en-US" sz="1425" dirty="0"/>
          </a:p>
        </p:txBody>
      </p:sp>
      <p:sp>
        <p:nvSpPr>
          <p:cNvPr id="10" name="Text 8"/>
          <p:cNvSpPr/>
          <p:nvPr/>
        </p:nvSpPr>
        <p:spPr>
          <a:xfrm>
            <a:off x="1714229" y="3205081"/>
            <a:ext cx="4948386" cy="3618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Pipeline dữ liệu phỏng vấn IT tổng hợp.</a:t>
            </a:r>
            <a:endParaRPr lang="en-US" sz="1875" dirty="0"/>
          </a:p>
        </p:txBody>
      </p:sp>
      <p:sp>
        <p:nvSpPr>
          <p:cNvPr id="11" name="Shape 9"/>
          <p:cNvSpPr/>
          <p:nvPr/>
        </p:nvSpPr>
        <p:spPr>
          <a:xfrm>
            <a:off x="1238115" y="3700273"/>
            <a:ext cx="323769" cy="323769"/>
          </a:xfrm>
          <a:prstGeom prst="roundRect">
            <a:avLst>
              <a:gd name="adj" fmla="val 23535"/>
            </a:avLst>
          </a:prstGeom>
          <a:solidFill>
            <a:srgbClr val="1D50C6"/>
          </a:solidFill>
          <a:ln/>
        </p:spPr>
        <p:txBody>
          <a:bodyPr/>
          <a:lstStyle/>
          <a:p>
            <a:endParaRPr lang="en-US"/>
          </a:p>
        </p:txBody>
      </p:sp>
      <p:sp>
        <p:nvSpPr>
          <p:cNvPr id="12" name="Text 10"/>
          <p:cNvSpPr/>
          <p:nvPr/>
        </p:nvSpPr>
        <p:spPr>
          <a:xfrm>
            <a:off x="1200015" y="3700273"/>
            <a:ext cx="399969" cy="361869"/>
          </a:xfrm>
          <a:prstGeom prst="rect">
            <a:avLst/>
          </a:prstGeom>
          <a:noFill/>
          <a:ln/>
        </p:spPr>
        <p:txBody>
          <a:bodyPr wrap="square" lIns="25400" tIns="25400" rIns="25400" bIns="25400" rtlCol="0" anchor="ctr">
            <a:normAutofit/>
          </a:bodyPr>
          <a:lstStyle/>
          <a:p>
            <a:pPr marL="0" indent="0" algn="ctr">
              <a:buNone/>
            </a:pPr>
            <a:r>
              <a:rPr lang="en-US" sz="1425" b="1" dirty="0">
                <a:solidFill>
                  <a:srgbClr val="FFFFFF"/>
                </a:solidFill>
                <a:latin typeface="Be Vietnam Pro" pitchFamily="34" charset="0"/>
                <a:ea typeface="Be Vietnam Pro" pitchFamily="34" charset="-122"/>
                <a:cs typeface="Be Vietnam Pro" pitchFamily="34" charset="-120"/>
              </a:rPr>
              <a:t>2</a:t>
            </a:r>
            <a:endParaRPr lang="en-US" sz="1425" dirty="0"/>
          </a:p>
        </p:txBody>
      </p:sp>
      <p:sp>
        <p:nvSpPr>
          <p:cNvPr id="13" name="Text 11"/>
          <p:cNvSpPr/>
          <p:nvPr/>
        </p:nvSpPr>
        <p:spPr>
          <a:xfrm>
            <a:off x="1714229" y="3700273"/>
            <a:ext cx="5247084" cy="3618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Biến thể </a:t>
            </a:r>
            <a:r>
              <a:rPr lang="en-US" sz="1875" b="1" dirty="0">
                <a:solidFill>
                  <a:srgbClr val="33405F"/>
                </a:solidFill>
                <a:latin typeface="Be Vietnam Pro" pitchFamily="34" charset="0"/>
                <a:ea typeface="Be Vietnam Pro" pitchFamily="34" charset="-122"/>
                <a:cs typeface="Be Vietnam Pro" pitchFamily="34" charset="-120"/>
              </a:rPr>
              <a:t>DKT-Quality </a:t>
            </a:r>
            <a:r>
              <a:rPr lang="en-US" sz="1875" dirty="0">
                <a:solidFill>
                  <a:srgbClr val="33405F"/>
                </a:solidFill>
                <a:latin typeface="Be Vietnam Pro" pitchFamily="34" charset="0"/>
                <a:ea typeface="Be Vietnam Pro" pitchFamily="34" charset="-122"/>
                <a:cs typeface="Be Vietnam Pro" pitchFamily="34" charset="-120"/>
              </a:rPr>
              <a:t>dùng quality label.</a:t>
            </a:r>
            <a:endParaRPr lang="en-US" sz="1875" dirty="0"/>
          </a:p>
        </p:txBody>
      </p:sp>
      <p:sp>
        <p:nvSpPr>
          <p:cNvPr id="14" name="Shape 12"/>
          <p:cNvSpPr/>
          <p:nvPr/>
        </p:nvSpPr>
        <p:spPr>
          <a:xfrm>
            <a:off x="1238115" y="4195465"/>
            <a:ext cx="323769" cy="323769"/>
          </a:xfrm>
          <a:prstGeom prst="roundRect">
            <a:avLst>
              <a:gd name="adj" fmla="val 23535"/>
            </a:avLst>
          </a:prstGeom>
          <a:solidFill>
            <a:srgbClr val="1D50C6"/>
          </a:solidFill>
          <a:ln/>
        </p:spPr>
        <p:txBody>
          <a:bodyPr/>
          <a:lstStyle/>
          <a:p>
            <a:endParaRPr lang="en-US"/>
          </a:p>
        </p:txBody>
      </p:sp>
      <p:sp>
        <p:nvSpPr>
          <p:cNvPr id="15" name="Text 13"/>
          <p:cNvSpPr/>
          <p:nvPr/>
        </p:nvSpPr>
        <p:spPr>
          <a:xfrm>
            <a:off x="1200015" y="4195465"/>
            <a:ext cx="399969" cy="361869"/>
          </a:xfrm>
          <a:prstGeom prst="rect">
            <a:avLst/>
          </a:prstGeom>
          <a:noFill/>
          <a:ln/>
        </p:spPr>
        <p:txBody>
          <a:bodyPr wrap="square" lIns="25400" tIns="25400" rIns="25400" bIns="25400" rtlCol="0" anchor="ctr">
            <a:normAutofit/>
          </a:bodyPr>
          <a:lstStyle/>
          <a:p>
            <a:pPr marL="0" indent="0" algn="ctr">
              <a:buNone/>
            </a:pPr>
            <a:r>
              <a:rPr lang="en-US" sz="1425" b="1" dirty="0">
                <a:solidFill>
                  <a:srgbClr val="FFFFFF"/>
                </a:solidFill>
                <a:latin typeface="Be Vietnam Pro" pitchFamily="34" charset="0"/>
                <a:ea typeface="Be Vietnam Pro" pitchFamily="34" charset="-122"/>
                <a:cs typeface="Be Vietnam Pro" pitchFamily="34" charset="-120"/>
              </a:rPr>
              <a:t>3</a:t>
            </a:r>
            <a:endParaRPr lang="en-US" sz="1425" dirty="0"/>
          </a:p>
        </p:txBody>
      </p:sp>
      <p:sp>
        <p:nvSpPr>
          <p:cNvPr id="16" name="Text 14"/>
          <p:cNvSpPr/>
          <p:nvPr/>
        </p:nvSpPr>
        <p:spPr>
          <a:xfrm>
            <a:off x="1714229" y="4195465"/>
            <a:ext cx="4653855" cy="3618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Cơ chế </a:t>
            </a:r>
            <a:r>
              <a:rPr lang="en-US" sz="1875" b="1" dirty="0">
                <a:solidFill>
                  <a:srgbClr val="33405F"/>
                </a:solidFill>
                <a:latin typeface="Be Vietnam Pro" pitchFamily="34" charset="0"/>
                <a:ea typeface="Be Vietnam Pro" pitchFamily="34" charset="-122"/>
                <a:cs typeface="Be Vietnam Pro" pitchFamily="34" charset="-120"/>
              </a:rPr>
              <a:t>blend KT-EMA </a:t>
            </a:r>
            <a:r>
              <a:rPr lang="en-US" sz="1875" dirty="0">
                <a:solidFill>
                  <a:srgbClr val="33405F"/>
                </a:solidFill>
                <a:latin typeface="Be Vietnam Pro" pitchFamily="34" charset="0"/>
                <a:ea typeface="Be Vietnam Pro" pitchFamily="34" charset="-122"/>
                <a:cs typeface="Be Vietnam Pro" pitchFamily="34" charset="-120"/>
              </a:rPr>
              <a:t>cho realtime.</a:t>
            </a:r>
            <a:endParaRPr lang="en-US" sz="1875" dirty="0"/>
          </a:p>
        </p:txBody>
      </p:sp>
      <p:sp>
        <p:nvSpPr>
          <p:cNvPr id="17" name="Shape 15"/>
          <p:cNvSpPr/>
          <p:nvPr/>
        </p:nvSpPr>
        <p:spPr>
          <a:xfrm>
            <a:off x="1238115" y="4690656"/>
            <a:ext cx="323769" cy="323769"/>
          </a:xfrm>
          <a:prstGeom prst="roundRect">
            <a:avLst>
              <a:gd name="adj" fmla="val 23535"/>
            </a:avLst>
          </a:prstGeom>
          <a:solidFill>
            <a:srgbClr val="1D50C6"/>
          </a:solidFill>
          <a:ln/>
        </p:spPr>
        <p:txBody>
          <a:bodyPr/>
          <a:lstStyle/>
          <a:p>
            <a:endParaRPr lang="en-US"/>
          </a:p>
        </p:txBody>
      </p:sp>
      <p:sp>
        <p:nvSpPr>
          <p:cNvPr id="18" name="Text 16"/>
          <p:cNvSpPr/>
          <p:nvPr/>
        </p:nvSpPr>
        <p:spPr>
          <a:xfrm>
            <a:off x="1200015" y="4690656"/>
            <a:ext cx="399969" cy="361869"/>
          </a:xfrm>
          <a:prstGeom prst="rect">
            <a:avLst/>
          </a:prstGeom>
          <a:noFill/>
          <a:ln/>
        </p:spPr>
        <p:txBody>
          <a:bodyPr wrap="square" lIns="25400" tIns="25400" rIns="25400" bIns="25400" rtlCol="0" anchor="ctr">
            <a:normAutofit/>
          </a:bodyPr>
          <a:lstStyle/>
          <a:p>
            <a:pPr marL="0" indent="0" algn="ctr">
              <a:buNone/>
            </a:pPr>
            <a:r>
              <a:rPr lang="en-US" sz="1425" b="1" dirty="0">
                <a:solidFill>
                  <a:srgbClr val="FFFFFF"/>
                </a:solidFill>
                <a:latin typeface="Be Vietnam Pro" pitchFamily="34" charset="0"/>
                <a:ea typeface="Be Vietnam Pro" pitchFamily="34" charset="-122"/>
                <a:cs typeface="Be Vietnam Pro" pitchFamily="34" charset="-120"/>
              </a:rPr>
              <a:t>4</a:t>
            </a:r>
            <a:endParaRPr lang="en-US" sz="1425" dirty="0"/>
          </a:p>
        </p:txBody>
      </p:sp>
      <p:sp>
        <p:nvSpPr>
          <p:cNvPr id="19" name="Text 17"/>
          <p:cNvSpPr/>
          <p:nvPr/>
        </p:nvSpPr>
        <p:spPr>
          <a:xfrm>
            <a:off x="1714229" y="4690656"/>
            <a:ext cx="4357390" cy="3618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Hệ thống </a:t>
            </a:r>
            <a:r>
              <a:rPr lang="en-US" sz="1875" b="1" dirty="0">
                <a:solidFill>
                  <a:srgbClr val="33405F"/>
                </a:solidFill>
                <a:latin typeface="Be Vietnam Pro" pitchFamily="34" charset="0"/>
                <a:ea typeface="Be Vietnam Pro" pitchFamily="34" charset="-122"/>
                <a:cs typeface="Be Vietnam Pro" pitchFamily="34" charset="-120"/>
              </a:rPr>
              <a:t>end-to-end </a:t>
            </a:r>
            <a:r>
              <a:rPr lang="en-US" sz="1875" dirty="0">
                <a:solidFill>
                  <a:srgbClr val="33405F"/>
                </a:solidFill>
                <a:latin typeface="Be Vietnam Pro" pitchFamily="34" charset="0"/>
                <a:ea typeface="Be Vietnam Pro" pitchFamily="34" charset="-122"/>
                <a:cs typeface="Be Vietnam Pro" pitchFamily="34" charset="-120"/>
              </a:rPr>
              <a:t>hoàn chỉnh.</a:t>
            </a:r>
            <a:endParaRPr lang="en-US" sz="1875" dirty="0"/>
          </a:p>
        </p:txBody>
      </p:sp>
      <p:sp>
        <p:nvSpPr>
          <p:cNvPr id="20" name="Shape 18"/>
          <p:cNvSpPr/>
          <p:nvPr/>
        </p:nvSpPr>
        <p:spPr>
          <a:xfrm>
            <a:off x="9305816" y="2330648"/>
            <a:ext cx="8105991" cy="7346832"/>
          </a:xfrm>
          <a:prstGeom prst="roundRect">
            <a:avLst>
              <a:gd name="adj" fmla="val 2074"/>
            </a:avLst>
          </a:prstGeom>
          <a:solidFill>
            <a:srgbClr val="F7F5EF"/>
          </a:solidFill>
          <a:ln/>
        </p:spPr>
        <p:txBody>
          <a:bodyPr/>
          <a:lstStyle/>
          <a:p>
            <a:endParaRPr lang="en-US"/>
          </a:p>
        </p:txBody>
      </p:sp>
      <p:sp>
        <p:nvSpPr>
          <p:cNvPr id="21" name="Text 19"/>
          <p:cNvSpPr/>
          <p:nvPr/>
        </p:nvSpPr>
        <p:spPr>
          <a:xfrm>
            <a:off x="9667740" y="2673494"/>
            <a:ext cx="8120360" cy="341168"/>
          </a:xfrm>
          <a:prstGeom prst="rect">
            <a:avLst/>
          </a:prstGeom>
          <a:noFill/>
          <a:ln/>
        </p:spPr>
        <p:txBody>
          <a:bodyPr wrap="square" lIns="25400" tIns="25400" rIns="25400" bIns="25400" rtlCol="0" anchor="t">
            <a:normAutofit/>
          </a:bodyPr>
          <a:lstStyle/>
          <a:p>
            <a:pPr marL="0" indent="0" algn="l">
              <a:buNone/>
            </a:pPr>
            <a:r>
              <a:rPr lang="en-US" sz="1875" b="1" kern="0" spc="75" dirty="0">
                <a:solidFill>
                  <a:srgbClr val="9A6B2A"/>
                </a:solidFill>
                <a:latin typeface="Be Vietnam Pro" pitchFamily="34" charset="0"/>
                <a:ea typeface="Be Vietnam Pro" pitchFamily="34" charset="-122"/>
                <a:cs typeface="Be Vietnam Pro" pitchFamily="34" charset="-120"/>
              </a:rPr>
              <a:t>HẠN CHẾ</a:t>
            </a:r>
            <a:endParaRPr lang="en-US" sz="1875" dirty="0"/>
          </a:p>
        </p:txBody>
      </p:sp>
      <p:sp>
        <p:nvSpPr>
          <p:cNvPr id="22" name="Shape 20"/>
          <p:cNvSpPr/>
          <p:nvPr/>
        </p:nvSpPr>
        <p:spPr>
          <a:xfrm>
            <a:off x="9667740" y="3309802"/>
            <a:ext cx="104721" cy="104721"/>
          </a:xfrm>
          <a:prstGeom prst="roundRect">
            <a:avLst>
              <a:gd name="adj" fmla="val 27287"/>
            </a:avLst>
          </a:prstGeom>
          <a:solidFill>
            <a:srgbClr val="C0892F"/>
          </a:solidFill>
          <a:ln/>
        </p:spPr>
        <p:txBody>
          <a:bodyPr/>
          <a:lstStyle/>
          <a:p>
            <a:endParaRPr lang="en-US"/>
          </a:p>
        </p:txBody>
      </p:sp>
      <p:sp>
        <p:nvSpPr>
          <p:cNvPr id="23" name="Text 21"/>
          <p:cNvSpPr/>
          <p:nvPr/>
        </p:nvSpPr>
        <p:spPr>
          <a:xfrm>
            <a:off x="9924806" y="3205081"/>
            <a:ext cx="3699718"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b="1" dirty="0">
                <a:solidFill>
                  <a:srgbClr val="33405F"/>
                </a:solidFill>
                <a:latin typeface="Be Vietnam Pro" pitchFamily="34" charset="0"/>
                <a:ea typeface="Be Vietnam Pro" pitchFamily="34" charset="-122"/>
                <a:cs typeface="Be Vietnam Pro" pitchFamily="34" charset="-120"/>
              </a:rPr>
              <a:t>Simulation bias </a:t>
            </a:r>
            <a:r>
              <a:rPr lang="en-US" sz="1875" dirty="0">
                <a:solidFill>
                  <a:srgbClr val="33405F"/>
                </a:solidFill>
                <a:latin typeface="Be Vietnam Pro" pitchFamily="34" charset="0"/>
                <a:ea typeface="Be Vietnam Pro" pitchFamily="34" charset="-122"/>
                <a:cs typeface="Be Vietnam Pro" pitchFamily="34" charset="-120"/>
              </a:rPr>
              <a:t>(nặng nhất).</a:t>
            </a:r>
            <a:endParaRPr lang="en-US" sz="1875" dirty="0"/>
          </a:p>
        </p:txBody>
      </p:sp>
      <p:sp>
        <p:nvSpPr>
          <p:cNvPr id="24" name="Shape 22"/>
          <p:cNvSpPr/>
          <p:nvPr/>
        </p:nvSpPr>
        <p:spPr>
          <a:xfrm>
            <a:off x="9667740" y="3783617"/>
            <a:ext cx="104721" cy="104721"/>
          </a:xfrm>
          <a:prstGeom prst="roundRect">
            <a:avLst>
              <a:gd name="adj" fmla="val 27287"/>
            </a:avLst>
          </a:prstGeom>
          <a:solidFill>
            <a:srgbClr val="C0892F"/>
          </a:solidFill>
          <a:ln/>
        </p:spPr>
        <p:txBody>
          <a:bodyPr/>
          <a:lstStyle/>
          <a:p>
            <a:endParaRPr lang="en-US"/>
          </a:p>
        </p:txBody>
      </p:sp>
      <p:sp>
        <p:nvSpPr>
          <p:cNvPr id="25" name="Text 23"/>
          <p:cNvSpPr/>
          <p:nvPr/>
        </p:nvSpPr>
        <p:spPr>
          <a:xfrm>
            <a:off x="9924806" y="3678896"/>
            <a:ext cx="3789313"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Thiếu dữ liệu người dùng thật.</a:t>
            </a:r>
            <a:endParaRPr lang="en-US" sz="1875" dirty="0"/>
          </a:p>
        </p:txBody>
      </p:sp>
      <p:sp>
        <p:nvSpPr>
          <p:cNvPr id="26" name="Shape 24"/>
          <p:cNvSpPr/>
          <p:nvPr/>
        </p:nvSpPr>
        <p:spPr>
          <a:xfrm>
            <a:off x="9667740" y="4257431"/>
            <a:ext cx="104721" cy="104721"/>
          </a:xfrm>
          <a:prstGeom prst="roundRect">
            <a:avLst>
              <a:gd name="adj" fmla="val 27287"/>
            </a:avLst>
          </a:prstGeom>
          <a:solidFill>
            <a:srgbClr val="C0892F"/>
          </a:solidFill>
          <a:ln/>
        </p:spPr>
        <p:txBody>
          <a:bodyPr/>
          <a:lstStyle/>
          <a:p>
            <a:endParaRPr lang="en-US"/>
          </a:p>
        </p:txBody>
      </p:sp>
      <p:sp>
        <p:nvSpPr>
          <p:cNvPr id="27" name="Text 25"/>
          <p:cNvSpPr/>
          <p:nvPr/>
        </p:nvSpPr>
        <p:spPr>
          <a:xfrm>
            <a:off x="9924806" y="4152710"/>
            <a:ext cx="4560094"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Sequence length giới hạn cap = 40.</a:t>
            </a:r>
            <a:endParaRPr lang="en-US" sz="1875" dirty="0"/>
          </a:p>
        </p:txBody>
      </p:sp>
      <p:sp>
        <p:nvSpPr>
          <p:cNvPr id="28" name="Shape 26"/>
          <p:cNvSpPr/>
          <p:nvPr/>
        </p:nvSpPr>
        <p:spPr>
          <a:xfrm>
            <a:off x="9667740" y="4731246"/>
            <a:ext cx="104721" cy="104721"/>
          </a:xfrm>
          <a:prstGeom prst="roundRect">
            <a:avLst>
              <a:gd name="adj" fmla="val 27287"/>
            </a:avLst>
          </a:prstGeom>
          <a:solidFill>
            <a:srgbClr val="C0892F"/>
          </a:solidFill>
          <a:ln/>
        </p:spPr>
        <p:txBody>
          <a:bodyPr/>
          <a:lstStyle/>
          <a:p>
            <a:endParaRPr lang="en-US"/>
          </a:p>
        </p:txBody>
      </p:sp>
      <p:sp>
        <p:nvSpPr>
          <p:cNvPr id="29" name="Text 27"/>
          <p:cNvSpPr/>
          <p:nvPr/>
        </p:nvSpPr>
        <p:spPr>
          <a:xfrm>
            <a:off x="9924806" y="4626525"/>
            <a:ext cx="3092202"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Class imbalance 82,5%.</a:t>
            </a:r>
            <a:endParaRPr lang="en-US" sz="1875" dirty="0"/>
          </a:p>
        </p:txBody>
      </p:sp>
      <p:sp>
        <p:nvSpPr>
          <p:cNvPr id="30" name="Shape 28"/>
          <p:cNvSpPr/>
          <p:nvPr/>
        </p:nvSpPr>
        <p:spPr>
          <a:xfrm>
            <a:off x="9667740" y="5205061"/>
            <a:ext cx="104721" cy="104721"/>
          </a:xfrm>
          <a:prstGeom prst="roundRect">
            <a:avLst>
              <a:gd name="adj" fmla="val 27287"/>
            </a:avLst>
          </a:prstGeom>
          <a:solidFill>
            <a:srgbClr val="C0892F"/>
          </a:solidFill>
          <a:ln/>
        </p:spPr>
        <p:txBody>
          <a:bodyPr/>
          <a:lstStyle/>
          <a:p>
            <a:endParaRPr lang="en-US"/>
          </a:p>
        </p:txBody>
      </p:sp>
      <p:sp>
        <p:nvSpPr>
          <p:cNvPr id="31" name="Text 29"/>
          <p:cNvSpPr/>
          <p:nvPr/>
        </p:nvSpPr>
        <p:spPr>
          <a:xfrm>
            <a:off x="9924806" y="5100340"/>
            <a:ext cx="4345037" cy="359569"/>
          </a:xfrm>
          <a:prstGeom prst="rect">
            <a:avLst/>
          </a:prstGeom>
          <a:noFill/>
          <a:ln/>
        </p:spPr>
        <p:txBody>
          <a:bodyPr wrap="square" lIns="25400" tIns="25400" rIns="25400" bIns="25400" rtlCol="0" anchor="t">
            <a:normAutofit/>
          </a:bodyPr>
          <a:lstStyle/>
          <a:p>
            <a:pPr marL="0" indent="0" algn="l">
              <a:lnSpc>
                <a:spcPct val="135000"/>
              </a:lnSpc>
              <a:buNone/>
            </a:pPr>
            <a:r>
              <a:rPr lang="en-US" sz="1875" dirty="0">
                <a:solidFill>
                  <a:srgbClr val="33405F"/>
                </a:solidFill>
                <a:latin typeface="Be Vietnam Pro" pitchFamily="34" charset="0"/>
                <a:ea typeface="Be Vietnam Pro" pitchFamily="34" charset="-122"/>
                <a:cs typeface="Be Vietnam Pro" pitchFamily="34" charset="-120"/>
              </a:rPr>
              <a:t>Nhóm advanced thấp — chỉ </a:t>
            </a:r>
            <a:r>
              <a:rPr lang="en-US" sz="1875" b="1" dirty="0">
                <a:solidFill>
                  <a:srgbClr val="33405F"/>
                </a:solidFill>
                <a:latin typeface="Be Vietnam Pro" pitchFamily="34" charset="0"/>
                <a:ea typeface="Be Vietnam Pro" pitchFamily="34" charset="-122"/>
                <a:cs typeface="Be Vietnam Pro" pitchFamily="34" charset="-120"/>
              </a:rPr>
              <a:t>5,9%</a:t>
            </a:r>
            <a:r>
              <a:rPr lang="en-US" sz="1875" dirty="0">
                <a:solidFill>
                  <a:srgbClr val="33405F"/>
                </a:solidFill>
                <a:latin typeface="Be Vietnam Pro" pitchFamily="34" charset="0"/>
                <a:ea typeface="Be Vietnam Pro" pitchFamily="34" charset="-122"/>
                <a:cs typeface="Be Vietnam Pro" pitchFamily="34" charset="-120"/>
              </a:rPr>
              <a:t>.</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7999" cy="10287000"/>
          </a:xfrm>
          <a:prstGeom prst="rect">
            <a:avLst/>
          </a:prstGeom>
          <a:gradFill rotWithShape="1">
            <a:gsLst>
              <a:gs pos="0">
                <a:srgbClr val="143A9E">
                  <a:alpha val="100000"/>
                </a:srgbClr>
              </a:gs>
              <a:gs pos="100000">
                <a:srgbClr val="0F2F7A">
                  <a:alpha val="100000"/>
                </a:srgbClr>
              </a:gs>
            </a:gsLst>
            <a:lin ang="3600000" scaled="0"/>
          </a:gradFill>
          <a:ln/>
        </p:spPr>
        <p:txBody>
          <a:bodyPr/>
          <a:lstStyle/>
          <a:p>
            <a:endParaRPr lang="en-US"/>
          </a:p>
        </p:txBody>
      </p:sp>
      <p:sp>
        <p:nvSpPr>
          <p:cNvPr id="3" name="Shape 1"/>
          <p:cNvSpPr/>
          <p:nvPr/>
        </p:nvSpPr>
        <p:spPr>
          <a:xfrm>
            <a:off x="914346" y="1135964"/>
            <a:ext cx="16459308" cy="17318"/>
          </a:xfrm>
          <a:prstGeom prst="rect">
            <a:avLst/>
          </a:prstGeom>
          <a:solidFill>
            <a:srgbClr val="FFFFFF">
              <a:alpha val="22000"/>
            </a:srgbClr>
          </a:solidFill>
          <a:ln/>
        </p:spPr>
        <p:txBody>
          <a:bodyPr/>
          <a:lstStyle/>
          <a:p>
            <a:endParaRPr lang="en-US"/>
          </a:p>
        </p:txBody>
      </p:sp>
      <p:sp>
        <p:nvSpPr>
          <p:cNvPr id="4" name="Text 2"/>
          <p:cNvSpPr/>
          <p:nvPr/>
        </p:nvSpPr>
        <p:spPr>
          <a:xfrm>
            <a:off x="914346" y="704769"/>
            <a:ext cx="1450181" cy="297873"/>
          </a:xfrm>
          <a:prstGeom prst="rect">
            <a:avLst/>
          </a:prstGeom>
          <a:noFill/>
          <a:ln/>
        </p:spPr>
        <p:txBody>
          <a:bodyPr wrap="square" lIns="25400" tIns="25400" rIns="25400" bIns="25400" rtlCol="0" anchor="t">
            <a:normAutofit/>
          </a:bodyPr>
          <a:lstStyle/>
          <a:p>
            <a:pPr marL="0" indent="0" algn="l">
              <a:buNone/>
            </a:pPr>
            <a:r>
              <a:rPr lang="en-US" sz="1650" b="1" kern="0" spc="198" dirty="0">
                <a:solidFill>
                  <a:srgbClr val="8FB0FF"/>
                </a:solidFill>
                <a:latin typeface="Be Vietnam Pro" pitchFamily="34" charset="0"/>
                <a:ea typeface="Be Vietnam Pro" pitchFamily="34" charset="-122"/>
                <a:cs typeface="Be Vietnam Pro" pitchFamily="34" charset="-120"/>
              </a:rPr>
              <a:t>TỔNG KẾT</a:t>
            </a:r>
            <a:endParaRPr lang="en-US" sz="1650" dirty="0"/>
          </a:p>
        </p:txBody>
      </p:sp>
      <p:sp>
        <p:nvSpPr>
          <p:cNvPr id="5" name="Text 3"/>
          <p:cNvSpPr/>
          <p:nvPr/>
        </p:nvSpPr>
        <p:spPr>
          <a:xfrm>
            <a:off x="16510179" y="713428"/>
            <a:ext cx="939674" cy="280555"/>
          </a:xfrm>
          <a:prstGeom prst="rect">
            <a:avLst/>
          </a:prstGeom>
          <a:noFill/>
          <a:ln/>
        </p:spPr>
        <p:txBody>
          <a:bodyPr wrap="square" lIns="25400" tIns="25400" rIns="25400" bIns="25400" rtlCol="0" anchor="t">
            <a:normAutofit/>
          </a:bodyPr>
          <a:lstStyle/>
          <a:p>
            <a:pPr marL="0" indent="0" algn="l">
              <a:buNone/>
            </a:pPr>
            <a:r>
              <a:rPr lang="en-US" sz="1500" b="1" kern="0" spc="180" dirty="0">
                <a:solidFill>
                  <a:srgbClr val="7D92C6"/>
                </a:solidFill>
                <a:latin typeface="Be Vietnam Pro" pitchFamily="34" charset="0"/>
                <a:ea typeface="Be Vietnam Pro" pitchFamily="34" charset="-122"/>
                <a:cs typeface="Be Vietnam Pro" pitchFamily="34" charset="-120"/>
              </a:rPr>
              <a:t>20 / 20</a:t>
            </a:r>
            <a:endParaRPr lang="en-US" sz="1500" dirty="0"/>
          </a:p>
        </p:txBody>
      </p:sp>
      <p:sp>
        <p:nvSpPr>
          <p:cNvPr id="6" name="Text 4"/>
          <p:cNvSpPr/>
          <p:nvPr/>
        </p:nvSpPr>
        <p:spPr>
          <a:xfrm>
            <a:off x="914346" y="1419956"/>
            <a:ext cx="18105239" cy="618124"/>
          </a:xfrm>
          <a:prstGeom prst="rect">
            <a:avLst/>
          </a:prstGeom>
          <a:noFill/>
          <a:ln/>
        </p:spPr>
        <p:txBody>
          <a:bodyPr wrap="square" lIns="25400" tIns="25400" rIns="25400" bIns="25400" rtlCol="0" anchor="t">
            <a:normAutofit/>
          </a:bodyPr>
          <a:lstStyle/>
          <a:p>
            <a:pPr marL="0" indent="0" algn="l">
              <a:lnSpc>
                <a:spcPct val="105000"/>
              </a:lnSpc>
              <a:buNone/>
            </a:pPr>
            <a:r>
              <a:rPr lang="en-US" sz="4350" b="1" kern="0" spc="-43" dirty="0">
                <a:solidFill>
                  <a:srgbClr val="FFFFFF"/>
                </a:solidFill>
                <a:latin typeface="Be Vietnam Pro" pitchFamily="34" charset="0"/>
                <a:ea typeface="Be Vietnam Pro" pitchFamily="34" charset="-122"/>
                <a:cs typeface="Be Vietnam Pro" pitchFamily="34" charset="-120"/>
              </a:rPr>
              <a:t>Kết luận &amp; Hướng phát triển</a:t>
            </a:r>
            <a:endParaRPr lang="en-US" sz="4350" dirty="0"/>
          </a:p>
        </p:txBody>
      </p:sp>
      <p:sp>
        <p:nvSpPr>
          <p:cNvPr id="7" name="Text 5"/>
          <p:cNvSpPr/>
          <p:nvPr/>
        </p:nvSpPr>
        <p:spPr>
          <a:xfrm>
            <a:off x="914346" y="2304671"/>
            <a:ext cx="8843069"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8FB0FF"/>
                </a:solidFill>
                <a:latin typeface="Be Vietnam Pro" pitchFamily="34" charset="0"/>
                <a:ea typeface="Be Vietnam Pro" pitchFamily="34" charset="-122"/>
                <a:cs typeface="Be Vietnam Pro" pitchFamily="34" charset="-120"/>
              </a:rPr>
              <a:t>KẾT LUẬN</a:t>
            </a:r>
            <a:endParaRPr lang="en-US" sz="1575" dirty="0"/>
          </a:p>
        </p:txBody>
      </p:sp>
      <p:sp>
        <p:nvSpPr>
          <p:cNvPr id="8" name="Shape 6"/>
          <p:cNvSpPr/>
          <p:nvPr/>
        </p:nvSpPr>
        <p:spPr>
          <a:xfrm>
            <a:off x="914346" y="2831929"/>
            <a:ext cx="104721" cy="104721"/>
          </a:xfrm>
          <a:prstGeom prst="roundRect">
            <a:avLst>
              <a:gd name="adj" fmla="val 27287"/>
            </a:avLst>
          </a:prstGeom>
          <a:solidFill>
            <a:srgbClr val="7FA6FF"/>
          </a:solidFill>
          <a:ln/>
        </p:spPr>
        <p:txBody>
          <a:bodyPr/>
          <a:lstStyle/>
          <a:p>
            <a:endParaRPr lang="en-US"/>
          </a:p>
        </p:txBody>
      </p:sp>
      <p:sp>
        <p:nvSpPr>
          <p:cNvPr id="9" name="Text 7"/>
          <p:cNvSpPr/>
          <p:nvPr/>
        </p:nvSpPr>
        <p:spPr>
          <a:xfrm>
            <a:off x="1152336" y="2727208"/>
            <a:ext cx="5265241" cy="384734"/>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EAF0FF"/>
                </a:solidFill>
                <a:latin typeface="Be Vietnam Pro" pitchFamily="34" charset="0"/>
                <a:ea typeface="Be Vietnam Pro" pitchFamily="34" charset="-122"/>
                <a:cs typeface="Be Vietnam Pro" pitchFamily="34" charset="-120"/>
              </a:rPr>
              <a:t>KT mang lại </a:t>
            </a:r>
            <a:r>
              <a:rPr lang="en-US" sz="1950" b="1" dirty="0">
                <a:solidFill>
                  <a:srgbClr val="EAF0FF"/>
                </a:solidFill>
                <a:latin typeface="Be Vietnam Pro" pitchFamily="34" charset="0"/>
                <a:ea typeface="Be Vietnam Pro" pitchFamily="34" charset="-122"/>
                <a:cs typeface="Be Vietnam Pro" pitchFamily="34" charset="-120"/>
              </a:rPr>
              <a:t>giá trị thực </a:t>
            </a:r>
            <a:r>
              <a:rPr lang="en-US" sz="1950" dirty="0">
                <a:solidFill>
                  <a:srgbClr val="EAF0FF"/>
                </a:solidFill>
                <a:latin typeface="Be Vietnam Pro" pitchFamily="34" charset="0"/>
                <a:ea typeface="Be Vietnam Pro" pitchFamily="34" charset="-122"/>
                <a:cs typeface="Be Vietnam Pro" pitchFamily="34" charset="-120"/>
              </a:rPr>
              <a:t>so với baseline.</a:t>
            </a:r>
            <a:endParaRPr lang="en-US" sz="1950" dirty="0"/>
          </a:p>
        </p:txBody>
      </p:sp>
      <p:sp>
        <p:nvSpPr>
          <p:cNvPr id="10" name="Shape 8"/>
          <p:cNvSpPr/>
          <p:nvPr/>
        </p:nvSpPr>
        <p:spPr>
          <a:xfrm>
            <a:off x="914346" y="3349986"/>
            <a:ext cx="104721" cy="104721"/>
          </a:xfrm>
          <a:prstGeom prst="roundRect">
            <a:avLst>
              <a:gd name="adj" fmla="val 27287"/>
            </a:avLst>
          </a:prstGeom>
          <a:solidFill>
            <a:srgbClr val="7FA6FF"/>
          </a:solidFill>
          <a:ln/>
        </p:spPr>
        <p:txBody>
          <a:bodyPr/>
          <a:lstStyle/>
          <a:p>
            <a:endParaRPr lang="en-US"/>
          </a:p>
        </p:txBody>
      </p:sp>
      <p:sp>
        <p:nvSpPr>
          <p:cNvPr id="11" name="Text 9"/>
          <p:cNvSpPr/>
          <p:nvPr/>
        </p:nvSpPr>
        <p:spPr>
          <a:xfrm>
            <a:off x="1152336" y="3245265"/>
            <a:ext cx="5485060" cy="384734"/>
          </a:xfrm>
          <a:prstGeom prst="rect">
            <a:avLst/>
          </a:prstGeom>
          <a:noFill/>
          <a:ln/>
        </p:spPr>
        <p:txBody>
          <a:bodyPr wrap="square" lIns="25400" tIns="25400" rIns="25400" bIns="25400" rtlCol="0" anchor="t">
            <a:normAutofit/>
          </a:bodyPr>
          <a:lstStyle/>
          <a:p>
            <a:pPr marL="0" indent="0" algn="l">
              <a:lnSpc>
                <a:spcPct val="140000"/>
              </a:lnSpc>
              <a:buNone/>
            </a:pPr>
            <a:r>
              <a:rPr lang="en-US" sz="1950" b="1" dirty="0">
                <a:solidFill>
                  <a:srgbClr val="EAF0FF"/>
                </a:solidFill>
                <a:latin typeface="Be Vietnam Pro" pitchFamily="34" charset="0"/>
                <a:ea typeface="Be Vietnam Pro" pitchFamily="34" charset="-122"/>
                <a:cs typeface="Be Vietnam Pro" pitchFamily="34" charset="-120"/>
              </a:rPr>
              <a:t>DKT-Quality </a:t>
            </a:r>
            <a:r>
              <a:rPr lang="en-US" sz="1950" dirty="0">
                <a:solidFill>
                  <a:srgbClr val="EAF0FF"/>
                </a:solidFill>
                <a:latin typeface="Be Vietnam Pro" pitchFamily="34" charset="0"/>
                <a:ea typeface="Be Vietnam Pro" pitchFamily="34" charset="-122"/>
                <a:cs typeface="Be Vietnam Pro" pitchFamily="34" charset="-120"/>
              </a:rPr>
              <a:t>phù hợp triển khai realtime.</a:t>
            </a:r>
            <a:endParaRPr lang="en-US" sz="1950" dirty="0"/>
          </a:p>
        </p:txBody>
      </p:sp>
      <p:sp>
        <p:nvSpPr>
          <p:cNvPr id="12" name="Shape 10"/>
          <p:cNvSpPr/>
          <p:nvPr/>
        </p:nvSpPr>
        <p:spPr>
          <a:xfrm>
            <a:off x="914346" y="3868043"/>
            <a:ext cx="104721" cy="104721"/>
          </a:xfrm>
          <a:prstGeom prst="roundRect">
            <a:avLst>
              <a:gd name="adj" fmla="val 27287"/>
            </a:avLst>
          </a:prstGeom>
          <a:solidFill>
            <a:srgbClr val="7FA6FF"/>
          </a:solidFill>
          <a:ln/>
        </p:spPr>
        <p:txBody>
          <a:bodyPr/>
          <a:lstStyle/>
          <a:p>
            <a:endParaRPr lang="en-US"/>
          </a:p>
        </p:txBody>
      </p:sp>
      <p:sp>
        <p:nvSpPr>
          <p:cNvPr id="13" name="Text 11"/>
          <p:cNvSpPr/>
          <p:nvPr/>
        </p:nvSpPr>
        <p:spPr>
          <a:xfrm>
            <a:off x="1152336" y="3763322"/>
            <a:ext cx="5451128" cy="384734"/>
          </a:xfrm>
          <a:prstGeom prst="rect">
            <a:avLst/>
          </a:prstGeom>
          <a:noFill/>
          <a:ln/>
        </p:spPr>
        <p:txBody>
          <a:bodyPr wrap="square" lIns="25400" tIns="25400" rIns="25400" bIns="25400" rtlCol="0" anchor="t">
            <a:normAutofit/>
          </a:bodyPr>
          <a:lstStyle/>
          <a:p>
            <a:pPr marL="0" indent="0" algn="l">
              <a:lnSpc>
                <a:spcPct val="140000"/>
              </a:lnSpc>
              <a:buNone/>
            </a:pPr>
            <a:r>
              <a:rPr lang="en-US" sz="1950" b="1" dirty="0">
                <a:solidFill>
                  <a:srgbClr val="EAF0FF"/>
                </a:solidFill>
                <a:latin typeface="Be Vietnam Pro" pitchFamily="34" charset="0"/>
                <a:ea typeface="Be Vietnam Pro" pitchFamily="34" charset="-122"/>
                <a:cs typeface="Be Vietnam Pro" pitchFamily="34" charset="-120"/>
              </a:rPr>
              <a:t>Blend KT-EMA </a:t>
            </a:r>
            <a:r>
              <a:rPr lang="en-US" sz="1950" dirty="0">
                <a:solidFill>
                  <a:srgbClr val="EAF0FF"/>
                </a:solidFill>
                <a:latin typeface="Be Vietnam Pro" pitchFamily="34" charset="0"/>
                <a:ea typeface="Be Vietnam Pro" pitchFamily="34" charset="-122"/>
                <a:cs typeface="Be Vietnam Pro" pitchFamily="34" charset="-120"/>
              </a:rPr>
              <a:t>xử lý hiệu quả cold-start.</a:t>
            </a:r>
            <a:endParaRPr lang="en-US" sz="1950" dirty="0"/>
          </a:p>
        </p:txBody>
      </p:sp>
      <p:sp>
        <p:nvSpPr>
          <p:cNvPr id="14" name="Text 12"/>
          <p:cNvSpPr/>
          <p:nvPr/>
        </p:nvSpPr>
        <p:spPr>
          <a:xfrm>
            <a:off x="9334499" y="2304671"/>
            <a:ext cx="8843069" cy="289214"/>
          </a:xfrm>
          <a:prstGeom prst="rect">
            <a:avLst/>
          </a:prstGeom>
          <a:noFill/>
          <a:ln/>
        </p:spPr>
        <p:txBody>
          <a:bodyPr wrap="square" lIns="25400" tIns="25400" rIns="25400" bIns="25400" rtlCol="0" anchor="t">
            <a:normAutofit/>
          </a:bodyPr>
          <a:lstStyle/>
          <a:p>
            <a:pPr marL="0" indent="0" algn="l">
              <a:buNone/>
            </a:pPr>
            <a:r>
              <a:rPr lang="en-US" sz="1575" b="1" kern="0" spc="95" dirty="0">
                <a:solidFill>
                  <a:srgbClr val="8FB0FF"/>
                </a:solidFill>
                <a:latin typeface="Be Vietnam Pro" pitchFamily="34" charset="0"/>
                <a:ea typeface="Be Vietnam Pro" pitchFamily="34" charset="-122"/>
                <a:cs typeface="Be Vietnam Pro" pitchFamily="34" charset="-120"/>
              </a:rPr>
              <a:t>HƯỚNG PHÁT TRIỂN</a:t>
            </a:r>
            <a:endParaRPr lang="en-US" sz="1575" dirty="0"/>
          </a:p>
        </p:txBody>
      </p:sp>
      <p:sp>
        <p:nvSpPr>
          <p:cNvPr id="15" name="Shape 13"/>
          <p:cNvSpPr/>
          <p:nvPr/>
        </p:nvSpPr>
        <p:spPr>
          <a:xfrm>
            <a:off x="9334499" y="2727208"/>
            <a:ext cx="2720172" cy="488156"/>
          </a:xfrm>
          <a:prstGeom prst="roundRect">
            <a:avLst>
              <a:gd name="adj" fmla="val 50000"/>
            </a:avLst>
          </a:prstGeom>
          <a:solidFill>
            <a:srgbClr val="FFFFFF">
              <a:alpha val="14000"/>
            </a:srgbClr>
          </a:solidFill>
          <a:ln/>
        </p:spPr>
        <p:txBody>
          <a:bodyPr/>
          <a:lstStyle/>
          <a:p>
            <a:endParaRPr lang="en-US"/>
          </a:p>
        </p:txBody>
      </p:sp>
      <p:sp>
        <p:nvSpPr>
          <p:cNvPr id="16" name="Text 14"/>
          <p:cNvSpPr/>
          <p:nvPr/>
        </p:nvSpPr>
        <p:spPr>
          <a:xfrm>
            <a:off x="9544049" y="2841508"/>
            <a:ext cx="2382677" cy="297656"/>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Be Vietnam Pro" pitchFamily="34" charset="0"/>
                <a:ea typeface="Be Vietnam Pro" pitchFamily="34" charset="-122"/>
                <a:cs typeface="Be Vietnam Pro" pitchFamily="34" charset="-120"/>
              </a:rPr>
              <a:t>Dữ liệu thật + A/B test</a:t>
            </a:r>
            <a:endParaRPr lang="en-US" sz="1650" dirty="0"/>
          </a:p>
        </p:txBody>
      </p:sp>
      <p:sp>
        <p:nvSpPr>
          <p:cNvPr id="17" name="Shape 15"/>
          <p:cNvSpPr/>
          <p:nvPr/>
        </p:nvSpPr>
        <p:spPr>
          <a:xfrm>
            <a:off x="12168863" y="2727208"/>
            <a:ext cx="2155302" cy="488156"/>
          </a:xfrm>
          <a:prstGeom prst="roundRect">
            <a:avLst>
              <a:gd name="adj" fmla="val 50000"/>
            </a:avLst>
          </a:prstGeom>
          <a:solidFill>
            <a:srgbClr val="FFFFFF">
              <a:alpha val="14000"/>
            </a:srgbClr>
          </a:solidFill>
          <a:ln/>
        </p:spPr>
        <p:txBody>
          <a:bodyPr/>
          <a:lstStyle/>
          <a:p>
            <a:endParaRPr lang="en-US"/>
          </a:p>
        </p:txBody>
      </p:sp>
      <p:sp>
        <p:nvSpPr>
          <p:cNvPr id="18" name="Text 16"/>
          <p:cNvSpPr/>
          <p:nvPr/>
        </p:nvSpPr>
        <p:spPr>
          <a:xfrm>
            <a:off x="12378413" y="2841508"/>
            <a:ext cx="1812402" cy="297656"/>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Be Vietnam Pro" pitchFamily="34" charset="0"/>
                <a:ea typeface="Be Vietnam Pro" pitchFamily="34" charset="-122"/>
                <a:cs typeface="Be Vietnam Pro" pitchFamily="34" charset="-120"/>
              </a:rPr>
              <a:t>Forgetting curve</a:t>
            </a:r>
            <a:endParaRPr lang="en-US" sz="1650" dirty="0"/>
          </a:p>
        </p:txBody>
      </p:sp>
      <p:sp>
        <p:nvSpPr>
          <p:cNvPr id="19" name="Shape 17"/>
          <p:cNvSpPr/>
          <p:nvPr/>
        </p:nvSpPr>
        <p:spPr>
          <a:xfrm>
            <a:off x="14438357" y="2727208"/>
            <a:ext cx="1720318" cy="488156"/>
          </a:xfrm>
          <a:prstGeom prst="roundRect">
            <a:avLst>
              <a:gd name="adj" fmla="val 50000"/>
            </a:avLst>
          </a:prstGeom>
          <a:solidFill>
            <a:srgbClr val="FFFFFF">
              <a:alpha val="14000"/>
            </a:srgbClr>
          </a:solidFill>
          <a:ln/>
        </p:spPr>
        <p:txBody>
          <a:bodyPr/>
          <a:lstStyle/>
          <a:p>
            <a:endParaRPr lang="en-US"/>
          </a:p>
        </p:txBody>
      </p:sp>
      <p:sp>
        <p:nvSpPr>
          <p:cNvPr id="20" name="Text 18"/>
          <p:cNvSpPr/>
          <p:nvPr/>
        </p:nvSpPr>
        <p:spPr>
          <a:xfrm>
            <a:off x="14647907" y="2841508"/>
            <a:ext cx="1377418" cy="297656"/>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Be Vietnam Pro" pitchFamily="34" charset="0"/>
                <a:ea typeface="Be Vietnam Pro" pitchFamily="34" charset="-122"/>
                <a:cs typeface="Be Vietnam Pro" pitchFamily="34" charset="-120"/>
              </a:rPr>
              <a:t>AKT / SAINT</a:t>
            </a:r>
            <a:endParaRPr lang="en-US" sz="1650" dirty="0"/>
          </a:p>
        </p:txBody>
      </p:sp>
      <p:sp>
        <p:nvSpPr>
          <p:cNvPr id="21" name="Shape 19"/>
          <p:cNvSpPr/>
          <p:nvPr/>
        </p:nvSpPr>
        <p:spPr>
          <a:xfrm>
            <a:off x="9334499" y="3329555"/>
            <a:ext cx="2796886" cy="488156"/>
          </a:xfrm>
          <a:prstGeom prst="roundRect">
            <a:avLst>
              <a:gd name="adj" fmla="val 50000"/>
            </a:avLst>
          </a:prstGeom>
          <a:solidFill>
            <a:srgbClr val="FFFFFF">
              <a:alpha val="14000"/>
            </a:srgbClr>
          </a:solidFill>
          <a:ln/>
        </p:spPr>
        <p:txBody>
          <a:bodyPr/>
          <a:lstStyle/>
          <a:p>
            <a:endParaRPr lang="en-US"/>
          </a:p>
        </p:txBody>
      </p:sp>
      <p:sp>
        <p:nvSpPr>
          <p:cNvPr id="22" name="Text 20"/>
          <p:cNvSpPr/>
          <p:nvPr/>
        </p:nvSpPr>
        <p:spPr>
          <a:xfrm>
            <a:off x="9544049" y="3443855"/>
            <a:ext cx="2461693" cy="297656"/>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Be Vietnam Pro" pitchFamily="34" charset="0"/>
                <a:ea typeface="Be Vietnam Pro" pitchFamily="34" charset="-122"/>
                <a:cs typeface="Be Vietnam Pro" pitchFamily="34" charset="-120"/>
              </a:rPr>
              <a:t>Mở rộng question bank</a:t>
            </a:r>
            <a:endParaRPr lang="en-US" sz="1650" dirty="0"/>
          </a:p>
        </p:txBody>
      </p:sp>
      <p:sp>
        <p:nvSpPr>
          <p:cNvPr id="23" name="Shape 21"/>
          <p:cNvSpPr/>
          <p:nvPr/>
        </p:nvSpPr>
        <p:spPr>
          <a:xfrm>
            <a:off x="12245578" y="3329555"/>
            <a:ext cx="2211451" cy="488156"/>
          </a:xfrm>
          <a:prstGeom prst="roundRect">
            <a:avLst>
              <a:gd name="adj" fmla="val 50000"/>
            </a:avLst>
          </a:prstGeom>
          <a:solidFill>
            <a:srgbClr val="FFFFFF">
              <a:alpha val="14000"/>
            </a:srgbClr>
          </a:solidFill>
          <a:ln/>
        </p:spPr>
        <p:txBody>
          <a:bodyPr/>
          <a:lstStyle/>
          <a:p>
            <a:endParaRPr lang="en-US"/>
          </a:p>
        </p:txBody>
      </p:sp>
      <p:sp>
        <p:nvSpPr>
          <p:cNvPr id="24" name="Text 22"/>
          <p:cNvSpPr/>
          <p:nvPr/>
        </p:nvSpPr>
        <p:spPr>
          <a:xfrm>
            <a:off x="12455128" y="3443855"/>
            <a:ext cx="1868551" cy="297656"/>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Be Vietnam Pro" pitchFamily="34" charset="0"/>
                <a:ea typeface="Be Vietnam Pro" pitchFamily="34" charset="-122"/>
                <a:cs typeface="Be Vietnam Pro" pitchFamily="34" charset="-120"/>
              </a:rPr>
              <a:t>Fine-tune grader</a:t>
            </a:r>
            <a:endParaRPr lang="en-US" sz="1650" dirty="0"/>
          </a:p>
        </p:txBody>
      </p:sp>
      <p:sp>
        <p:nvSpPr>
          <p:cNvPr id="25" name="Shape 23"/>
          <p:cNvSpPr/>
          <p:nvPr/>
        </p:nvSpPr>
        <p:spPr>
          <a:xfrm>
            <a:off x="14571220" y="3329555"/>
            <a:ext cx="2356220" cy="488156"/>
          </a:xfrm>
          <a:prstGeom prst="roundRect">
            <a:avLst>
              <a:gd name="adj" fmla="val 50000"/>
            </a:avLst>
          </a:prstGeom>
          <a:solidFill>
            <a:srgbClr val="FFFFFF">
              <a:alpha val="14000"/>
            </a:srgbClr>
          </a:solidFill>
          <a:ln/>
        </p:spPr>
        <p:txBody>
          <a:bodyPr/>
          <a:lstStyle/>
          <a:p>
            <a:endParaRPr lang="en-US"/>
          </a:p>
        </p:txBody>
      </p:sp>
      <p:sp>
        <p:nvSpPr>
          <p:cNvPr id="26" name="Text 24"/>
          <p:cNvSpPr/>
          <p:nvPr/>
        </p:nvSpPr>
        <p:spPr>
          <a:xfrm>
            <a:off x="14780770" y="3443855"/>
            <a:ext cx="2013320" cy="297656"/>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Be Vietnam Pro" pitchFamily="34" charset="0"/>
                <a:ea typeface="Be Vietnam Pro" pitchFamily="34" charset="-122"/>
                <a:cs typeface="Be Vietnam Pro" pitchFamily="34" charset="-120"/>
              </a:rPr>
              <a:t>Deploy production</a:t>
            </a:r>
            <a:endParaRPr lang="en-US" sz="1650" dirty="0"/>
          </a:p>
        </p:txBody>
      </p:sp>
      <p:sp>
        <p:nvSpPr>
          <p:cNvPr id="27" name="Shape 25"/>
          <p:cNvSpPr/>
          <p:nvPr/>
        </p:nvSpPr>
        <p:spPr>
          <a:xfrm>
            <a:off x="914346" y="8860144"/>
            <a:ext cx="16459308" cy="17318"/>
          </a:xfrm>
          <a:prstGeom prst="rect">
            <a:avLst/>
          </a:prstGeom>
          <a:solidFill>
            <a:srgbClr val="FFFFFF">
              <a:alpha val="22000"/>
            </a:srgbClr>
          </a:solidFill>
          <a:ln/>
        </p:spPr>
        <p:txBody>
          <a:bodyPr/>
          <a:lstStyle/>
          <a:p>
            <a:endParaRPr lang="en-US"/>
          </a:p>
        </p:txBody>
      </p:sp>
      <p:sp>
        <p:nvSpPr>
          <p:cNvPr id="28" name="Text 26"/>
          <p:cNvSpPr/>
          <p:nvPr/>
        </p:nvSpPr>
        <p:spPr>
          <a:xfrm>
            <a:off x="914346" y="9137099"/>
            <a:ext cx="3433167" cy="566305"/>
          </a:xfrm>
          <a:prstGeom prst="rect">
            <a:avLst/>
          </a:prstGeom>
          <a:noFill/>
          <a:ln/>
        </p:spPr>
        <p:txBody>
          <a:bodyPr wrap="square" lIns="25400" tIns="25400" rIns="25400" bIns="25400" rtlCol="0" anchor="t">
            <a:normAutofit/>
          </a:bodyPr>
          <a:lstStyle/>
          <a:p>
            <a:pPr marL="0" indent="0" algn="l">
              <a:buNone/>
            </a:pPr>
            <a:r>
              <a:rPr lang="en-US" sz="3300" b="1" kern="0" spc="-33" dirty="0">
                <a:solidFill>
                  <a:srgbClr val="FFFFFF"/>
                </a:solidFill>
                <a:latin typeface="Be Vietnam Pro" pitchFamily="34" charset="0"/>
                <a:ea typeface="Be Vietnam Pro" pitchFamily="34" charset="-122"/>
                <a:cs typeface="Be Vietnam Pro" pitchFamily="34" charset="-120"/>
              </a:rPr>
              <a:t>Cảm ơn — Q&amp;A</a:t>
            </a:r>
            <a:endParaRPr lang="en-US" sz="3300" dirty="0"/>
          </a:p>
        </p:txBody>
      </p:sp>
      <p:sp>
        <p:nvSpPr>
          <p:cNvPr id="29" name="Shape 27"/>
          <p:cNvSpPr/>
          <p:nvPr/>
        </p:nvSpPr>
        <p:spPr>
          <a:xfrm>
            <a:off x="16384894" y="9125058"/>
            <a:ext cx="988760" cy="552423"/>
          </a:xfrm>
          <a:prstGeom prst="roundRect">
            <a:avLst>
              <a:gd name="adj" fmla="val 17242"/>
            </a:avLst>
          </a:prstGeom>
          <a:solidFill>
            <a:srgbClr val="FFFFFF"/>
          </a:solidFill>
          <a:ln/>
        </p:spPr>
        <p:txBody>
          <a:bodyPr/>
          <a:lstStyle/>
          <a:p>
            <a:endParaRPr lang="en-US"/>
          </a:p>
        </p:txBody>
      </p:sp>
      <p:pic>
        <p:nvPicPr>
          <p:cNvPr id="30" name="Image 0" descr="preencoded.png"/>
          <p:cNvPicPr>
            <a:picLocks noChangeAspect="1"/>
          </p:cNvPicPr>
          <p:nvPr/>
        </p:nvPicPr>
        <p:blipFill>
          <a:blip r:embed="rId3"/>
          <a:stretch>
            <a:fillRect/>
          </a:stretch>
        </p:blipFill>
        <p:spPr>
          <a:xfrm>
            <a:off x="16384894" y="9125058"/>
            <a:ext cx="988760" cy="5524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2322</Words>
  <Application>Microsoft Office PowerPoint</Application>
  <PresentationFormat>Custom</PresentationFormat>
  <Paragraphs>351</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Be Vietnam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Tạ Gia Khiêm</cp:lastModifiedBy>
  <cp:revision>2</cp:revision>
  <dcterms:created xsi:type="dcterms:W3CDTF">2026-06-19T05:57:49Z</dcterms:created>
  <dcterms:modified xsi:type="dcterms:W3CDTF">2026-06-19T06:53:08Z</dcterms:modified>
</cp:coreProperties>
</file>